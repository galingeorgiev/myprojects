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22"/>
  </p:notesMasterIdLst>
  <p:handoutMasterIdLst>
    <p:handoutMasterId r:id="rId23"/>
  </p:handoutMasterIdLst>
  <p:sldIdLst>
    <p:sldId id="338" r:id="rId2"/>
    <p:sldId id="335" r:id="rId3"/>
    <p:sldId id="421" r:id="rId4"/>
    <p:sldId id="422" r:id="rId5"/>
    <p:sldId id="437" r:id="rId6"/>
    <p:sldId id="438" r:id="rId7"/>
    <p:sldId id="430" r:id="rId8"/>
    <p:sldId id="431" r:id="rId9"/>
    <p:sldId id="448" r:id="rId10"/>
    <p:sldId id="447" r:id="rId11"/>
    <p:sldId id="440" r:id="rId12"/>
    <p:sldId id="442" r:id="rId13"/>
    <p:sldId id="443" r:id="rId14"/>
    <p:sldId id="444" r:id="rId15"/>
    <p:sldId id="445" r:id="rId16"/>
    <p:sldId id="446" r:id="rId17"/>
    <p:sldId id="449" r:id="rId18"/>
    <p:sldId id="334" r:id="rId19"/>
    <p:sldId id="450" r:id="rId20"/>
    <p:sldId id="403" r:id="rId21"/>
  </p:sldIdLst>
  <p:sldSz cx="9144000" cy="6858000" type="screen4x3"/>
  <p:notesSz cx="6881813" cy="9296400"/>
  <p:custDataLst>
    <p:tags r:id="rId24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500" kern="1200">
        <a:solidFill>
          <a:srgbClr val="EBFFC2"/>
        </a:solidFill>
        <a:latin typeface="Corbel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500" kern="1200">
        <a:solidFill>
          <a:srgbClr val="EBFFC2"/>
        </a:solidFill>
        <a:latin typeface="Corbel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500" kern="1200">
        <a:solidFill>
          <a:srgbClr val="EBFFC2"/>
        </a:solidFill>
        <a:latin typeface="Corbel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500" kern="1200">
        <a:solidFill>
          <a:srgbClr val="EBFFC2"/>
        </a:solidFill>
        <a:latin typeface="Corbel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500" kern="1200">
        <a:solidFill>
          <a:srgbClr val="EBFFC2"/>
        </a:solidFill>
        <a:latin typeface="Corbel" pitchFamily="34" charset="0"/>
        <a:ea typeface="+mn-ea"/>
        <a:cs typeface="+mn-cs"/>
      </a:defRPr>
    </a:lvl5pPr>
    <a:lvl6pPr marL="2286000" algn="l" defTabSz="914400" rtl="0" eaLnBrk="1" latinLnBrk="0" hangingPunct="1">
      <a:defRPr sz="2500" kern="1200">
        <a:solidFill>
          <a:srgbClr val="EBFFC2"/>
        </a:solidFill>
        <a:latin typeface="Corbel" pitchFamily="34" charset="0"/>
        <a:ea typeface="+mn-ea"/>
        <a:cs typeface="+mn-cs"/>
      </a:defRPr>
    </a:lvl6pPr>
    <a:lvl7pPr marL="2743200" algn="l" defTabSz="914400" rtl="0" eaLnBrk="1" latinLnBrk="0" hangingPunct="1">
      <a:defRPr sz="2500" kern="1200">
        <a:solidFill>
          <a:srgbClr val="EBFFC2"/>
        </a:solidFill>
        <a:latin typeface="Corbel" pitchFamily="34" charset="0"/>
        <a:ea typeface="+mn-ea"/>
        <a:cs typeface="+mn-cs"/>
      </a:defRPr>
    </a:lvl7pPr>
    <a:lvl8pPr marL="3200400" algn="l" defTabSz="914400" rtl="0" eaLnBrk="1" latinLnBrk="0" hangingPunct="1">
      <a:defRPr sz="2500" kern="1200">
        <a:solidFill>
          <a:srgbClr val="EBFFC2"/>
        </a:solidFill>
        <a:latin typeface="Corbel" pitchFamily="34" charset="0"/>
        <a:ea typeface="+mn-ea"/>
        <a:cs typeface="+mn-cs"/>
      </a:defRPr>
    </a:lvl8pPr>
    <a:lvl9pPr marL="3657600" algn="l" defTabSz="914400" rtl="0" eaLnBrk="1" latinLnBrk="0" hangingPunct="1">
      <a:defRPr sz="2500" kern="1200">
        <a:solidFill>
          <a:srgbClr val="EBFFC2"/>
        </a:solidFill>
        <a:latin typeface="Corbel" pitchFamily="34" charset="0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="" xmlns:p15="http://schemas.microsoft.com/office/powerpoint/2012/main">
        <p15:guide id="1" orient="horz" pos="2928">
          <p15:clr>
            <a:srgbClr val="A4A3A4"/>
          </p15:clr>
        </p15:guide>
        <p15:guide id="2" pos="216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9BCC00"/>
    <a:srgbClr val="9ED000"/>
    <a:srgbClr val="F4FCD8"/>
    <a:srgbClr val="E8FFC8"/>
    <a:srgbClr val="FAF7C8"/>
    <a:srgbClr val="FAF8C8"/>
    <a:srgbClr val="F5FFC2"/>
    <a:srgbClr val="EBFFD2"/>
    <a:srgbClr val="EBFFD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100" autoAdjust="0"/>
    <p:restoredTop sz="94468" autoAdjust="0"/>
  </p:normalViewPr>
  <p:slideViewPr>
    <p:cSldViewPr>
      <p:cViewPr varScale="1">
        <p:scale>
          <a:sx n="70" d="100"/>
          <a:sy n="70" d="100"/>
        </p:scale>
        <p:origin x="-1266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7" d="100"/>
          <a:sy n="67" d="100"/>
        </p:scale>
        <p:origin x="-2778" y="-96"/>
      </p:cViewPr>
      <p:guideLst>
        <p:guide orient="horz" pos="2928"/>
        <p:guide pos="216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gs" Target="tags/tag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82913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6" tIns="46219" rIns="92436" bIns="46219" numCol="1" anchor="t" anchorCtr="0" compatLnSpc="1">
            <a:prstTxWarp prst="textNoShape">
              <a:avLst/>
            </a:prstTxWarp>
          </a:bodyPr>
          <a:lstStyle>
            <a:lvl1pPr defTabSz="923925">
              <a:defRPr sz="1200">
                <a:solidFill>
                  <a:schemeClr val="tx1"/>
                </a:solidFill>
                <a:latin typeface="Calibri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 bwMode="auto">
          <a:xfrm>
            <a:off x="3897313" y="0"/>
            <a:ext cx="2982912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6" tIns="46219" rIns="92436" bIns="46219" numCol="1" anchor="t" anchorCtr="0" compatLnSpc="1">
            <a:prstTxWarp prst="textNoShape">
              <a:avLst/>
            </a:prstTxWarp>
          </a:bodyPr>
          <a:lstStyle>
            <a:lvl1pPr algn="r" defTabSz="923925">
              <a:defRPr sz="1200">
                <a:solidFill>
                  <a:schemeClr val="tx1"/>
                </a:solidFill>
                <a:latin typeface="Calibri" pitchFamily="34" charset="0"/>
              </a:defRPr>
            </a:lvl1pPr>
          </a:lstStyle>
          <a:p>
            <a:fld id="{3BF7C7B5-275F-4D1F-9AB4-9255447DBC73}" type="datetimeFigureOut">
              <a:rPr lang="en-US"/>
              <a:pPr/>
              <a:t>9/20/2013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 bwMode="auto">
          <a:xfrm>
            <a:off x="0" y="8829675"/>
            <a:ext cx="2982913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6" tIns="46219" rIns="92436" bIns="46219" numCol="1" anchor="b" anchorCtr="0" compatLnSpc="1">
            <a:prstTxWarp prst="textNoShape">
              <a:avLst/>
            </a:prstTxWarp>
          </a:bodyPr>
          <a:lstStyle>
            <a:lvl1pPr defTabSz="923925">
              <a:defRPr sz="1200">
                <a:solidFill>
                  <a:schemeClr val="tx1"/>
                </a:solidFill>
                <a:latin typeface="Calibri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 bwMode="auto">
          <a:xfrm>
            <a:off x="3897313" y="8829675"/>
            <a:ext cx="2982912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6" tIns="46219" rIns="92436" bIns="46219" numCol="1" anchor="b" anchorCtr="0" compatLnSpc="1">
            <a:prstTxWarp prst="textNoShape">
              <a:avLst/>
            </a:prstTxWarp>
          </a:bodyPr>
          <a:lstStyle>
            <a:lvl1pPr algn="r" defTabSz="923925">
              <a:defRPr sz="1200">
                <a:solidFill>
                  <a:schemeClr val="tx1"/>
                </a:solidFill>
                <a:latin typeface="Calibri" pitchFamily="34" charset="0"/>
              </a:defRPr>
            </a:lvl1pPr>
          </a:lstStyle>
          <a:p>
            <a:fld id="{3DADE544-1278-4EDA-8870-0A169B9A6D6D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324060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82913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6" tIns="46219" rIns="92436" bIns="46219" numCol="1" anchor="t" anchorCtr="0" compatLnSpc="1">
            <a:prstTxWarp prst="textNoShape">
              <a:avLst/>
            </a:prstTxWarp>
          </a:bodyPr>
          <a:lstStyle>
            <a:lvl1pPr defTabSz="923925">
              <a:defRPr sz="1200">
                <a:solidFill>
                  <a:schemeClr val="tx1"/>
                </a:solidFill>
                <a:latin typeface="Calibri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97313" y="0"/>
            <a:ext cx="2982912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6" tIns="46219" rIns="92436" bIns="46219" numCol="1" anchor="t" anchorCtr="0" compatLnSpc="1">
            <a:prstTxWarp prst="textNoShape">
              <a:avLst/>
            </a:prstTxWarp>
          </a:bodyPr>
          <a:lstStyle>
            <a:lvl1pPr algn="r" defTabSz="923925">
              <a:defRPr sz="1200">
                <a:solidFill>
                  <a:schemeClr val="tx1"/>
                </a:solidFill>
                <a:latin typeface="Calibri" pitchFamily="34" charset="0"/>
              </a:defRPr>
            </a:lvl1pPr>
          </a:lstStyle>
          <a:p>
            <a:fld id="{9B46F231-FB2B-4655-A644-E2477325E686}" type="datetimeFigureOut">
              <a:rPr lang="en-US"/>
              <a:pPr/>
              <a:t>9/20/2013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176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7388" y="4416425"/>
            <a:ext cx="5507037" cy="4183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6" tIns="46219" rIns="92436" bIns="4621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829675"/>
            <a:ext cx="2982913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6" tIns="46219" rIns="92436" bIns="46219" numCol="1" anchor="b" anchorCtr="0" compatLnSpc="1">
            <a:prstTxWarp prst="textNoShape">
              <a:avLst/>
            </a:prstTxWarp>
          </a:bodyPr>
          <a:lstStyle>
            <a:lvl1pPr defTabSz="923925">
              <a:defRPr sz="1200">
                <a:solidFill>
                  <a:schemeClr val="tx1"/>
                </a:solidFill>
                <a:latin typeface="Calibri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97313" y="8829675"/>
            <a:ext cx="2982912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6" tIns="46219" rIns="92436" bIns="46219" numCol="1" anchor="b" anchorCtr="0" compatLnSpc="1">
            <a:prstTxWarp prst="textNoShape">
              <a:avLst/>
            </a:prstTxWarp>
          </a:bodyPr>
          <a:lstStyle>
            <a:lvl1pPr algn="r" defTabSz="923925">
              <a:defRPr sz="1200">
                <a:solidFill>
                  <a:schemeClr val="tx1"/>
                </a:solidFill>
                <a:latin typeface="Calibri" pitchFamily="34" charset="0"/>
              </a:defRPr>
            </a:lvl1pPr>
          </a:lstStyle>
          <a:p>
            <a:fld id="{6FB4F6EA-423E-42DF-9292-215E7D886C4E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520194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hyperlink" Target="http://mvccourse.telerik.com/" TargetMode="External"/><Relationship Id="rId13" Type="http://schemas.openxmlformats.org/officeDocument/2006/relationships/hyperlink" Target="http://algoacademy.telerik.com/" TargetMode="External"/><Relationship Id="rId18" Type="http://schemas.openxmlformats.org/officeDocument/2006/relationships/hyperlink" Target="http://www.minkov.it/" TargetMode="External"/><Relationship Id="rId3" Type="http://schemas.openxmlformats.org/officeDocument/2006/relationships/hyperlink" Target="http://kursove-uroci-knigi-obuchenie-programirane-web-design-csharp.info/" TargetMode="External"/><Relationship Id="rId7" Type="http://schemas.openxmlformats.org/officeDocument/2006/relationships/hyperlink" Target="http://schoolacademy.telerik.com/" TargetMode="External"/><Relationship Id="rId12" Type="http://schemas.openxmlformats.org/officeDocument/2006/relationships/hyperlink" Target="http://codecourse.telerik.com/" TargetMode="External"/><Relationship Id="rId17" Type="http://schemas.openxmlformats.org/officeDocument/2006/relationships/hyperlink" Target="http://www.introprogramming.info/" TargetMode="External"/><Relationship Id="rId2" Type="http://schemas.openxmlformats.org/officeDocument/2006/relationships/hyperlink" Target="http://forums.academy.telerik.com/" TargetMode="External"/><Relationship Id="rId16" Type="http://schemas.openxmlformats.org/officeDocument/2006/relationships/hyperlink" Target="http://mobiledevcourse.telerik.com/" TargetMode="External"/><Relationship Id="rId20" Type="http://schemas.openxmlformats.org/officeDocument/2006/relationships/hyperlink" Target="http://csharpfundamentals.telerik.com/" TargetMode="External"/><Relationship Id="rId1" Type="http://schemas.openxmlformats.org/officeDocument/2006/relationships/slideMaster" Target="../slideMasters/slideMaster1.xml"/><Relationship Id="rId6" Type="http://schemas.openxmlformats.org/officeDocument/2006/relationships/hyperlink" Target="http://html5course.telerik.com/" TargetMode="External"/><Relationship Id="rId11" Type="http://schemas.openxmlformats.org/officeDocument/2006/relationships/hyperlink" Target="http://www.nakov.com/" TargetMode="External"/><Relationship Id="rId5" Type="http://schemas.openxmlformats.org/officeDocument/2006/relationships/hyperlink" Target="http://seocourse.telerik.com/" TargetMode="External"/><Relationship Id="rId15" Type="http://schemas.openxmlformats.org/officeDocument/2006/relationships/hyperlink" Target="http://academy.telerik.com/" TargetMode="External"/><Relationship Id="rId10" Type="http://schemas.openxmlformats.org/officeDocument/2006/relationships/hyperlink" Target="http://www.bgcoder.com/" TargetMode="External"/><Relationship Id="rId19" Type="http://schemas.openxmlformats.org/officeDocument/2006/relationships/hyperlink" Target="http://www.nikolay.it/" TargetMode="External"/><Relationship Id="rId4" Type="http://schemas.openxmlformats.org/officeDocument/2006/relationships/hyperlink" Target="http://www.telerik-kids.com/" TargetMode="External"/><Relationship Id="rId9" Type="http://schemas.openxmlformats.org/officeDocument/2006/relationships/hyperlink" Target="http://clouddevcourse.telerik.com/" TargetMode="External"/><Relationship Id="rId14" Type="http://schemas.openxmlformats.org/officeDocument/2006/relationships/hyperlink" Target="http://aspnetcourse.telerik.com/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8"/>
          <p:cNvSpPr>
            <a:spLocks noGrp="1"/>
          </p:cNvSpPr>
          <p:nvPr>
            <p:ph type="ctrTitle" hasCustomPrompt="1"/>
          </p:nvPr>
        </p:nvSpPr>
        <p:spPr>
          <a:xfrm>
            <a:off x="457200" y="1524000"/>
            <a:ext cx="8229600" cy="1524000"/>
          </a:xfrm>
          <a:prstGeom prst="rect">
            <a:avLst/>
          </a:prstGeom>
        </p:spPr>
        <p:txBody>
          <a:bodyPr tIns="0" bIns="0" anchor="b" anchorCtr="0"/>
          <a:lstStyle>
            <a:lvl1pPr algn="r">
              <a:lnSpc>
                <a:spcPts val="5600"/>
              </a:lnSpc>
              <a:defRPr sz="5400" cap="none" baseline="0">
                <a:solidFill>
                  <a:srgbClr val="D4FF5B"/>
                </a:solidFill>
                <a:effectLst>
                  <a:outerShdw blurRad="30000" dist="30000" dir="2700000" algn="tl" rotWithShape="0">
                    <a:schemeClr val="bg2">
                      <a:shade val="45000"/>
                      <a:satMod val="150000"/>
                      <a:alpha val="90000"/>
                    </a:schemeClr>
                  </a:outerShdw>
                  <a:reflection blurRad="12000" stA="20000" endPos="50000" dist="12700" dir="5400000" sy="-100000" algn="bl" rotWithShape="0"/>
                </a:effectLst>
              </a:defRPr>
            </a:lvl1pPr>
          </a:lstStyle>
          <a:p>
            <a:r>
              <a:rPr lang="en-US" dirty="0" smtClean="0"/>
              <a:t>Presentation Title</a:t>
            </a:r>
            <a:endParaRPr lang="en-US" dirty="0"/>
          </a:p>
        </p:txBody>
      </p:sp>
      <p:sp>
        <p:nvSpPr>
          <p:cNvPr id="7" name="Subtitle 16"/>
          <p:cNvSpPr>
            <a:spLocks noGrp="1"/>
          </p:cNvSpPr>
          <p:nvPr>
            <p:ph type="subTitle" idx="1" hasCustomPrompt="1"/>
          </p:nvPr>
        </p:nvSpPr>
        <p:spPr>
          <a:xfrm>
            <a:off x="457200" y="3240880"/>
            <a:ext cx="8229600" cy="569120"/>
          </a:xfrm>
          <a:prstGeom prst="rect">
            <a:avLst/>
          </a:prstGeom>
        </p:spPr>
        <p:txBody>
          <a:bodyPr lIns="90000" tIns="0" rIns="90000" bIns="0" anchor="ctr" anchorCtr="0"/>
          <a:lstStyle>
            <a:lvl1pPr marL="0" indent="0" algn="r">
              <a:buNone/>
              <a:defRPr sz="2800">
                <a:solidFill>
                  <a:srgbClr val="FAF8C8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 dirty="0" smtClean="0"/>
              <a:t>Presentation Subtitle</a:t>
            </a:r>
            <a:endParaRPr lang="en-US" dirty="0"/>
          </a:p>
        </p:txBody>
      </p:sp>
      <p:cxnSp>
        <p:nvCxnSpPr>
          <p:cNvPr id="11" name="Straight Connector 10"/>
          <p:cNvCxnSpPr/>
          <p:nvPr userDrawn="1"/>
        </p:nvCxnSpPr>
        <p:spPr>
          <a:xfrm>
            <a:off x="2667000" y="4114800"/>
            <a:ext cx="6248400" cy="0"/>
          </a:xfrm>
          <a:prstGeom prst="line">
            <a:avLst/>
          </a:prstGeom>
          <a:ln w="38100" cap="rnd">
            <a:solidFill>
              <a:schemeClr val="accent5">
                <a:lumMod val="20000"/>
                <a:lumOff val="80000"/>
                <a:alpha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13"/>
          <p:cNvSpPr>
            <a:spLocks noGrp="1"/>
          </p:cNvSpPr>
          <p:nvPr>
            <p:ph type="body" sz="quarter" idx="10" hasCustomPrompt="1"/>
          </p:nvPr>
        </p:nvSpPr>
        <p:spPr>
          <a:xfrm>
            <a:off x="444500" y="4572000"/>
            <a:ext cx="3352800" cy="533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buNone/>
              <a:defRPr lang="en-US" sz="2800" b="1" kern="1200" dirty="0" smtClean="0">
                <a:solidFill>
                  <a:srgbClr val="DEFF9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rbel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 dirty="0" smtClean="0"/>
              <a:t>Author Name</a:t>
            </a:r>
            <a:endParaRPr lang="en-US" dirty="0"/>
          </a:p>
        </p:txBody>
      </p:sp>
      <p:sp>
        <p:nvSpPr>
          <p:cNvPr id="15" name="Text Placeholder 13"/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5833646"/>
            <a:ext cx="3352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 algn="l" rtl="0" fontAlgn="base">
              <a:spcBef>
                <a:spcPct val="0"/>
              </a:spcBef>
              <a:spcAft>
                <a:spcPct val="0"/>
              </a:spcAft>
              <a:buNone/>
              <a:defRPr lang="en-US" sz="1800" b="1" kern="1200" dirty="0">
                <a:solidFill>
                  <a:schemeClr val="tx2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rbel" pitchFamily="34" charset="0"/>
                <a:ea typeface="+mn-ea"/>
                <a:cs typeface="+mn-cs"/>
              </a:defRPr>
            </a:lvl1pPr>
          </a:lstStyle>
          <a:p>
            <a:pPr marL="319088" lvl="0" indent="-319088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None/>
            </a:pPr>
            <a:r>
              <a:rPr lang="en-US" sz="1800" b="1" dirty="0" smtClean="0">
                <a:solidFill>
                  <a:srgbClr val="0EFE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Company Name</a:t>
            </a:r>
            <a:endParaRPr lang="en-US" sz="1800" b="1" dirty="0">
              <a:solidFill>
                <a:srgbClr val="0EFE58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6" name="Text Placeholder 13"/>
          <p:cNvSpPr>
            <a:spLocks noGrp="1"/>
          </p:cNvSpPr>
          <p:nvPr>
            <p:ph type="body" sz="quarter" idx="12" hasCustomPrompt="1"/>
          </p:nvPr>
        </p:nvSpPr>
        <p:spPr>
          <a:xfrm>
            <a:off x="457200" y="6138446"/>
            <a:ext cx="3352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buNone/>
              <a:defRPr lang="en-US" sz="1600" b="1" kern="1200" dirty="0" smtClean="0">
                <a:solidFill>
                  <a:srgbClr val="0EFE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rbel" pitchFamily="34" charset="0"/>
                <a:ea typeface="+mn-ea"/>
                <a:cs typeface="+mn-cs"/>
              </a:defRPr>
            </a:lvl1pPr>
          </a:lstStyle>
          <a:p>
            <a:pPr algn="l"/>
            <a:r>
              <a:rPr lang="en-US" sz="1600" b="1" dirty="0" smtClean="0">
                <a:solidFill>
                  <a:schemeClr val="tx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Company Web Site</a:t>
            </a:r>
            <a:endParaRPr lang="en-US" sz="1600" b="1" dirty="0">
              <a:solidFill>
                <a:schemeClr val="tx1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Text Placeholder 13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5029200"/>
            <a:ext cx="3352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buNone/>
              <a:defRPr lang="en-US" sz="2300" b="1" kern="1200" dirty="0" smtClean="0">
                <a:solidFill>
                  <a:schemeClr val="tx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rbel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 dirty="0" smtClean="0"/>
              <a:t>Position</a:t>
            </a:r>
            <a:endParaRPr lang="en-US" dirty="0"/>
          </a:p>
        </p:txBody>
      </p:sp>
      <p:sp>
        <p:nvSpPr>
          <p:cNvPr id="9" name="Text Placeholder 13"/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5405735"/>
            <a:ext cx="3352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buNone/>
              <a:defRPr lang="en-US" sz="2000" b="1" kern="1200" dirty="0" smtClean="0">
                <a:solidFill>
                  <a:schemeClr val="tx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rbel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 smtClean="0"/>
              <a:t>Web Site</a:t>
            </a:r>
            <a:endParaRPr lang="en-US" dirty="0"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6" hasCustomPrompt="1"/>
          </p:nvPr>
        </p:nvSpPr>
        <p:spPr>
          <a:xfrm>
            <a:off x="4267200" y="4572000"/>
            <a:ext cx="4419600" cy="1905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 smtClean="0"/>
              <a:t>Insert a Picture Here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828800" y="76200"/>
            <a:ext cx="7086600" cy="83820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algn="r" rtl="0" eaLnBrk="0" fontAlgn="base" hangingPunct="0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lang="en-US" sz="4000" b="1" kern="1200" baseline="0" dirty="0">
                <a:ln w="500"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12700" stA="20000" endPos="50000" dist="12700" dir="5400000" sy="-100000" algn="bl" rotWithShape="0"/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/>
              <a:t>Slide Title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228600" y="914400"/>
            <a:ext cx="8686800" cy="5791200"/>
          </a:xfrm>
          <a:prstGeom prst="rect">
            <a:avLst/>
          </a:prstGeom>
        </p:spPr>
        <p:txBody>
          <a:bodyPr/>
          <a:lstStyle>
            <a:lvl1pPr marL="282575" indent="-282575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5">
                  <a:lumMod val="40000"/>
                  <a:lumOff val="60000"/>
                </a:schemeClr>
              </a:buClr>
              <a:tabLst>
                <a:tab pos="282575" algn="l"/>
              </a:tabLst>
              <a:defRPr sz="3200">
                <a:solidFill>
                  <a:srgbClr val="EBFFD2"/>
                </a:solidFill>
              </a:defRPr>
            </a:lvl1pPr>
            <a:lvl2pPr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8FD600"/>
              </a:buClr>
              <a:defRPr sz="3000">
                <a:solidFill>
                  <a:schemeClr val="tx1">
                    <a:lumMod val="40000"/>
                    <a:lumOff val="60000"/>
                  </a:schemeClr>
                </a:solidFill>
              </a:defRPr>
            </a:lvl2pPr>
            <a:lvl3pPr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FFAD9F"/>
              </a:buClr>
              <a:defRPr sz="2800">
                <a:solidFill>
                  <a:srgbClr val="F5FFC2"/>
                </a:solidFill>
              </a:defRPr>
            </a:lvl3pPr>
            <a:lvl4pPr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FACF82"/>
              </a:buClr>
              <a:defRPr sz="2600">
                <a:solidFill>
                  <a:schemeClr val="tx1">
                    <a:lumMod val="40000"/>
                    <a:lumOff val="60000"/>
                  </a:schemeClr>
                </a:solidFill>
              </a:defRPr>
            </a:lvl4pPr>
            <a:lvl5pPr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defRPr sz="2400">
                <a:solidFill>
                  <a:schemeClr val="tx1">
                    <a:lumMod val="40000"/>
                    <a:lumOff val="60000"/>
                  </a:schemeClr>
                </a:solidFill>
              </a:defRPr>
            </a:lvl5pPr>
          </a:lstStyle>
          <a:p>
            <a:pPr lvl="0"/>
            <a:r>
              <a:rPr lang="en-US" dirty="0" smtClean="0"/>
              <a:t>First Level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8610600" y="6553200"/>
            <a:ext cx="457200" cy="228600"/>
          </a:xfrm>
          <a:prstGeom prst="rect">
            <a:avLst/>
          </a:prstGeom>
        </p:spPr>
        <p:txBody>
          <a:bodyPr anchor="ctr" anchorCtr="0"/>
          <a:lstStyle>
            <a:lvl1pPr algn="r">
              <a:defRPr sz="1100"/>
            </a:lvl1pPr>
          </a:lstStyle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1828800" y="76200"/>
            <a:ext cx="7086600" cy="83820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lnSpc>
                <a:spcPts val="4000"/>
              </a:lnSpc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12700" stA="20000" endPos="50000" dist="12700" dir="5400000" sy="-100000" algn="bl" rotWithShape="0"/>
                </a:effectLst>
              </a:defRPr>
            </a:lvl1pPr>
          </a:lstStyle>
          <a:p>
            <a:r>
              <a:rPr lang="en-US" dirty="0" smtClean="0"/>
              <a:t>Slide Title</a:t>
            </a:r>
            <a:endParaRPr lang="en-US" dirty="0"/>
          </a:p>
        </p:txBody>
      </p:sp>
      <p:sp>
        <p:nvSpPr>
          <p:cNvPr id="5" name="Content Placeholder 2"/>
          <p:cNvSpPr>
            <a:spLocks noGrp="1"/>
          </p:cNvSpPr>
          <p:nvPr>
            <p:ph idx="1" hasCustomPrompt="1"/>
          </p:nvPr>
        </p:nvSpPr>
        <p:spPr>
          <a:xfrm>
            <a:off x="228600" y="990600"/>
            <a:ext cx="8686800" cy="579646"/>
          </a:xfrm>
          <a:prstGeom prst="rect">
            <a:avLst/>
          </a:prstGeom>
        </p:spPr>
        <p:txBody>
          <a:bodyPr>
            <a:spAutoFit/>
          </a:bodyPr>
          <a:lstStyle>
            <a:lvl1pPr marL="319088" marR="0" indent="-319088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46A6BD">
                  <a:lumMod val="40000"/>
                  <a:lumOff val="60000"/>
                </a:srgbClr>
              </a:buClr>
              <a:buSzPct val="70000"/>
              <a:buFont typeface="Wingdings 2" pitchFamily="18" charset="2"/>
              <a:buChar char=""/>
              <a:tabLst/>
              <a:defRPr sz="3000" baseline="0">
                <a:solidFill>
                  <a:schemeClr val="tx1">
                    <a:lumMod val="40000"/>
                    <a:lumOff val="60000"/>
                  </a:schemeClr>
                </a:solidFill>
              </a:defRPr>
            </a:lvl1pPr>
            <a:lvl2pPr>
              <a:lnSpc>
                <a:spcPts val="3800"/>
              </a:lnSpc>
              <a:spcBef>
                <a:spcPts val="600"/>
              </a:spcBef>
              <a:spcAft>
                <a:spcPts val="600"/>
              </a:spcAft>
              <a:buClr>
                <a:srgbClr val="8FD600"/>
              </a:buClr>
              <a:defRPr sz="3000">
                <a:solidFill>
                  <a:schemeClr val="tx1">
                    <a:lumMod val="40000"/>
                    <a:lumOff val="60000"/>
                  </a:schemeClr>
                </a:solidFill>
              </a:defRPr>
            </a:lvl2pPr>
            <a:lvl3pPr>
              <a:lnSpc>
                <a:spcPts val="3800"/>
              </a:lnSpc>
              <a:spcBef>
                <a:spcPts val="600"/>
              </a:spcBef>
              <a:spcAft>
                <a:spcPts val="600"/>
              </a:spcAft>
              <a:buClr>
                <a:srgbClr val="FFAD9F"/>
              </a:buClr>
              <a:defRPr sz="2800">
                <a:solidFill>
                  <a:schemeClr val="tx1">
                    <a:lumMod val="40000"/>
                    <a:lumOff val="60000"/>
                  </a:schemeClr>
                </a:solidFill>
              </a:defRPr>
            </a:lvl3pPr>
            <a:lvl4pPr>
              <a:lnSpc>
                <a:spcPts val="3800"/>
              </a:lnSpc>
              <a:spcBef>
                <a:spcPts val="600"/>
              </a:spcBef>
              <a:spcAft>
                <a:spcPts val="600"/>
              </a:spcAft>
              <a:buClr>
                <a:srgbClr val="FACF82"/>
              </a:buClr>
              <a:defRPr sz="2600">
                <a:solidFill>
                  <a:schemeClr val="tx1">
                    <a:lumMod val="40000"/>
                    <a:lumOff val="60000"/>
                  </a:schemeClr>
                </a:solidFill>
              </a:defRPr>
            </a:lvl4pPr>
            <a:lvl5pPr>
              <a:lnSpc>
                <a:spcPts val="3800"/>
              </a:lnSpc>
              <a:spcBef>
                <a:spcPts val="600"/>
              </a:spcBef>
              <a:spcAft>
                <a:spcPts val="600"/>
              </a:spcAft>
              <a:defRPr sz="2400">
                <a:solidFill>
                  <a:schemeClr val="tx1">
                    <a:lumMod val="40000"/>
                    <a:lumOff val="60000"/>
                  </a:schemeClr>
                </a:solidFill>
              </a:defRPr>
            </a:lvl5pPr>
          </a:lstStyle>
          <a:p>
            <a:pPr marL="319088" marR="0" lvl="0" indent="-319088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46A6BD">
                  <a:lumMod val="40000"/>
                  <a:lumOff val="60000"/>
                </a:srgbClr>
              </a:buClr>
              <a:buSzPct val="70000"/>
              <a:buFont typeface="Wingdings 2" pitchFamily="18" charset="2"/>
              <a:buChar char=""/>
              <a:tabLst/>
              <a:defRPr/>
            </a:pPr>
            <a:r>
              <a:rPr kumimoji="0" 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CFF66">
                    <a:lumMod val="20000"/>
                    <a:lumOff val="80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First Level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533400" y="1752600"/>
            <a:ext cx="8077200" cy="4708981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lang="en-US" sz="2000" smtClean="0">
                <a:solidFill>
                  <a:srgbClr val="8CF4F2"/>
                </a:solidFill>
                <a:latin typeface="Consolas" pitchFamily="49" charset="0"/>
                <a:cs typeface="Consolas" pitchFamily="49" charset="0"/>
              </a:defRPr>
            </a:lvl1pPr>
          </a:lstStyle>
          <a:p>
            <a:pPr lvl="0"/>
            <a:r>
              <a:rPr lang="en-US" noProof="1" smtClean="0"/>
              <a:t>Enter source code here</a:t>
            </a:r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8610600" y="6553200"/>
            <a:ext cx="457200" cy="228600"/>
          </a:xfrm>
          <a:prstGeom prst="rect">
            <a:avLst/>
          </a:prstGeom>
        </p:spPr>
        <p:txBody>
          <a:bodyPr anchor="ctr" anchorCtr="0"/>
          <a:lstStyle>
            <a:lvl1pPr algn="r">
              <a:defRPr sz="1100"/>
            </a:lvl1pPr>
          </a:lstStyle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16855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 hasCustomPrompt="1"/>
          </p:nvPr>
        </p:nvSpPr>
        <p:spPr>
          <a:xfrm>
            <a:off x="609600" y="2743201"/>
            <a:ext cx="7924800" cy="685800"/>
          </a:xfrm>
          <a:prstGeom prst="rect">
            <a:avLst/>
          </a:prstGeom>
        </p:spPr>
        <p:txBody>
          <a:bodyPr tIns="0" bIns="0" anchor="ctr" anchorCtr="0"/>
          <a:lstStyle>
            <a:lvl1pPr algn="ctr">
              <a:lnSpc>
                <a:spcPts val="5600"/>
              </a:lnSpc>
              <a:defRPr sz="5000" cap="none" baseline="0">
                <a:effectLst>
                  <a:outerShdw blurRad="30000" dist="30000" dir="2700000" algn="tl" rotWithShape="0">
                    <a:schemeClr val="bg2">
                      <a:shade val="45000"/>
                      <a:satMod val="150000"/>
                      <a:alpha val="90000"/>
                    </a:schemeClr>
                  </a:outerShdw>
                  <a:reflection blurRad="12000" stA="20000" endPos="50000" dist="12700" dir="5400000" sy="-100000" algn="bl" rotWithShape="0"/>
                </a:effectLst>
              </a:defRPr>
            </a:lvl1pPr>
          </a:lstStyle>
          <a:p>
            <a:r>
              <a:rPr lang="en-US" dirty="0" smtClean="0"/>
              <a:t>Section Title</a:t>
            </a:r>
            <a:endParaRPr lang="en-US" dirty="0"/>
          </a:p>
        </p:txBody>
      </p:sp>
      <p:sp>
        <p:nvSpPr>
          <p:cNvPr id="17" name="Subtitle 16"/>
          <p:cNvSpPr>
            <a:spLocks noGrp="1"/>
          </p:cNvSpPr>
          <p:nvPr>
            <p:ph type="subTitle" idx="1" hasCustomPrompt="1"/>
          </p:nvPr>
        </p:nvSpPr>
        <p:spPr>
          <a:xfrm>
            <a:off x="609600" y="3469480"/>
            <a:ext cx="7924800" cy="56912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None/>
              <a:defRPr lang="en-US" sz="2800" b="1" kern="1200" baseline="0" dirty="0">
                <a:solidFill>
                  <a:srgbClr val="FAF7C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 dirty="0" smtClean="0"/>
              <a:t>Section Subtitle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roup 29"/>
          <p:cNvGrpSpPr/>
          <p:nvPr userDrawn="1"/>
        </p:nvGrpSpPr>
        <p:grpSpPr>
          <a:xfrm>
            <a:off x="130434" y="6373882"/>
            <a:ext cx="1816798" cy="331718"/>
            <a:chOff x="1236228" y="1523999"/>
            <a:chExt cx="4351212" cy="3261410"/>
          </a:xfrm>
          <a:noFill/>
        </p:grpSpPr>
        <p:sp>
          <p:nvSpPr>
            <p:cNvPr id="31" name="TextBox 30">
              <a:hlinkClick r:id="rId2" tooltip="Форум за програмиране и уеб дизайн - дискусии, съвети, въпроси и отговори @ Софтуерна академия на Телерик"/>
            </p:cNvPr>
            <p:cNvSpPr txBox="1"/>
            <p:nvPr userDrawn="1"/>
          </p:nvSpPr>
          <p:spPr>
            <a:xfrm flipH="1">
              <a:off x="3394420" y="1733044"/>
              <a:ext cx="1528760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lvl="0">
                <a:defRPr sz="1200"/>
              </a:lvl1pPr>
            </a:lstStyle>
            <a:p>
              <a:pPr lvl="0"/>
              <a:r>
                <a:rPr lang="bg-BG" sz="200" noProof="1" smtClean="0">
                  <a:ln w="0">
                    <a:noFill/>
                  </a:ln>
                  <a:solidFill>
                    <a:schemeClr val="bg1"/>
                  </a:solidFill>
                  <a:effectLst/>
                </a:rPr>
                <a:t>форум програмиране, форум уеб дизайн</a:t>
              </a:r>
              <a:endParaRPr lang="bg-BG" sz="200" noProof="1">
                <a:ln w="0"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32" name="TextBox 31">
              <a:hlinkClick r:id="rId3" tooltip="Курсове и уроци по програмиране, уеб дизайн, разработка на софтуер и информационни технологии - лекции, видео уроци, обучения - безплатно"/>
            </p:cNvPr>
            <p:cNvSpPr txBox="1"/>
            <p:nvPr userDrawn="1"/>
          </p:nvSpPr>
          <p:spPr>
            <a:xfrm flipH="1">
              <a:off x="1350512" y="1528531"/>
              <a:ext cx="2008656" cy="1149887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bg-BG" sz="200" kern="1200" noProof="1" smtClean="0">
                  <a:ln w="0">
                    <a:noFill/>
                  </a:ln>
                  <a:solidFill>
                    <a:schemeClr val="bg1"/>
                  </a:solidFill>
                  <a:effectLst/>
                  <a:latin typeface="Corbel" pitchFamily="34" charset="0"/>
                  <a:ea typeface="+mn-ea"/>
                  <a:cs typeface="+mn-cs"/>
                </a:rPr>
                <a:t>курсове и уроци по програмиране, уеб дизайн – безплатно</a:t>
              </a:r>
              <a:endParaRPr lang="bg-BG" sz="200" kern="1200" noProof="1">
                <a:ln w="0">
                  <a:noFill/>
                </a:ln>
                <a:solidFill>
                  <a:schemeClr val="bg1"/>
                </a:solidFill>
                <a:effectLst/>
                <a:latin typeface="Corbel" pitchFamily="34" charset="0"/>
                <a:ea typeface="+mn-ea"/>
                <a:cs typeface="+mn-cs"/>
              </a:endParaRPr>
            </a:p>
          </p:txBody>
        </p:sp>
        <p:sp>
          <p:nvSpPr>
            <p:cNvPr id="33" name="TextBox 32">
              <a:hlinkClick r:id="rId4" tooltip="Програмиране за деца - безплатно в Телерик кидс академия"/>
            </p:cNvPr>
            <p:cNvSpPr txBox="1"/>
            <p:nvPr userDrawn="1"/>
          </p:nvSpPr>
          <p:spPr>
            <a:xfrm flipH="1">
              <a:off x="1538277" y="2175145"/>
              <a:ext cx="1816697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bg-BG" sz="200" kern="1200" noProof="1" smtClean="0">
                  <a:ln w="0">
                    <a:noFill/>
                  </a:ln>
                  <a:solidFill>
                    <a:schemeClr val="bg1"/>
                  </a:solidFill>
                  <a:effectLst/>
                  <a:latin typeface="Corbel" pitchFamily="34" charset="0"/>
                  <a:ea typeface="+mn-ea"/>
                  <a:cs typeface="+mn-cs"/>
                </a:rPr>
                <a:t>програмиране за деца – безплатни курсове и уроци</a:t>
              </a:r>
              <a:endParaRPr lang="bg-BG" sz="200" kern="1200" noProof="1">
                <a:ln w="0">
                  <a:noFill/>
                </a:ln>
                <a:solidFill>
                  <a:schemeClr val="bg1"/>
                </a:solidFill>
                <a:effectLst/>
                <a:latin typeface="Corbel" pitchFamily="34" charset="0"/>
                <a:ea typeface="+mn-ea"/>
                <a:cs typeface="+mn-cs"/>
              </a:endParaRPr>
            </a:p>
          </p:txBody>
        </p:sp>
        <p:sp>
          <p:nvSpPr>
            <p:cNvPr id="34" name="TextBox 33">
              <a:hlinkClick r:id="rId5" tooltip="Безплатен SEO курс - оптимизация за търсачки, уроци по SEO"/>
            </p:cNvPr>
            <p:cNvSpPr txBox="1"/>
            <p:nvPr userDrawn="1"/>
          </p:nvSpPr>
          <p:spPr>
            <a:xfrm flipH="1">
              <a:off x="1660733" y="2421354"/>
              <a:ext cx="1697683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lvl="0">
                <a:defRPr sz="1200"/>
              </a:lvl1pPr>
            </a:lstStyle>
            <a:p>
              <a:pPr lvl="0" algn="l"/>
              <a:r>
                <a:rPr lang="bg-BG" sz="200" noProof="1" smtClean="0">
                  <a:ln w="0">
                    <a:noFill/>
                  </a:ln>
                  <a:solidFill>
                    <a:schemeClr val="bg1"/>
                  </a:solidFill>
                  <a:effectLst/>
                </a:rPr>
                <a:t>безплатен SEO курс - оптимизация за търсачки</a:t>
              </a:r>
              <a:endParaRPr lang="bg-BG" sz="200" noProof="1">
                <a:ln w="0"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35" name="TextBox 34">
              <a:hlinkClick r:id="rId6" tooltip="Безплатен курс &quot;Уеб дизайн с HTML, CSS и JavaScript&quot; - уроци по правене на уеб сайтове, HTML, CSS, Photoshop, JavaScript и CMS системи"/>
            </p:cNvPr>
            <p:cNvSpPr txBox="1"/>
            <p:nvPr userDrawn="1"/>
          </p:nvSpPr>
          <p:spPr>
            <a:xfrm flipH="1">
              <a:off x="1448482" y="2878556"/>
              <a:ext cx="1908837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lvl="0">
                <a:defRPr sz="1200"/>
              </a:lvl1pPr>
            </a:lstStyle>
            <a:p>
              <a:pPr lvl="0"/>
              <a:r>
                <a:rPr lang="bg-BG" sz="200" noProof="1" smtClean="0">
                  <a:ln w="0">
                    <a:noFill/>
                  </a:ln>
                  <a:solidFill>
                    <a:schemeClr val="bg1"/>
                  </a:solidFill>
                  <a:effectLst/>
                </a:rPr>
                <a:t>уроци по уеб дизайн, HTML, CSS, JavaScript, Photoshop</a:t>
              </a:r>
              <a:endParaRPr lang="bg-BG" sz="200" noProof="1">
                <a:ln w="0"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36" name="TextBox 35">
              <a:hlinkClick r:id="rId7" tooltip="Училищна софтуерна академия - безплатни уроци по програмиране и уеб дизайн"/>
            </p:cNvPr>
            <p:cNvSpPr txBox="1"/>
            <p:nvPr userDrawn="1"/>
          </p:nvSpPr>
          <p:spPr>
            <a:xfrm flipH="1">
              <a:off x="1636239" y="1946534"/>
              <a:ext cx="1747592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pPr algn="l"/>
              <a:r>
                <a:rPr lang="bg-BG" sz="200" kern="1200" noProof="1" smtClean="0">
                  <a:ln w="0">
                    <a:noFill/>
                  </a:ln>
                  <a:solidFill>
                    <a:schemeClr val="bg1"/>
                  </a:solidFill>
                  <a:effectLst/>
                  <a:latin typeface="Corbel" pitchFamily="34" charset="0"/>
                  <a:ea typeface="+mn-ea"/>
                  <a:cs typeface="+mn-cs"/>
                </a:rPr>
                <a:t>уроци по програмиране и уеб дизайн за ученици</a:t>
              </a:r>
              <a:endParaRPr lang="bg-BG" sz="200" kern="1200" noProof="1">
                <a:ln w="0">
                  <a:noFill/>
                </a:ln>
                <a:solidFill>
                  <a:schemeClr val="bg1"/>
                </a:solidFill>
                <a:effectLst/>
                <a:latin typeface="Corbel" pitchFamily="34" charset="0"/>
                <a:ea typeface="+mn-ea"/>
                <a:cs typeface="+mn-cs"/>
              </a:endParaRPr>
            </a:p>
          </p:txBody>
        </p:sp>
        <p:sp>
          <p:nvSpPr>
            <p:cNvPr id="37" name="TextBox 36">
              <a:hlinkClick r:id="rId8" tooltip="Безплатен курс &quot;Програмиране с ASP.NET MVC&quot; - уеб технологии, бази данни, C#, .NET, ASP.NET MVC"/>
            </p:cNvPr>
            <p:cNvSpPr txBox="1"/>
            <p:nvPr userDrawn="1"/>
          </p:nvSpPr>
          <p:spPr>
            <a:xfrm flipH="1">
              <a:off x="3402824" y="2230065"/>
              <a:ext cx="1939551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lvl="0">
                <a:defRPr sz="1200"/>
              </a:lvl1pPr>
            </a:lstStyle>
            <a:p>
              <a:pPr lvl="0"/>
              <a:r>
                <a:rPr lang="bg-BG" sz="200" noProof="1" smtClean="0">
                  <a:ln w="0">
                    <a:noFill/>
                  </a:ln>
                  <a:solidFill>
                    <a:schemeClr val="bg1"/>
                  </a:solidFill>
                  <a:effectLst/>
                </a:rPr>
                <a:t>ASP.NET MVC курс – HTML, SQL, C#, .NET, ASP.NET MVC</a:t>
              </a:r>
              <a:endParaRPr lang="bg-BG" sz="200" noProof="1">
                <a:ln w="0"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38" name="TextBox 37">
              <a:hlinkClick r:id="rId9" tooltip="Безплатен курс &quot;Разработка на софтуер в Cloud среда&quot; - AppEngine, AWS, Azure"/>
            </p:cNvPr>
            <p:cNvSpPr txBox="1"/>
            <p:nvPr userDrawn="1"/>
          </p:nvSpPr>
          <p:spPr>
            <a:xfrm flipH="1">
              <a:off x="1440310" y="3574997"/>
              <a:ext cx="1881966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bg-BG" sz="200" kern="1200" noProof="1" smtClean="0">
                  <a:ln w="0">
                    <a:noFill/>
                  </a:ln>
                  <a:solidFill>
                    <a:schemeClr val="bg1"/>
                  </a:solidFill>
                  <a:effectLst/>
                  <a:latin typeface="Corbel" pitchFamily="34" charset="0"/>
                  <a:ea typeface="+mn-ea"/>
                  <a:cs typeface="+mn-cs"/>
                </a:rPr>
                <a:t>безплатен курс "Разработка на софтуер в cloud среда"</a:t>
              </a:r>
              <a:endParaRPr lang="bg-BG" sz="200" kern="1200" noProof="1">
                <a:ln w="0">
                  <a:noFill/>
                </a:ln>
                <a:solidFill>
                  <a:schemeClr val="bg1"/>
                </a:solidFill>
                <a:effectLst/>
                <a:latin typeface="Corbel" pitchFamily="34" charset="0"/>
                <a:ea typeface="+mn-ea"/>
                <a:cs typeface="+mn-cs"/>
              </a:endParaRPr>
            </a:p>
          </p:txBody>
        </p:sp>
        <p:sp>
          <p:nvSpPr>
            <p:cNvPr id="39" name="TextBox 38">
              <a:hlinkClick r:id="rId10" tooltip="BG Coder - онлайн състезателна система - тренировки за състезания по програмиране - online judge"/>
            </p:cNvPr>
            <p:cNvSpPr txBox="1"/>
            <p:nvPr userDrawn="1"/>
          </p:nvSpPr>
          <p:spPr>
            <a:xfrm flipH="1">
              <a:off x="3389110" y="1523999"/>
              <a:ext cx="1874287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lvl="0">
                <a:defRPr sz="1200"/>
              </a:lvl1pPr>
            </a:lstStyle>
            <a:p>
              <a:pPr lvl="0"/>
              <a:r>
                <a:rPr lang="bg-BG" sz="200" noProof="1" smtClean="0">
                  <a:ln w="0">
                    <a:noFill/>
                  </a:ln>
                  <a:solidFill>
                    <a:schemeClr val="bg1"/>
                  </a:solidFill>
                  <a:effectLst/>
                </a:rPr>
                <a:t>BG Coder - онлайн състезателна система - online judge</a:t>
              </a:r>
              <a:endParaRPr lang="bg-BG" sz="200" noProof="1">
                <a:ln w="0"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40" name="TextBox 39">
              <a:hlinkClick r:id="rId11" tooltip="Светлин Наков - курсове и уроци по програмиране, уеб дизайн, книги, обучения - безплатно"/>
            </p:cNvPr>
            <p:cNvSpPr txBox="1"/>
            <p:nvPr userDrawn="1"/>
          </p:nvSpPr>
          <p:spPr>
            <a:xfrm flipH="1">
              <a:off x="1236228" y="2649965"/>
              <a:ext cx="2123831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lvl="0">
                <a:defRPr sz="1200"/>
              </a:lvl1pPr>
            </a:lstStyle>
            <a:p>
              <a:pPr lvl="0"/>
              <a:r>
                <a:rPr lang="bg-BG" sz="200" noProof="1" smtClean="0">
                  <a:ln w="0">
                    <a:noFill/>
                  </a:ln>
                  <a:solidFill>
                    <a:schemeClr val="bg1"/>
                  </a:solidFill>
                  <a:effectLst/>
                </a:rPr>
                <a:t>курсове и уроци по програмиране, книги – безплатно от Наков</a:t>
              </a:r>
              <a:endParaRPr lang="bg-BG" sz="200" noProof="1">
                <a:ln w="0"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41" name="TextBox 40">
              <a:hlinkClick r:id="rId12" tooltip="Безплатен курс &quot;Качествен програмен код&quot;"/>
            </p:cNvPr>
            <p:cNvSpPr txBox="1"/>
            <p:nvPr userDrawn="1"/>
          </p:nvSpPr>
          <p:spPr>
            <a:xfrm flipH="1">
              <a:off x="1766855" y="3335748"/>
              <a:ext cx="1594026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bg-BG" sz="200" kern="1200" noProof="1" smtClean="0">
                  <a:ln w="0">
                    <a:noFill/>
                  </a:ln>
                  <a:solidFill>
                    <a:schemeClr val="bg1"/>
                  </a:solidFill>
                  <a:effectLst/>
                  <a:latin typeface="Corbel" pitchFamily="34" charset="0"/>
                  <a:ea typeface="+mn-ea"/>
                  <a:cs typeface="+mn-cs"/>
                </a:rPr>
                <a:t>безплатен курс "Качествен програмен код"</a:t>
              </a:r>
              <a:endParaRPr lang="bg-BG" sz="200" kern="1200" noProof="1">
                <a:ln w="0">
                  <a:noFill/>
                </a:ln>
                <a:solidFill>
                  <a:schemeClr val="bg1"/>
                </a:solidFill>
                <a:effectLst/>
                <a:latin typeface="Corbel" pitchFamily="34" charset="0"/>
                <a:ea typeface="+mn-ea"/>
                <a:cs typeface="+mn-cs"/>
              </a:endParaRPr>
            </a:p>
          </p:txBody>
        </p:sp>
        <p:sp>
          <p:nvSpPr>
            <p:cNvPr id="42" name="TextBox 41">
              <a:hlinkClick r:id="rId13" tooltip="Алго академия - Академия по алгоритмично програмиране - безплатни уроци по алгоритми и структури от данни, състезателно програмиране и състезания"/>
            </p:cNvPr>
            <p:cNvSpPr txBox="1"/>
            <p:nvPr userDrawn="1"/>
          </p:nvSpPr>
          <p:spPr>
            <a:xfrm flipH="1">
              <a:off x="3407676" y="2461282"/>
              <a:ext cx="1977943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lvl="0">
                <a:defRPr sz="1200"/>
              </a:lvl1pPr>
            </a:lstStyle>
            <a:p>
              <a:pPr lvl="0"/>
              <a:r>
                <a:rPr lang="bg-BG" sz="200" noProof="1" smtClean="0">
                  <a:ln w="0">
                    <a:noFill/>
                  </a:ln>
                  <a:solidFill>
                    <a:schemeClr val="bg1"/>
                  </a:solidFill>
                  <a:effectLst/>
                </a:rPr>
                <a:t>алго академия – състезателно програмиране, състезания</a:t>
              </a:r>
              <a:endParaRPr lang="bg-BG" sz="200" noProof="1">
                <a:ln w="0"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43" name="TextBox 42">
              <a:hlinkClick r:id="rId14" tooltip="Безплатен ASP.NET курс - уеб програмиране, бази данни, C#, .NET, ASP.NET"/>
            </p:cNvPr>
            <p:cNvSpPr txBox="1"/>
            <p:nvPr userDrawn="1"/>
          </p:nvSpPr>
          <p:spPr>
            <a:xfrm flipH="1">
              <a:off x="3406019" y="1985429"/>
              <a:ext cx="2181421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lvl="0">
                <a:defRPr sz="1200"/>
              </a:lvl1pPr>
            </a:lstStyle>
            <a:p>
              <a:pPr lvl="0"/>
              <a:r>
                <a:rPr lang="bg-BG" sz="200" noProof="1" smtClean="0">
                  <a:ln w="0">
                    <a:noFill/>
                  </a:ln>
                  <a:solidFill>
                    <a:schemeClr val="bg1"/>
                  </a:solidFill>
                  <a:effectLst/>
                </a:rPr>
                <a:t>ASP.NET курс - уеб програмиране, бази данни, C#, .NET, ASP.NET</a:t>
              </a:r>
              <a:endParaRPr lang="bg-BG" sz="200" noProof="1">
                <a:ln w="0"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44" name="TextBox 43">
              <a:hlinkClick r:id="rId15" tooltip="Софтуерна академия на Телерик - безплатни курсове и уроци по програмиране"/>
            </p:cNvPr>
            <p:cNvSpPr txBox="1"/>
            <p:nvPr userDrawn="1"/>
          </p:nvSpPr>
          <p:spPr>
            <a:xfrm flipH="1">
              <a:off x="1504800" y="1717933"/>
              <a:ext cx="1901159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1200"/>
              </a:lvl1pPr>
            </a:lstStyle>
            <a:p>
              <a:pPr lvl="0" algn="l"/>
              <a:r>
                <a:rPr lang="bg-BG" sz="200" noProof="1" smtClean="0">
                  <a:ln w="0">
                    <a:noFill/>
                  </a:ln>
                  <a:solidFill>
                    <a:schemeClr val="bg1"/>
                  </a:solidFill>
                  <a:effectLst/>
                </a:rPr>
                <a:t>курсове и уроци по </a:t>
              </a:r>
              <a:r>
                <a:rPr lang="bg-BG" sz="200" kern="1200" noProof="1" smtClean="0">
                  <a:ln w="0">
                    <a:noFill/>
                  </a:ln>
                  <a:solidFill>
                    <a:schemeClr val="bg1"/>
                  </a:solidFill>
                  <a:effectLst/>
                  <a:latin typeface="Corbel" pitchFamily="34" charset="0"/>
                  <a:ea typeface="+mn-ea"/>
                  <a:cs typeface="+mn-cs"/>
                </a:rPr>
                <a:t>програмиране – Телерик академия</a:t>
              </a:r>
              <a:endParaRPr lang="bg-BG" sz="200" kern="1200" noProof="1">
                <a:ln w="0">
                  <a:noFill/>
                </a:ln>
                <a:solidFill>
                  <a:schemeClr val="bg1"/>
                </a:solidFill>
                <a:effectLst/>
                <a:latin typeface="Corbel" pitchFamily="34" charset="0"/>
                <a:ea typeface="+mn-ea"/>
                <a:cs typeface="+mn-cs"/>
              </a:endParaRPr>
            </a:p>
          </p:txBody>
        </p:sp>
        <p:sp>
          <p:nvSpPr>
            <p:cNvPr id="45" name="TextBox 44">
              <a:hlinkClick r:id="rId16" tooltip="Безплатен курс &quot;Разработка на мобилни приложения&quot; - iPhone, Android, Windows Phone, PhoneGap, HTML5, jQuery, AJAX"/>
            </p:cNvPr>
            <p:cNvSpPr txBox="1"/>
            <p:nvPr userDrawn="1"/>
          </p:nvSpPr>
          <p:spPr>
            <a:xfrm flipH="1">
              <a:off x="3404043" y="2718405"/>
              <a:ext cx="2058568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lvl="0">
                <a:defRPr sz="1200"/>
              </a:lvl1pPr>
            </a:lstStyle>
            <a:p>
              <a:pPr lvl="0"/>
              <a:r>
                <a:rPr lang="bg-BG" sz="200" noProof="1" smtClean="0">
                  <a:ln w="0">
                    <a:noFill/>
                  </a:ln>
                  <a:solidFill>
                    <a:schemeClr val="bg1"/>
                  </a:solidFill>
                  <a:effectLst/>
                </a:rPr>
                <a:t>курс мобилни приложения с iPhone, Android, WP7, PhoneGap</a:t>
              </a:r>
              <a:endParaRPr lang="bg-BG" sz="200" noProof="1">
                <a:ln w="0"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46" name="TextBox 45">
              <a:hlinkClick r:id="rId17" tooltip="Free C# Programming Book by Svetlin Nakov - безплатна C# книга от Светлин Наков, книга C#, книга Java, безплатна книга"/>
            </p:cNvPr>
            <p:cNvSpPr txBox="1"/>
            <p:nvPr userDrawn="1"/>
          </p:nvSpPr>
          <p:spPr>
            <a:xfrm flipH="1">
              <a:off x="1440317" y="3117785"/>
              <a:ext cx="1901159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bg-BG" sz="200" kern="1200" noProof="1" smtClean="0">
                  <a:ln w="0">
                    <a:noFill/>
                  </a:ln>
                  <a:solidFill>
                    <a:schemeClr val="bg1"/>
                  </a:solidFill>
                  <a:effectLst/>
                  <a:latin typeface="Corbel" pitchFamily="34" charset="0"/>
                  <a:ea typeface="+mn-ea"/>
                  <a:cs typeface="+mn-cs"/>
                </a:rPr>
                <a:t>free C# book, безплатна книга C#, книга Java, книга C#</a:t>
              </a:r>
              <a:endParaRPr lang="bg-BG" sz="200" kern="1200" noProof="1">
                <a:ln w="0">
                  <a:noFill/>
                </a:ln>
                <a:solidFill>
                  <a:schemeClr val="bg1"/>
                </a:solidFill>
                <a:effectLst/>
                <a:latin typeface="Corbel" pitchFamily="34" charset="0"/>
                <a:ea typeface="+mn-ea"/>
                <a:cs typeface="+mn-cs"/>
              </a:endParaRPr>
            </a:p>
          </p:txBody>
        </p:sp>
        <p:sp>
          <p:nvSpPr>
            <p:cNvPr id="47" name="TextBox 46">
              <a:hlinkClick r:id="rId18" tooltip="Дончо Минков - сайт за програмиране"/>
            </p:cNvPr>
            <p:cNvSpPr txBox="1"/>
            <p:nvPr userDrawn="1"/>
          </p:nvSpPr>
          <p:spPr>
            <a:xfrm flipH="1">
              <a:off x="3401370" y="2963513"/>
              <a:ext cx="1475012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1600">
                  <a:ln w="0">
                    <a:solidFill>
                      <a:schemeClr val="tx1"/>
                    </a:solidFill>
                  </a:ln>
                  <a:effectLst/>
                </a:defRPr>
              </a:lvl1pPr>
            </a:lstStyle>
            <a:p>
              <a:pPr lvl="0"/>
              <a:r>
                <a:rPr lang="bg-BG" sz="200" noProof="1" smtClean="0">
                  <a:ln w="0">
                    <a:noFill/>
                  </a:ln>
                  <a:solidFill>
                    <a:schemeClr val="bg1"/>
                  </a:solidFill>
                </a:rPr>
                <a:t>Дончо Минков - сайт за програмиране</a:t>
              </a:r>
              <a:endParaRPr lang="bg-BG" sz="200" noProof="1">
                <a:ln w="0">
                  <a:noFill/>
                </a:ln>
                <a:solidFill>
                  <a:schemeClr val="bg1"/>
                </a:solidFill>
              </a:endParaRPr>
            </a:p>
          </p:txBody>
        </p:sp>
        <p:sp>
          <p:nvSpPr>
            <p:cNvPr id="48" name="TextBox 47">
              <a:hlinkClick r:id="rId19" tooltip="Николай Костов - блог за програмиране"/>
            </p:cNvPr>
            <p:cNvSpPr txBox="1"/>
            <p:nvPr userDrawn="1"/>
          </p:nvSpPr>
          <p:spPr>
            <a:xfrm flipH="1">
              <a:off x="3401423" y="3217864"/>
              <a:ext cx="1513403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pPr algn="l"/>
              <a:r>
                <a:rPr lang="bg-BG" sz="200" kern="1200" noProof="1" smtClean="0">
                  <a:ln w="0">
                    <a:noFill/>
                  </a:ln>
                  <a:solidFill>
                    <a:schemeClr val="bg1"/>
                  </a:solidFill>
                  <a:effectLst/>
                  <a:latin typeface="Corbel" pitchFamily="34" charset="0"/>
                  <a:ea typeface="+mn-ea"/>
                  <a:cs typeface="+mn-cs"/>
                </a:rPr>
                <a:t>Николай Костов - блог за програмиране</a:t>
              </a:r>
              <a:endParaRPr lang="bg-BG" sz="200" kern="1200" noProof="1">
                <a:ln w="0">
                  <a:noFill/>
                </a:ln>
                <a:solidFill>
                  <a:schemeClr val="bg1"/>
                </a:solidFill>
                <a:effectLst/>
                <a:latin typeface="Corbel" pitchFamily="34" charset="0"/>
                <a:ea typeface="+mn-ea"/>
                <a:cs typeface="+mn-cs"/>
              </a:endParaRPr>
            </a:p>
          </p:txBody>
        </p:sp>
        <p:sp>
          <p:nvSpPr>
            <p:cNvPr id="49" name="TextBox 48">
              <a:hlinkClick r:id="rId20" tooltip="безплатен C# курс в софтуерната академия на Наков"/>
            </p:cNvPr>
            <p:cNvSpPr txBox="1"/>
            <p:nvPr userDrawn="1"/>
          </p:nvSpPr>
          <p:spPr>
            <a:xfrm flipH="1">
              <a:off x="3398079" y="3548402"/>
              <a:ext cx="1359837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1600">
                  <a:ln w="0">
                    <a:solidFill>
                      <a:schemeClr val="tx1"/>
                    </a:solidFill>
                  </a:ln>
                  <a:effectLst/>
                </a:defRPr>
              </a:lvl1pPr>
            </a:lstStyle>
            <a:p>
              <a:pPr lvl="0"/>
              <a:r>
                <a:rPr lang="bg-BG" sz="200" noProof="1" smtClean="0">
                  <a:ln w="0">
                    <a:noFill/>
                  </a:ln>
                  <a:solidFill>
                    <a:schemeClr val="bg1"/>
                  </a:solidFill>
                </a:rPr>
                <a:t>C# курс, програмиране, безплатно</a:t>
              </a:r>
              <a:endParaRPr lang="bg-BG" sz="200" noProof="1">
                <a:ln w="0">
                  <a:noFill/>
                </a:ln>
                <a:solidFill>
                  <a:schemeClr val="bg1"/>
                </a:solidFill>
              </a:endParaRPr>
            </a:p>
          </p:txBody>
        </p:sp>
      </p:grp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1828800" y="152400"/>
            <a:ext cx="7086600" cy="83820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algn="r" rtl="0" eaLnBrk="0" fontAlgn="base" hangingPunct="0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lang="en-US" sz="4000" b="1" kern="1200" baseline="0" dirty="0">
                <a:ln w="500"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12700" stA="20000" endPos="50000" dist="12700" dir="5400000" sy="-100000" algn="bl" rotWithShape="0"/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/>
              <a:t>Presentation Title</a:t>
            </a:r>
            <a:endParaRPr lang="en-US" dirty="0"/>
          </a:p>
        </p:txBody>
      </p:sp>
      <p:sp>
        <p:nvSpPr>
          <p:cNvPr id="9" name="TextBox 8">
            <a:hlinkClick r:id="rId2" tooltip="Форум за програмиране и уеб дизайн - дискусии, съвети, въпроси и отговори @ Софтуерна академия на Телерик"/>
          </p:cNvPr>
          <p:cNvSpPr txBox="1"/>
          <p:nvPr userDrawn="1"/>
        </p:nvSpPr>
        <p:spPr>
          <a:xfrm rot="12041701" flipH="1">
            <a:off x="7471619" y="3840481"/>
            <a:ext cx="890352" cy="156966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sz="9600" b="1" dirty="0" smtClean="0">
                <a:solidFill>
                  <a:schemeClr val="tx1">
                    <a:lumMod val="75000"/>
                  </a:schemeClr>
                </a:solidFill>
                <a:effectLst>
                  <a:reflection blurRad="6350" stA="55000" endA="300" endPos="45500" dir="5400000" sy="-100000" algn="bl" rotWithShape="0"/>
                </a:effectLst>
              </a:rPr>
              <a:t>?</a:t>
            </a:r>
            <a:endParaRPr lang="en-US" sz="9600" b="1" dirty="0">
              <a:solidFill>
                <a:schemeClr val="tx1">
                  <a:lumMod val="75000"/>
                </a:schemeClr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11" name="TextBox 10">
            <a:hlinkClick r:id="rId4" tooltip="Програмиране за деца - безплатно в Телерик кидс академия"/>
          </p:cNvPr>
          <p:cNvSpPr txBox="1"/>
          <p:nvPr userDrawn="1"/>
        </p:nvSpPr>
        <p:spPr>
          <a:xfrm rot="9535351" flipH="1">
            <a:off x="923386" y="1861198"/>
            <a:ext cx="673363" cy="144655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isometricOffAxis1Right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sz="8800" dirty="0" smtClean="0">
                <a:solidFill>
                  <a:schemeClr val="accent5">
                    <a:lumMod val="60000"/>
                    <a:lumOff val="40000"/>
                  </a:schemeClr>
                </a:solidFill>
                <a:effectLst>
                  <a:reflection blurRad="6350" stA="55000" endA="300" endPos="45500" dir="5400000" sy="-100000" algn="bl" rotWithShape="0"/>
                </a:effectLst>
              </a:rPr>
              <a:t>?</a:t>
            </a:r>
            <a:endParaRPr lang="en-US" sz="8800" dirty="0">
              <a:solidFill>
                <a:schemeClr val="accent5">
                  <a:lumMod val="60000"/>
                  <a:lumOff val="40000"/>
                </a:schemeClr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12" name="TextBox 11">
            <a:hlinkClick r:id="rId5" tooltip="Безплатен SEO курс - оптимизация за търсачки, уроци по SEO"/>
          </p:cNvPr>
          <p:cNvSpPr txBox="1"/>
          <p:nvPr userDrawn="1"/>
        </p:nvSpPr>
        <p:spPr>
          <a:xfrm rot="16938170" flipH="1">
            <a:off x="4905823" y="966542"/>
            <a:ext cx="859648" cy="199289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sz="11500" b="1" dirty="0" smtClean="0">
                <a:solidFill>
                  <a:srgbClr val="FF831D"/>
                </a:solidFill>
                <a:effectLst>
                  <a:reflection blurRad="6350" stA="55000" endA="300" endPos="45500" dir="5400000" sy="-100000" algn="bl" rotWithShape="0"/>
                </a:effectLst>
              </a:rPr>
              <a:t>?</a:t>
            </a:r>
            <a:endParaRPr lang="en-US" sz="11500" b="1" dirty="0">
              <a:solidFill>
                <a:srgbClr val="FF831D"/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13" name="TextBox 12">
            <a:hlinkClick r:id="rId6" tooltip="Безплатен курс &quot;Уеб дизайн с HTML, CSS и JavaScript&quot; - уроци по правене на уеб сайтове, HTML, CSS, Photoshop, JavaScript и CMS системи"/>
          </p:cNvPr>
          <p:cNvSpPr txBox="1"/>
          <p:nvPr userDrawn="1"/>
        </p:nvSpPr>
        <p:spPr>
          <a:xfrm rot="19836951" flipH="1">
            <a:off x="7379010" y="1495154"/>
            <a:ext cx="949687" cy="206210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r>
              <a:rPr lang="en-US" sz="12800" b="1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innerShdw blurRad="63500" dist="50800" dir="8100000">
                    <a:prstClr val="black">
                      <a:alpha val="50000"/>
                    </a:prstClr>
                  </a:innerShdw>
                  <a:reflection blurRad="6350" stA="55000" endA="300" endPos="45500" dir="5400000" sy="-100000" algn="bl" rotWithShape="0"/>
                </a:effectLst>
              </a:rPr>
              <a:t>?</a:t>
            </a:r>
            <a:endParaRPr lang="en-US" sz="12800" b="1" dirty="0">
              <a:ln w="11430"/>
              <a:gradFill>
                <a:gsLst>
                  <a:gs pos="0">
                    <a:schemeClr val="accent6">
                      <a:tint val="90000"/>
                      <a:satMod val="120000"/>
                    </a:schemeClr>
                  </a:gs>
                  <a:gs pos="25000">
                    <a:schemeClr val="accent6">
                      <a:tint val="93000"/>
                      <a:satMod val="120000"/>
                    </a:schemeClr>
                  </a:gs>
                  <a:gs pos="50000">
                    <a:schemeClr val="accent6">
                      <a:shade val="89000"/>
                      <a:satMod val="110000"/>
                    </a:schemeClr>
                  </a:gs>
                  <a:gs pos="75000">
                    <a:schemeClr val="accent6">
                      <a:tint val="93000"/>
                      <a:satMod val="120000"/>
                    </a:schemeClr>
                  </a:gs>
                  <a:gs pos="100000">
                    <a:schemeClr val="accent6">
                      <a:tint val="90000"/>
                      <a:satMod val="120000"/>
                    </a:schemeClr>
                  </a:gs>
                </a:gsLst>
                <a:lin ang="5400000"/>
              </a:gradFill>
              <a:effectLst>
                <a:innerShdw blurRad="63500" dist="50800" dir="8100000">
                  <a:prstClr val="black">
                    <a:alpha val="50000"/>
                  </a:prstClr>
                </a:innerShdw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14" name="TextBox 13">
            <a:hlinkClick r:id="rId7" tooltip="Училищна софтуерна академия - безплатни уроци по програмиране и уеб дизайн"/>
          </p:cNvPr>
          <p:cNvSpPr txBox="1"/>
          <p:nvPr userDrawn="1"/>
        </p:nvSpPr>
        <p:spPr>
          <a:xfrm rot="2233443" flipH="1">
            <a:off x="2139218" y="940065"/>
            <a:ext cx="445351" cy="954107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perspectiveHeroicExtremeLeftFacing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sz="5600" dirty="0" smtClean="0">
                <a:solidFill>
                  <a:schemeClr val="tx2">
                    <a:lumMod val="75000"/>
                  </a:schemeClr>
                </a:solidFill>
                <a:effectLst>
                  <a:reflection blurRad="6350" stA="55000" endA="300" endPos="45500" dir="5400000" sy="-100000" algn="bl" rotWithShape="0"/>
                </a:effectLst>
              </a:rPr>
              <a:t>?</a:t>
            </a:r>
            <a:endParaRPr lang="en-US" sz="5600" dirty="0">
              <a:solidFill>
                <a:schemeClr val="tx2">
                  <a:lumMod val="75000"/>
                </a:schemeClr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15" name="TextBox 14">
            <a:hlinkClick r:id="rId8" tooltip="Безплатен курс &quot;Програмиране с ASP.NET MVC&quot; - уеб технологии, бази данни, C#, .NET, ASP.NET MVC"/>
          </p:cNvPr>
          <p:cNvSpPr txBox="1"/>
          <p:nvPr userDrawn="1"/>
        </p:nvSpPr>
        <p:spPr>
          <a:xfrm rot="8530737" flipH="1">
            <a:off x="4757100" y="4722613"/>
            <a:ext cx="643173" cy="156966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sz="9600" dirty="0" smtClean="0">
                <a:solidFill>
                  <a:srgbClr val="FF4A37"/>
                </a:solidFill>
                <a:effectLst>
                  <a:reflection blurRad="6350" stA="60000" endA="900" endPos="60000" dist="29997" dir="5400000" sy="-100000" algn="bl" rotWithShape="0"/>
                </a:effectLst>
              </a:rPr>
              <a:t>?</a:t>
            </a:r>
            <a:endParaRPr lang="en-US" sz="9600" dirty="0">
              <a:solidFill>
                <a:srgbClr val="FF4A37"/>
              </a:solidFill>
              <a:effectLst>
                <a:reflection blurRad="6350" stA="60000" endA="900" endPos="60000" dist="29997" dir="5400000" sy="-100000" algn="bl" rotWithShape="0"/>
              </a:effectLst>
            </a:endParaRPr>
          </a:p>
        </p:txBody>
      </p:sp>
      <p:sp>
        <p:nvSpPr>
          <p:cNvPr id="16" name="TextBox 15">
            <a:hlinkClick r:id="rId9" tooltip="Безплатен курс &quot;Разработка на софтуер в Cloud среда&quot; - AppEngine, AWS, Azure"/>
          </p:cNvPr>
          <p:cNvSpPr txBox="1"/>
          <p:nvPr userDrawn="1"/>
        </p:nvSpPr>
        <p:spPr>
          <a:xfrm rot="12627025" flipH="1">
            <a:off x="2910497" y="4405707"/>
            <a:ext cx="386488" cy="64633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sz="3600" dirty="0" smtClean="0">
                <a:solidFill>
                  <a:schemeClr val="tx2">
                    <a:lumMod val="40000"/>
                    <a:lumOff val="60000"/>
                  </a:schemeClr>
                </a:solidFill>
                <a:effectLst>
                  <a:reflection blurRad="6350" stA="55000" endA="300" endPos="45500" dir="5400000" sy="-100000" algn="bl" rotWithShape="0"/>
                </a:effectLst>
              </a:rPr>
              <a:t>?</a:t>
            </a:r>
            <a:endParaRPr lang="en-US" sz="3600" dirty="0">
              <a:solidFill>
                <a:schemeClr val="tx2">
                  <a:lumMod val="40000"/>
                  <a:lumOff val="60000"/>
                </a:schemeClr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17" name="TextBox 16">
            <a:hlinkClick r:id="rId10" tooltip="BG Coder - онлайн състезателна система - тренировки за състезания по програмиране - online judge"/>
          </p:cNvPr>
          <p:cNvSpPr txBox="1"/>
          <p:nvPr userDrawn="1"/>
        </p:nvSpPr>
        <p:spPr>
          <a:xfrm rot="1186146" flipH="1">
            <a:off x="6185957" y="4125718"/>
            <a:ext cx="499379" cy="110799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69850" h="69850" prst="divot"/>
            </a:sp3d>
          </a:bodyPr>
          <a:lstStyle/>
          <a:p>
            <a:r>
              <a:rPr lang="en-US" sz="6600" dirty="0" smtClean="0">
                <a:solidFill>
                  <a:srgbClr val="9966FF"/>
                </a:solidFill>
                <a:effectLst>
                  <a:reflection blurRad="6350" stA="55000" endA="300" endPos="45500" dir="5400000" sy="-100000" algn="bl" rotWithShape="0"/>
                </a:effectLst>
              </a:rPr>
              <a:t>?</a:t>
            </a:r>
            <a:endParaRPr lang="en-US" sz="6600" dirty="0">
              <a:solidFill>
                <a:srgbClr val="9966FF"/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18" name="TextBox 17">
            <a:hlinkClick r:id="rId11" tooltip="Светлин Наков - курсове и уроци по програмиране, уеб дизайн, книги, обучения - безплатно"/>
          </p:cNvPr>
          <p:cNvSpPr txBox="1"/>
          <p:nvPr userDrawn="1"/>
        </p:nvSpPr>
        <p:spPr>
          <a:xfrm rot="19460650" flipH="1">
            <a:off x="3150206" y="1979501"/>
            <a:ext cx="489197" cy="769441"/>
          </a:xfrm>
          <a:prstGeom prst="rect">
            <a:avLst/>
          </a:prstGeom>
          <a:noFill/>
        </p:spPr>
        <p:txBody>
          <a:bodyPr wrap="square" rtlCol="0">
            <a:prstTxWarp prst="textInflate">
              <a:avLst/>
            </a:prstTxWarp>
            <a:spAutoFit/>
            <a:scene3d>
              <a:camera prst="perspectiveRelaxedModerately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sz="4400" dirty="0" smtClean="0">
                <a:solidFill>
                  <a:srgbClr val="FF6699"/>
                </a:solidFill>
                <a:effectLst>
                  <a:reflection blurRad="6350" stA="55000" endA="300" endPos="45500" dir="5400000" sy="-100000" algn="bl" rotWithShape="0"/>
                </a:effectLst>
              </a:rPr>
              <a:t>?</a:t>
            </a:r>
            <a:endParaRPr lang="en-US" sz="4400" dirty="0">
              <a:solidFill>
                <a:srgbClr val="FF6699"/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19" name="TextBox 18">
            <a:hlinkClick r:id="rId12" tooltip="Безплатен курс &quot;Качествен програмен код&quot;"/>
          </p:cNvPr>
          <p:cNvSpPr txBox="1"/>
          <p:nvPr userDrawn="1"/>
        </p:nvSpPr>
        <p:spPr>
          <a:xfrm rot="18277140" flipH="1">
            <a:off x="405234" y="3272336"/>
            <a:ext cx="413607" cy="64633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sz="3600" dirty="0" smtClean="0">
                <a:solidFill>
                  <a:schemeClr val="tx2">
                    <a:lumMod val="40000"/>
                    <a:lumOff val="60000"/>
                  </a:schemeClr>
                </a:solidFill>
                <a:effectLst>
                  <a:reflection blurRad="6350" stA="55000" endA="300" endPos="45500" dir="5400000" sy="-100000" algn="bl" rotWithShape="0"/>
                </a:effectLst>
              </a:rPr>
              <a:t>?</a:t>
            </a:r>
            <a:endParaRPr lang="en-US" sz="3600" dirty="0">
              <a:solidFill>
                <a:schemeClr val="tx2">
                  <a:lumMod val="40000"/>
                  <a:lumOff val="60000"/>
                </a:schemeClr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20" name="TextBox 19">
            <a:hlinkClick r:id="rId13" tooltip="Алго академия - Академия по алгоритмично програмиране - безплатни уроци по алгоритми и структури от данни, състезателно програмиране и състезания"/>
          </p:cNvPr>
          <p:cNvSpPr txBox="1"/>
          <p:nvPr userDrawn="1"/>
        </p:nvSpPr>
        <p:spPr>
          <a:xfrm rot="18695734" flipH="1">
            <a:off x="3127407" y="5396299"/>
            <a:ext cx="54810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?</a:t>
            </a:r>
            <a:endParaRPr lang="en-US" sz="6000" b="1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sp>
        <p:nvSpPr>
          <p:cNvPr id="21" name="TextBox 20">
            <a:hlinkClick r:id="rId14" tooltip="Безплатен ASP.NET курс - уеб програмиране, бази данни, C#, .NET, ASP.NET"/>
          </p:cNvPr>
          <p:cNvSpPr txBox="1"/>
          <p:nvPr userDrawn="1"/>
        </p:nvSpPr>
        <p:spPr>
          <a:xfrm rot="10134629" flipH="1">
            <a:off x="6730680" y="5522529"/>
            <a:ext cx="444390" cy="70788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sz="4000" dirty="0" smtClean="0"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reflection blurRad="6350" stA="55000" endA="300" endPos="45500" dir="5400000" sy="-100000" algn="bl" rotWithShape="0"/>
                </a:effectLst>
              </a:rPr>
              <a:t>?</a:t>
            </a:r>
            <a:endParaRPr lang="en-US" sz="4000" dirty="0">
              <a:solidFill>
                <a:schemeClr val="accent4">
                  <a:lumMod val="60000"/>
                  <a:lumOff val="40000"/>
                </a:schemeClr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22" name="TextBox 21">
            <a:hlinkClick r:id="rId15" tooltip="Софтуерна академия на Телерик - безплатни курсове и уроци по програмиране"/>
          </p:cNvPr>
          <p:cNvSpPr txBox="1"/>
          <p:nvPr userDrawn="1"/>
        </p:nvSpPr>
        <p:spPr>
          <a:xfrm rot="12126217" flipH="1">
            <a:off x="559977" y="930479"/>
            <a:ext cx="387894" cy="70788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r>
              <a:rPr lang="en-US" sz="4000" b="1" spc="150" dirty="0" smtClean="0">
                <a:ln w="11430"/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</a:rPr>
              <a:t>?</a:t>
            </a:r>
            <a:endParaRPr lang="en-US" sz="4000" b="1" spc="150" dirty="0">
              <a:ln w="11430"/>
              <a:solidFill>
                <a:schemeClr val="accent4">
                  <a:lumMod val="60000"/>
                  <a:lumOff val="40000"/>
                </a:schemeClr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</a:endParaRPr>
          </a:p>
        </p:txBody>
      </p:sp>
      <p:sp>
        <p:nvSpPr>
          <p:cNvPr id="23" name="TextBox 22">
            <a:hlinkClick r:id="rId16" tooltip="Безплатен курс &quot;Разработка на мобилни приложения&quot; - iPhone, Android, Windows Phone, PhoneGap, HTML5, jQuery, AJAX"/>
          </p:cNvPr>
          <p:cNvSpPr txBox="1"/>
          <p:nvPr userDrawn="1"/>
        </p:nvSpPr>
        <p:spPr>
          <a:xfrm rot="20840689" flipH="1">
            <a:off x="8186733" y="5517701"/>
            <a:ext cx="3574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 smtClean="0">
                <a:ln w="19050">
                  <a:solidFill>
                    <a:schemeClr val="accent4">
                      <a:lumMod val="75000"/>
                      <a:alpha val="50000"/>
                    </a:schemeClr>
                  </a:solidFill>
                  <a:prstDash val="solid"/>
                  <a:miter lim="800000"/>
                </a:ln>
                <a:solidFill>
                  <a:schemeClr val="accent4">
                    <a:lumMod val="20000"/>
                    <a:lumOff val="80000"/>
                    <a:alpha val="25000"/>
                  </a:schemeClr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?</a:t>
            </a:r>
            <a:endParaRPr lang="en-US" sz="4000" b="1" dirty="0">
              <a:ln w="19050">
                <a:solidFill>
                  <a:schemeClr val="accent4">
                    <a:lumMod val="75000"/>
                    <a:alpha val="50000"/>
                  </a:schemeClr>
                </a:solidFill>
                <a:prstDash val="solid"/>
                <a:miter lim="800000"/>
              </a:ln>
              <a:solidFill>
                <a:schemeClr val="accent4">
                  <a:lumMod val="20000"/>
                  <a:lumOff val="80000"/>
                  <a:alpha val="25000"/>
                </a:schemeClr>
              </a:solidFill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sp>
        <p:nvSpPr>
          <p:cNvPr id="24" name="TextBox 23">
            <a:hlinkClick r:id="rId17" tooltip="Free C# Programming Book by Svetlin Nakov - безплатна C# книга от Светлин Наков, книга C#, книга Java, безплатна книга"/>
          </p:cNvPr>
          <p:cNvSpPr txBox="1"/>
          <p:nvPr userDrawn="1"/>
        </p:nvSpPr>
        <p:spPr>
          <a:xfrm rot="15426793" flipH="1">
            <a:off x="1145826" y="4072253"/>
            <a:ext cx="369652" cy="76944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sz="4400" dirty="0" smtClean="0">
                <a:ln>
                  <a:solidFill>
                    <a:schemeClr val="accent2">
                      <a:lumMod val="40000"/>
                      <a:lumOff val="60000"/>
                    </a:schemeClr>
                  </a:solidFill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>
                  <a:reflection blurRad="6350" stA="55000" endA="300" endPos="45500" dir="5400000" sy="-100000" algn="bl" rotWithShape="0"/>
                </a:effectLst>
              </a:rPr>
              <a:t>?</a:t>
            </a:r>
            <a:endParaRPr lang="en-US" sz="4400" dirty="0">
              <a:ln>
                <a:solidFill>
                  <a:schemeClr val="accent2">
                    <a:lumMod val="40000"/>
                    <a:lumOff val="60000"/>
                  </a:schemeClr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25" name="TextBox 24">
            <a:hlinkClick r:id="rId18" tooltip="Дончо Минков - сайт за програмиране"/>
          </p:cNvPr>
          <p:cNvSpPr txBox="1"/>
          <p:nvPr userDrawn="1"/>
        </p:nvSpPr>
        <p:spPr>
          <a:xfrm rot="11071760" flipH="1">
            <a:off x="6518175" y="1140358"/>
            <a:ext cx="345408" cy="5232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sz="2800" dirty="0" smtClean="0">
                <a:ln>
                  <a:solidFill>
                    <a:schemeClr val="tx1">
                      <a:lumMod val="75000"/>
                    </a:schemeClr>
                  </a:solidFill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reflection blurRad="6350" stA="55000" endA="300" endPos="45500" dir="5400000" sy="-100000" algn="bl" rotWithShape="0"/>
                </a:effectLst>
              </a:rPr>
              <a:t>?</a:t>
            </a:r>
            <a:endParaRPr lang="en-US" sz="2800" dirty="0">
              <a:ln>
                <a:solidFill>
                  <a:schemeClr val="tx1">
                    <a:lumMod val="75000"/>
                  </a:schemeClr>
                </a:solidFill>
              </a:ln>
              <a:solidFill>
                <a:schemeClr val="accent4">
                  <a:lumMod val="60000"/>
                  <a:lumOff val="40000"/>
                </a:schemeClr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26" name="TextBox 25">
            <a:hlinkClick r:id="rId19" tooltip="Николай Костов - блог за програмиране"/>
          </p:cNvPr>
          <p:cNvSpPr txBox="1"/>
          <p:nvPr userDrawn="1"/>
        </p:nvSpPr>
        <p:spPr>
          <a:xfrm rot="300526" flipH="1">
            <a:off x="3902297" y="1278821"/>
            <a:ext cx="345408" cy="5232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sz="2800" b="1" dirty="0" smtClean="0">
                <a:ln w="31550" cmpd="sng">
                  <a:solidFill>
                    <a:schemeClr val="tx2">
                      <a:lumMod val="20000"/>
                      <a:lumOff val="80000"/>
                    </a:schemeClr>
                  </a:solidFill>
                  <a:prstDash val="solid"/>
                </a:ln>
                <a:solidFill>
                  <a:schemeClr val="tx1">
                    <a:lumMod val="20000"/>
                    <a:lumOff val="80000"/>
                  </a:schemeClr>
                </a:solidFill>
                <a:effectLst>
                  <a:outerShdw blurRad="50800" dist="40000" dir="5400000" algn="tl" rotWithShape="0">
                    <a:srgbClr val="000000">
                      <a:shade val="5000"/>
                      <a:satMod val="120000"/>
                      <a:alpha val="33000"/>
                    </a:srgbClr>
                  </a:outerShdw>
                </a:effectLst>
              </a:rPr>
              <a:t>?</a:t>
            </a:r>
            <a:endParaRPr lang="en-US" sz="2800" dirty="0">
              <a:ln w="31550" cmpd="sng">
                <a:solidFill>
                  <a:schemeClr val="tx2">
                    <a:lumMod val="20000"/>
                    <a:lumOff val="80000"/>
                  </a:schemeClr>
                </a:solidFill>
                <a:prstDash val="solid"/>
              </a:ln>
              <a:solidFill>
                <a:schemeClr val="tx1">
                  <a:lumMod val="20000"/>
                  <a:lumOff val="80000"/>
                </a:schemeClr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27" name="TextBox 26">
            <a:hlinkClick r:id="rId20" tooltip="C# курс - програмиране, уроци, видео, лекции от Наков"/>
          </p:cNvPr>
          <p:cNvSpPr txBox="1"/>
          <p:nvPr userDrawn="1"/>
        </p:nvSpPr>
        <p:spPr>
          <a:xfrm rot="2086872" flipH="1">
            <a:off x="8330354" y="1359227"/>
            <a:ext cx="444390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sz="3200" dirty="0" smtClean="0">
                <a:ln>
                  <a:solidFill>
                    <a:schemeClr val="accent1">
                      <a:lumMod val="40000"/>
                      <a:lumOff val="60000"/>
                    </a:schemeClr>
                  </a:solidFill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reflection blurRad="6350" stA="55000" endA="300" endPos="45500" dir="5400000" sy="-100000" algn="bl" rotWithShape="0"/>
                </a:effectLst>
              </a:rPr>
              <a:t>?</a:t>
            </a:r>
            <a:endParaRPr lang="en-US" sz="3200" dirty="0">
              <a:ln>
                <a:solidFill>
                  <a:schemeClr val="accent1">
                    <a:lumMod val="40000"/>
                    <a:lumOff val="60000"/>
                  </a:schemeClr>
                </a:solidFill>
              </a:ln>
              <a:solidFill>
                <a:schemeClr val="accent4">
                  <a:lumMod val="60000"/>
                  <a:lumOff val="40000"/>
                </a:schemeClr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28" name="Rectangle 27"/>
          <p:cNvSpPr/>
          <p:nvPr userDrawn="1"/>
        </p:nvSpPr>
        <p:spPr>
          <a:xfrm>
            <a:off x="1828800" y="2903716"/>
            <a:ext cx="5486400" cy="1261884"/>
          </a:xfrm>
          <a:prstGeom prst="rect">
            <a:avLst/>
          </a:prstGeom>
        </p:spPr>
        <p:txBody>
          <a:bodyPr wrap="none" lIns="0" tIns="0" rIns="0" bIns="0" anchor="ctr" anchorCtr="0">
            <a:noAutofit/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pPr marL="0" lvl="0" indent="0" algn="ctr" ea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None/>
            </a:pPr>
            <a:r>
              <a:rPr lang="en-US" sz="7600" b="1" spc="150" noProof="0" dirty="0" smtClean="0">
                <a:ln w="11430"/>
                <a:solidFill>
                  <a:schemeClr val="tx1">
                    <a:lumMod val="40000"/>
                    <a:lumOff val="60000"/>
                  </a:schemeClr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rPr>
              <a:t>Questions?</a:t>
            </a:r>
            <a:endParaRPr lang="en-US" sz="7600" b="1" spc="150" dirty="0">
              <a:ln w="11430"/>
              <a:solidFill>
                <a:schemeClr val="tx1">
                  <a:lumMod val="40000"/>
                  <a:lumOff val="60000"/>
                </a:schemeClr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  <a:latin typeface="+mn-lt"/>
            </a:endParaRPr>
          </a:p>
        </p:txBody>
      </p:sp>
      <p:sp>
        <p:nvSpPr>
          <p:cNvPr id="29" name="Text Placeholder 29"/>
          <p:cNvSpPr>
            <a:spLocks noGrp="1"/>
          </p:cNvSpPr>
          <p:nvPr>
            <p:ph type="body" sz="quarter" idx="10" hasCustomPrompt="1"/>
          </p:nvPr>
        </p:nvSpPr>
        <p:spPr>
          <a:xfrm>
            <a:off x="6807131" y="6400800"/>
            <a:ext cx="2218556" cy="369332"/>
          </a:xfrm>
          <a:prstGeom prst="rect">
            <a:avLst/>
          </a:prstGeom>
        </p:spPr>
        <p:txBody>
          <a:bodyPr wrap="none">
            <a:spAutoFit/>
          </a:bodyPr>
          <a:lstStyle>
            <a:lvl1pPr marL="0" indent="0" algn="r">
              <a:buNone/>
              <a:defRPr sz="1800"/>
            </a:lvl1pPr>
          </a:lstStyle>
          <a:p>
            <a:pPr lvl="0"/>
            <a:r>
              <a:rPr lang="en-US" dirty="0" smtClean="0"/>
              <a:t>Course web site URL</a:t>
            </a:r>
            <a:endParaRPr lang="en-US" dirty="0"/>
          </a:p>
        </p:txBody>
      </p:sp>
      <p:sp>
        <p:nvSpPr>
          <p:cNvPr id="10" name="TextBox 9">
            <a:hlinkClick r:id="rId3" tooltip="Курсове и уроци по програмиране, уеб дизайн, разработка на софтуер и информационни технологии - лекции, видео уроци, обучения - безплатно"/>
          </p:cNvPr>
          <p:cNvSpPr txBox="1"/>
          <p:nvPr userDrawn="1"/>
        </p:nvSpPr>
        <p:spPr>
          <a:xfrm rot="2456848" flipH="1">
            <a:off x="968763" y="4970087"/>
            <a:ext cx="859648" cy="156966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pPr>
              <a:lnSpc>
                <a:spcPct val="80000"/>
              </a:lnSpc>
            </a:pPr>
            <a:r>
              <a:rPr lang="en-US" sz="12000" b="1" dirty="0" smtClean="0">
                <a:solidFill>
                  <a:srgbClr val="FFBF8B"/>
                </a:solidFill>
                <a:effectLst>
                  <a:reflection blurRad="6350" stA="55000" endA="300" endPos="45500" dir="5400000" sy="-100000" algn="bl" rotWithShape="0"/>
                </a:effectLst>
                <a:latin typeface="Cambria" pitchFamily="18" charset="0"/>
              </a:rPr>
              <a:t>?</a:t>
            </a:r>
            <a:endParaRPr lang="en-US" sz="12000" b="1" dirty="0">
              <a:solidFill>
                <a:srgbClr val="FFBF8B"/>
              </a:solidFill>
              <a:effectLst>
                <a:reflection blurRad="6350" stA="55000" endA="300" endPos="45500" dir="5400000" sy="-100000" algn="bl" rotWithShape="0"/>
              </a:effectLst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11" Type="http://schemas.microsoft.com/office/2007/relationships/hdphoto" Target="../media/hdphoto1.wdp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4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3999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3"/>
          <p:cNvPicPr>
            <a:picLocks noChangeAspect="1" noChangeArrowheads="1"/>
          </p:cNvPicPr>
          <p:nvPr userDrawn="1"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63500"/>
            <a:ext cx="9144000" cy="5907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9" name="Picture 2"/>
          <p:cNvPicPr>
            <a:picLocks noChangeAspect="1" noChangeArrowheads="1"/>
          </p:cNvPicPr>
          <p:nvPr userDrawn="1"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247650"/>
            <a:ext cx="9144000" cy="48339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6" name="Picture 2"/>
          <p:cNvPicPr>
            <a:picLocks noChangeAspect="1" noChangeArrowheads="1"/>
          </p:cNvPicPr>
          <p:nvPr userDrawn="1"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152400" y="228600"/>
            <a:ext cx="1714500" cy="428625"/>
          </a:xfrm>
          <a:prstGeom prst="rect">
            <a:avLst/>
          </a:prstGeom>
          <a:noFill/>
          <a:effectLst>
            <a:outerShdw blurRad="127000" sx="101000" sy="101000" algn="ctr" rotWithShape="0">
              <a:schemeClr val="tx1">
                <a:lumMod val="20000"/>
                <a:lumOff val="80000"/>
                <a:alpha val="75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dk1" tx1="lt1" bg2="dk2" tx2="lt2" accent1="accent1" accent2="accent2" accent3="accent3" accent4="accent4" accent5="accent5" accent6="accent6" hlink="hlink" folHlink="folHlink"/>
  <p:sldLayoutIdLst>
    <p:sldLayoutId id="2147483701" r:id="rId1"/>
    <p:sldLayoutId id="2147483688" r:id="rId2"/>
    <p:sldLayoutId id="2147483704" r:id="rId3"/>
    <p:sldLayoutId id="2147483689" r:id="rId4"/>
    <p:sldLayoutId id="2147483703" r:id="rId5"/>
  </p:sldLayoutIdLst>
  <p:timing>
    <p:tnLst>
      <p:par>
        <p:cTn id="1" dur="indefinite" restart="never" nodeType="tmRoot"/>
      </p:par>
    </p:tnLst>
  </p:timing>
  <p:hf hdr="0" ftr="0" dt="0"/>
  <p:txStyles>
    <p:titleStyle>
      <a:lvl1pPr algn="r" rtl="0" eaLnBrk="0" fontAlgn="base" hangingPunct="0">
        <a:lnSpc>
          <a:spcPts val="4400"/>
        </a:lnSpc>
        <a:spcBef>
          <a:spcPct val="0"/>
        </a:spcBef>
        <a:spcAft>
          <a:spcPct val="0"/>
        </a:spcAft>
        <a:defRPr sz="4400" b="1" kern="1200" baseline="0">
          <a:ln w="500">
            <a:noFill/>
          </a:ln>
          <a:solidFill>
            <a:schemeClr val="tx2"/>
          </a:solidFill>
          <a:effectLst>
            <a:outerShdw blurRad="38100" dist="38100" dir="2700000" algn="tl">
              <a:srgbClr val="000000">
                <a:alpha val="43137"/>
              </a:srgbClr>
            </a:outerShdw>
            <a:reflection blurRad="6350" stA="55000" endA="300" endPos="45500" dir="5400000" sy="-100000" algn="bl" rotWithShape="0"/>
          </a:effectLst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orbel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orbel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orbel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orbel" pitchFamily="34" charset="0"/>
        </a:defRPr>
      </a:lvl5pPr>
      <a:lvl6pPr marL="457200" algn="r" rtl="0" fontAlgn="base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orbel" pitchFamily="34" charset="0"/>
        </a:defRPr>
      </a:lvl6pPr>
      <a:lvl7pPr marL="914400" algn="r" rtl="0" fontAlgn="base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orbel" pitchFamily="34" charset="0"/>
        </a:defRPr>
      </a:lvl7pPr>
      <a:lvl8pPr marL="1371600" algn="r" rtl="0" fontAlgn="base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orbel" pitchFamily="34" charset="0"/>
        </a:defRPr>
      </a:lvl8pPr>
      <a:lvl9pPr marL="1828800" algn="r" rtl="0" fontAlgn="base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orbel" pitchFamily="34" charset="0"/>
        </a:defRPr>
      </a:lvl9pPr>
    </p:titleStyle>
    <p:bodyStyle>
      <a:lvl1pPr marL="319088" indent="-319088" algn="l" rtl="0" eaLnBrk="0" fontAlgn="base" hangingPunct="0">
        <a:spcBef>
          <a:spcPct val="20000"/>
        </a:spcBef>
        <a:spcAft>
          <a:spcPct val="0"/>
        </a:spcAft>
        <a:buClr>
          <a:schemeClr val="accent5">
            <a:lumMod val="40000"/>
            <a:lumOff val="60000"/>
          </a:schemeClr>
        </a:buClr>
        <a:buSzPct val="70000"/>
        <a:buFont typeface="Wingdings 2" pitchFamily="18" charset="2"/>
        <a:buChar char=""/>
        <a:defRPr sz="3200" b="1" kern="1200">
          <a:solidFill>
            <a:schemeClr val="tx1">
              <a:lumMod val="20000"/>
              <a:lumOff val="80000"/>
            </a:schemeClr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n-lt"/>
          <a:ea typeface="+mn-ea"/>
          <a:cs typeface="+mn-cs"/>
        </a:defRPr>
      </a:lvl1pPr>
      <a:lvl2pPr marL="630238" indent="-273050" algn="l" rtl="0" eaLnBrk="0" fontAlgn="base" hangingPunct="0">
        <a:spcBef>
          <a:spcPct val="20000"/>
        </a:spcBef>
        <a:spcAft>
          <a:spcPct val="0"/>
        </a:spcAft>
        <a:buClr>
          <a:schemeClr val="accent2">
            <a:lumMod val="60000"/>
            <a:lumOff val="40000"/>
          </a:schemeClr>
        </a:buClr>
        <a:buFont typeface="Wingdings 2" pitchFamily="18" charset="2"/>
        <a:buChar char=""/>
        <a:defRPr sz="3000" b="1" kern="1200">
          <a:solidFill>
            <a:schemeClr val="tx1">
              <a:lumMod val="20000"/>
              <a:lumOff val="80000"/>
            </a:schemeClr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n-lt"/>
          <a:ea typeface="+mn-ea"/>
          <a:cs typeface="+mn-cs"/>
        </a:defRPr>
      </a:lvl2pPr>
      <a:lvl3pPr marL="922338" indent="-273050" algn="l" rtl="0" eaLnBrk="0" fontAlgn="base" hangingPunct="0">
        <a:spcBef>
          <a:spcPct val="20000"/>
        </a:spcBef>
        <a:spcAft>
          <a:spcPct val="0"/>
        </a:spcAft>
        <a:buClr>
          <a:schemeClr val="tx1">
            <a:lumMod val="50000"/>
          </a:schemeClr>
        </a:buClr>
        <a:buFont typeface="Wingdings 2" pitchFamily="18" charset="2"/>
        <a:buChar char=""/>
        <a:defRPr sz="2800" b="1" kern="1200">
          <a:solidFill>
            <a:schemeClr val="tx1">
              <a:lumMod val="20000"/>
              <a:lumOff val="80000"/>
            </a:schemeClr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n-lt"/>
          <a:ea typeface="+mn-ea"/>
          <a:cs typeface="+mn-cs"/>
        </a:defRPr>
      </a:lvl3pPr>
      <a:lvl4pPr marL="1187450" indent="-228600" algn="l" rtl="0" eaLnBrk="0" fontAlgn="base" hangingPunct="0">
        <a:spcBef>
          <a:spcPct val="20000"/>
        </a:spcBef>
        <a:spcAft>
          <a:spcPct val="0"/>
        </a:spcAft>
        <a:buClr>
          <a:srgbClr val="F8BD52"/>
        </a:buClr>
        <a:buFont typeface="Wingdings 2" pitchFamily="18" charset="2"/>
        <a:buChar char=""/>
        <a:defRPr sz="2600" b="1" kern="1200">
          <a:solidFill>
            <a:schemeClr val="tx1">
              <a:lumMod val="20000"/>
              <a:lumOff val="80000"/>
            </a:schemeClr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n-lt"/>
          <a:ea typeface="+mn-ea"/>
          <a:cs typeface="+mn-cs"/>
        </a:defRPr>
      </a:lvl4pPr>
      <a:lvl5pPr marL="1425575" indent="-228600" algn="l" rtl="0" eaLnBrk="0" fontAlgn="base" hangingPunct="0">
        <a:spcBef>
          <a:spcPct val="20000"/>
        </a:spcBef>
        <a:spcAft>
          <a:spcPct val="0"/>
        </a:spcAft>
        <a:buClr>
          <a:srgbClr val="46A6BD"/>
        </a:buClr>
        <a:buFont typeface="Wingdings 2" pitchFamily="18" charset="2"/>
        <a:buChar char=""/>
        <a:defRPr sz="2400" b="1" kern="1200">
          <a:solidFill>
            <a:schemeClr val="tx1">
              <a:lumMod val="20000"/>
              <a:lumOff val="80000"/>
            </a:schemeClr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n-lt"/>
          <a:ea typeface="+mn-ea"/>
          <a:cs typeface="+mn-cs"/>
        </a:defRPr>
      </a:lvl5pPr>
      <a:lvl6pPr marL="1673352" indent="-228600" algn="l" rtl="0" eaLnBrk="1" latinLnBrk="0" hangingPunct="1">
        <a:spcBef>
          <a:spcPct val="20000"/>
        </a:spcBef>
        <a:buClr>
          <a:schemeClr val="accent6"/>
        </a:buClr>
        <a:buFont typeface="Wingdings 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11096" indent="-228600" algn="l" rtl="0" eaLnBrk="1" latinLnBrk="0" hangingPunct="1">
        <a:spcBef>
          <a:spcPct val="20000"/>
        </a:spcBef>
        <a:buClr>
          <a:schemeClr val="tx2"/>
        </a:buClr>
        <a:buFont typeface="Wingdings 2"/>
        <a:buChar char="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121408" indent="-182880" algn="l" rtl="0" eaLnBrk="1" latinLnBrk="0" hangingPunct="1">
        <a:spcBef>
          <a:spcPct val="20000"/>
        </a:spcBef>
        <a:buClr>
          <a:schemeClr val="tx2"/>
        </a:buClr>
        <a:buFont typeface="Wingdings 2"/>
        <a:buChar char="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322576" indent="-182880" algn="l" rtl="0" eaLnBrk="1" latinLnBrk="0" hangingPunct="1">
        <a:spcBef>
          <a:spcPct val="20000"/>
        </a:spcBef>
        <a:buClr>
          <a:schemeClr val="tx2"/>
        </a:buClr>
        <a:buFont typeface="Wingdings 2"/>
        <a:buChar char="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kendoui.com/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hyperlink" Target="http://docs.kendoui.com/getting-started/using-kendo-with/aspnet-mvc/introduction#manually-add-kendo-ui-to-asp.net-mvc-applications" TargetMode="Externa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kendoui.com/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://schoolacademy.telerik.com/" TargetMode="Externa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hyperlink" Target="http://facebook.com/TelerikAcademy" TargetMode="External"/><Relationship Id="rId3" Type="http://schemas.openxmlformats.org/officeDocument/2006/relationships/hyperlink" Target="http://academy.telerik.com/" TargetMode="External"/><Relationship Id="rId7" Type="http://schemas.openxmlformats.org/officeDocument/2006/relationships/image" Target="../media/image18.png"/><Relationship Id="rId2" Type="http://schemas.openxmlformats.org/officeDocument/2006/relationships/hyperlink" Target="http://csharpfundamentals.telerik.com/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hyperlink" Target="http://forums.academy.telerik.com/" TargetMode="External"/><Relationship Id="rId10" Type="http://schemas.openxmlformats.org/officeDocument/2006/relationships/image" Target="../media/image20.png"/><Relationship Id="rId4" Type="http://schemas.openxmlformats.org/officeDocument/2006/relationships/hyperlink" Target="http://www.facebook.com/telerikacademy" TargetMode="External"/><Relationship Id="rId9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819400" y="2362200"/>
            <a:ext cx="5867400" cy="1524000"/>
          </a:xfrm>
        </p:spPr>
        <p:txBody>
          <a:bodyPr/>
          <a:lstStyle/>
          <a:p>
            <a:r>
              <a:rPr lang="en-US" dirty="0"/>
              <a:t>Kendo UI ASP.NET MVC Wrappers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533400" y="4800600"/>
            <a:ext cx="3352800" cy="533400"/>
          </a:xfrm>
        </p:spPr>
        <p:txBody>
          <a:bodyPr/>
          <a:lstStyle/>
          <a:p>
            <a:r>
              <a:rPr lang="en-US" dirty="0" smtClean="0"/>
              <a:t>Ivaylo </a:t>
            </a:r>
            <a:r>
              <a:rPr lang="en-US" dirty="0" err="1" smtClean="0"/>
              <a:t>Kenov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457200" y="5791200"/>
            <a:ext cx="3352800" cy="369332"/>
          </a:xfrm>
        </p:spPr>
        <p:txBody>
          <a:bodyPr/>
          <a:lstStyle/>
          <a:p>
            <a:r>
              <a:rPr lang="en-US" dirty="0"/>
              <a:t>Telerik Software Academy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457200" y="5339462"/>
            <a:ext cx="3352800" cy="446276"/>
          </a:xfrm>
        </p:spPr>
        <p:txBody>
          <a:bodyPr/>
          <a:lstStyle/>
          <a:p>
            <a:pPr marL="0"/>
            <a:r>
              <a:rPr lang="en-US" dirty="0" smtClean="0"/>
              <a:t>Technical Assistant</a:t>
            </a:r>
            <a:endParaRPr lang="en-US" dirty="0"/>
          </a:p>
        </p:txBody>
      </p:sp>
      <p:pic>
        <p:nvPicPr>
          <p:cNvPr id="9" name="Picture 2" descr="http://www.davidhayden.me/media/default/posts/ASP.NET-MVC-4-Bundling-and-Minification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797943"/>
            <a:ext cx="3951970" cy="133565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extLst/>
        </p:spPr>
      </p:pic>
      <p:pic>
        <p:nvPicPr>
          <p:cNvPr id="6146" name="Picture 2" descr="http://www.awdp.org/images/marketing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86580" y="4572000"/>
            <a:ext cx="2461820" cy="1981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872137" y="4572000"/>
            <a:ext cx="1816101" cy="1981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" name="Picture 2" descr="http://www.telerik.com/assets/img/home-page/slide-4-01.01.2013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218721"/>
            <a:ext cx="2164279" cy="208311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extLst/>
        </p:spPr>
      </p:pic>
    </p:spTree>
    <p:extLst>
      <p:ext uri="{BB962C8B-B14F-4D97-AF65-F5344CB8AC3E}">
        <p14:creationId xmlns:p14="http://schemas.microsoft.com/office/powerpoint/2010/main" val="14717997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Table </a:t>
            </a:r>
            <a:r>
              <a:rPr lang="en-US" smtClean="0"/>
              <a:t>of Contents</a:t>
            </a:r>
            <a:endParaRPr lang="bg-B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066800"/>
            <a:ext cx="8686800" cy="5791200"/>
          </a:xfrm>
        </p:spPr>
        <p:txBody>
          <a:bodyPr/>
          <a:lstStyle/>
          <a:p>
            <a:r>
              <a:rPr lang="en-US" dirty="0" smtClean="0"/>
              <a:t>Kendo UI Summary and Installation</a:t>
            </a:r>
          </a:p>
          <a:p>
            <a:r>
              <a:rPr lang="en-US" dirty="0" smtClean="0"/>
              <a:t>Kendo HTML Helpers</a:t>
            </a:r>
          </a:p>
          <a:p>
            <a:r>
              <a:rPr lang="en-US" dirty="0" smtClean="0"/>
              <a:t>Kendo Widgets</a:t>
            </a:r>
          </a:p>
          <a:p>
            <a:r>
              <a:rPr lang="en-US" dirty="0" smtClean="0"/>
              <a:t>Kendo </a:t>
            </a:r>
            <a:r>
              <a:rPr lang="en-US" dirty="0" smtClean="0"/>
              <a:t>Grid</a:t>
            </a:r>
          </a:p>
          <a:p>
            <a:r>
              <a:rPr lang="en-US" dirty="0" smtClean="0"/>
              <a:t>Kendo DataViz</a:t>
            </a:r>
          </a:p>
          <a:p>
            <a:r>
              <a:rPr lang="en-US" dirty="0" smtClean="0"/>
              <a:t>Live Application Build</a:t>
            </a:r>
            <a:endParaRPr lang="en-US" dirty="0" smtClean="0"/>
          </a:p>
          <a:p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2</a:t>
            </a:fld>
            <a:endParaRPr lang="en-US" dirty="0"/>
          </a:p>
        </p:txBody>
      </p:sp>
      <p:pic>
        <p:nvPicPr>
          <p:cNvPr id="5" name="Picture 5" descr="C:\Users\nkostov\Desktop\Untitl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rot="1502284">
            <a:off x="4618399" y="3439981"/>
            <a:ext cx="4482227" cy="3735189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428716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1066800"/>
            <a:ext cx="7924800" cy="685800"/>
          </a:xfrm>
        </p:spPr>
        <p:txBody>
          <a:bodyPr/>
          <a:lstStyle/>
          <a:p>
            <a:r>
              <a:rPr lang="en-US" dirty="0" smtClean="0"/>
              <a:t>Kendo UI</a:t>
            </a:r>
            <a:endParaRPr lang="en-US" dirty="0"/>
          </a:p>
        </p:txBody>
      </p:sp>
      <p:pic>
        <p:nvPicPr>
          <p:cNvPr id="5122" name="Picture 2" descr="http://www.telerik.com/assets/img/home-page/slide-4-01.01.2013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0" y="2362200"/>
            <a:ext cx="3510149" cy="337851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extLst/>
        </p:spPr>
      </p:pic>
      <p:sp>
        <p:nvSpPr>
          <p:cNvPr id="4" name="Subtitle 2"/>
          <p:cNvSpPr>
            <a:spLocks noGrp="1"/>
          </p:cNvSpPr>
          <p:nvPr>
            <p:ph type="subTitle" idx="1"/>
          </p:nvPr>
        </p:nvSpPr>
        <p:spPr>
          <a:xfrm>
            <a:off x="533400" y="1676400"/>
            <a:ext cx="7924800" cy="569120"/>
          </a:xfrm>
        </p:spPr>
        <p:txBody>
          <a:bodyPr/>
          <a:lstStyle/>
          <a:p>
            <a:r>
              <a:rPr lang="en-US" dirty="0" smtClean="0">
                <a:hlinkClick r:id="rId3"/>
              </a:rPr>
              <a:t>http://www.kendoui.com/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84243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Kendo UI?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Framework for building modern interactive web </a:t>
            </a:r>
            <a:r>
              <a:rPr lang="en-US" dirty="0" smtClean="0"/>
              <a:t>applications</a:t>
            </a:r>
          </a:p>
          <a:p>
            <a:r>
              <a:rPr lang="en-US" dirty="0"/>
              <a:t>Collection of script files and resources (styles, images, etc</a:t>
            </a:r>
            <a:r>
              <a:rPr lang="en-US" dirty="0" smtClean="0"/>
              <a:t>.)</a:t>
            </a:r>
          </a:p>
          <a:p>
            <a:r>
              <a:rPr lang="en-US" dirty="0" smtClean="0"/>
              <a:t>Leverages</a:t>
            </a:r>
            <a:endParaRPr lang="en-US" dirty="0"/>
          </a:p>
          <a:p>
            <a:pPr lvl="1"/>
            <a:r>
              <a:rPr lang="en-US" dirty="0" smtClean="0"/>
              <a:t>JavaScript</a:t>
            </a:r>
            <a:endParaRPr lang="en-US" dirty="0"/>
          </a:p>
          <a:p>
            <a:pPr lvl="1"/>
            <a:r>
              <a:rPr lang="en-US" dirty="0" smtClean="0"/>
              <a:t>HTML5</a:t>
            </a:r>
            <a:endParaRPr lang="en-US" dirty="0"/>
          </a:p>
          <a:p>
            <a:pPr lvl="1"/>
            <a:r>
              <a:rPr lang="en-US" dirty="0" smtClean="0"/>
              <a:t>CSS3</a:t>
            </a:r>
            <a:endParaRPr lang="en-US" dirty="0"/>
          </a:p>
          <a:p>
            <a:pPr lvl="1"/>
            <a:r>
              <a:rPr lang="en-US" dirty="0" err="1"/>
              <a:t>jQuery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  <p:pic>
        <p:nvPicPr>
          <p:cNvPr id="6146" name="Picture 2" descr="http://www.kendoui.com/Libraries/Banners/kendo-home-5th-banner.sflb.ashx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0494" y="2819400"/>
            <a:ext cx="4540506" cy="3352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837613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Does Kendo UI Provide?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Rich UI </a:t>
            </a:r>
            <a:r>
              <a:rPr lang="en-US" dirty="0" smtClean="0"/>
              <a:t>Widgets</a:t>
            </a:r>
          </a:p>
          <a:p>
            <a:pPr lvl="1"/>
            <a:r>
              <a:rPr lang="en-US" dirty="0"/>
              <a:t>HTML5 controls based on </a:t>
            </a:r>
            <a:r>
              <a:rPr lang="en-US" dirty="0" err="1"/>
              <a:t>jQuery</a:t>
            </a:r>
            <a:r>
              <a:rPr lang="en-US" dirty="0"/>
              <a:t> Core</a:t>
            </a:r>
          </a:p>
          <a:p>
            <a:pPr lvl="1"/>
            <a:r>
              <a:rPr lang="en-US" dirty="0"/>
              <a:t>3 categories of UI Widgets</a:t>
            </a:r>
          </a:p>
          <a:p>
            <a:pPr lvl="2"/>
            <a:r>
              <a:rPr lang="en-US" dirty="0" smtClean="0"/>
              <a:t>Web</a:t>
            </a:r>
          </a:p>
          <a:p>
            <a:pPr lvl="2"/>
            <a:r>
              <a:rPr lang="en-US" dirty="0" smtClean="0"/>
              <a:t>DataViz</a:t>
            </a:r>
          </a:p>
          <a:p>
            <a:pPr lvl="2"/>
            <a:r>
              <a:rPr lang="en-US" dirty="0" smtClean="0"/>
              <a:t>Mobile</a:t>
            </a:r>
          </a:p>
          <a:p>
            <a:r>
              <a:rPr lang="en-US" dirty="0" smtClean="0"/>
              <a:t>Client-side </a:t>
            </a:r>
            <a:r>
              <a:rPr lang="en-US" dirty="0" err="1" smtClean="0"/>
              <a:t>DataSource</a:t>
            </a:r>
            <a:endParaRPr lang="en-US" dirty="0"/>
          </a:p>
          <a:p>
            <a:pPr lvl="1"/>
            <a:r>
              <a:rPr lang="en-US" dirty="0"/>
              <a:t>Abstraction for working </a:t>
            </a:r>
            <a:r>
              <a:rPr lang="en-US" dirty="0" smtClean="0"/>
              <a:t>with </a:t>
            </a:r>
            <a:r>
              <a:rPr lang="en-US" dirty="0"/>
              <a:t>all types of data on the client side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  <p:pic>
        <p:nvPicPr>
          <p:cNvPr id="7170" name="Picture 2" descr="http://www.kendoui.com/Libraries/Banners/dataviz-home-image-q2.sflb.ashx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9200" y="2362200"/>
            <a:ext cx="3648075" cy="2276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848580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Does Kendo UI </a:t>
            </a:r>
            <a:r>
              <a:rPr lang="en-US" dirty="0" smtClean="0"/>
              <a:t>Provide?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MVVM Framework</a:t>
            </a:r>
            <a:endParaRPr lang="en-US" b="0" dirty="0"/>
          </a:p>
          <a:p>
            <a:pPr lvl="1"/>
            <a:r>
              <a:rPr lang="en-US" dirty="0"/>
              <a:t>Provides declarative binding and two-way data synchronization in your web </a:t>
            </a:r>
            <a:r>
              <a:rPr lang="en-US" dirty="0" smtClean="0"/>
              <a:t>application</a:t>
            </a:r>
          </a:p>
          <a:p>
            <a:r>
              <a:rPr lang="en-US" dirty="0" smtClean="0"/>
              <a:t>Animation </a:t>
            </a:r>
            <a:r>
              <a:rPr lang="en-US" dirty="0"/>
              <a:t>and Drag &amp; </a:t>
            </a:r>
            <a:r>
              <a:rPr lang="en-US" dirty="0" smtClean="0"/>
              <a:t>Drop</a:t>
            </a:r>
          </a:p>
          <a:p>
            <a:r>
              <a:rPr lang="en-US" dirty="0" smtClean="0"/>
              <a:t>Templating</a:t>
            </a:r>
            <a:endParaRPr lang="en-US" dirty="0"/>
          </a:p>
          <a:p>
            <a:r>
              <a:rPr lang="en-US" dirty="0" smtClean="0"/>
              <a:t>Validation </a:t>
            </a:r>
            <a:r>
              <a:rPr lang="en-US" dirty="0"/>
              <a:t>Framework </a:t>
            </a:r>
            <a:endParaRPr lang="en-US" b="0" dirty="0"/>
          </a:p>
          <a:p>
            <a:r>
              <a:rPr lang="en-US" dirty="0" smtClean="0"/>
              <a:t>Server wrappers</a:t>
            </a:r>
          </a:p>
          <a:p>
            <a:pPr lvl="1"/>
            <a:r>
              <a:rPr lang="en-US" dirty="0" smtClean="0"/>
              <a:t>ASP.NET MVC</a:t>
            </a:r>
          </a:p>
          <a:p>
            <a:pPr lvl="1"/>
            <a:r>
              <a:rPr lang="en-US" dirty="0" smtClean="0"/>
              <a:t>Java and PHP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  <p:pic>
        <p:nvPicPr>
          <p:cNvPr id="8194" name="Picture 2" descr="http://www.kendoui.com/Libraries/Banners/q3-2012.sflb.ashx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400" y="3581400"/>
            <a:ext cx="3438525" cy="26860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292195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Include Kendo UI in Project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066800"/>
            <a:ext cx="8686800" cy="5486400"/>
          </a:xfrm>
        </p:spPr>
        <p:txBody>
          <a:bodyPr/>
          <a:lstStyle/>
          <a:p>
            <a:r>
              <a:rPr lang="en-US" dirty="0" smtClean="0"/>
              <a:t>Download </a:t>
            </a:r>
            <a:r>
              <a:rPr lang="en-US" dirty="0" smtClean="0"/>
              <a:t>Kendo </a:t>
            </a:r>
            <a:r>
              <a:rPr lang="en-US" dirty="0"/>
              <a:t>UI Complete for </a:t>
            </a:r>
            <a:r>
              <a:rPr lang="en-US" dirty="0" smtClean="0"/>
              <a:t>MVC</a:t>
            </a:r>
            <a:endParaRPr lang="en-US" dirty="0"/>
          </a:p>
          <a:p>
            <a:r>
              <a:rPr lang="en-US" dirty="0" smtClean="0"/>
              <a:t>Copy and </a:t>
            </a:r>
            <a:r>
              <a:rPr lang="en-US" dirty="0"/>
              <a:t>reference </a:t>
            </a:r>
            <a:r>
              <a:rPr lang="en-US" dirty="0" smtClean="0"/>
              <a:t>Kendo.Mvc.dll</a:t>
            </a:r>
          </a:p>
          <a:p>
            <a:pPr lvl="1"/>
            <a:r>
              <a:rPr lang="en-US" sz="2800" dirty="0" smtClean="0"/>
              <a:t>Located in: </a:t>
            </a:r>
            <a:r>
              <a:rPr lang="en-US" sz="2800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...\</a:t>
            </a:r>
            <a:r>
              <a:rPr lang="en-US" sz="2800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wrappers\</a:t>
            </a:r>
            <a:r>
              <a:rPr lang="en-US" sz="2800" dirty="0" err="1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aspnetmvc</a:t>
            </a:r>
            <a:r>
              <a:rPr lang="en-US" sz="2800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\Binaries\Mvc3</a:t>
            </a:r>
          </a:p>
          <a:p>
            <a:r>
              <a:rPr lang="en-US" dirty="0" smtClean="0"/>
              <a:t>Copy the provided version of </a:t>
            </a:r>
            <a:r>
              <a:rPr lang="en-US" dirty="0" err="1" smtClean="0"/>
              <a:t>jQuery</a:t>
            </a:r>
            <a:endParaRPr lang="en-US" dirty="0" smtClean="0">
              <a:solidFill>
                <a:schemeClr val="accent6">
                  <a:lumMod val="20000"/>
                  <a:lumOff val="80000"/>
                </a:schemeClr>
              </a:solidFill>
            </a:endParaRPr>
          </a:p>
          <a:p>
            <a:r>
              <a:rPr lang="en-US" dirty="0" smtClean="0"/>
              <a:t>Copy JavaScript files into </a:t>
            </a:r>
            <a:r>
              <a:rPr lang="en-US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~\Scripts\Kendo</a:t>
            </a:r>
            <a:endParaRPr lang="en-US" dirty="0" smtClean="0">
              <a:solidFill>
                <a:schemeClr val="accent6">
                  <a:lumMod val="20000"/>
                  <a:lumOff val="80000"/>
                </a:schemeClr>
              </a:solidFill>
            </a:endParaRPr>
          </a:p>
          <a:p>
            <a:pPr lvl="1"/>
            <a:r>
              <a:rPr lang="en-US" sz="2800" dirty="0" err="1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js</a:t>
            </a:r>
            <a:r>
              <a:rPr lang="en-US" sz="2800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\kendo.all.min.js</a:t>
            </a:r>
            <a:r>
              <a:rPr lang="en-US" sz="2800" dirty="0" smtClean="0"/>
              <a:t> </a:t>
            </a:r>
            <a:r>
              <a:rPr lang="en-US" sz="2800" dirty="0"/>
              <a:t>and </a:t>
            </a:r>
            <a:r>
              <a:rPr lang="en-US" sz="2800" dirty="0" err="1">
                <a:solidFill>
                  <a:schemeClr val="accent6">
                    <a:lumMod val="20000"/>
                    <a:lumOff val="80000"/>
                  </a:schemeClr>
                </a:solidFill>
              </a:rPr>
              <a:t>js</a:t>
            </a:r>
            <a:r>
              <a:rPr lang="en-US" sz="28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\kendo.aspnetmvc.min.js</a:t>
            </a:r>
            <a:endParaRPr lang="en-US" sz="2800" dirty="0" smtClean="0">
              <a:solidFill>
                <a:schemeClr val="accent6">
                  <a:lumMod val="20000"/>
                  <a:lumOff val="80000"/>
                </a:schemeClr>
              </a:solidFill>
            </a:endParaRPr>
          </a:p>
          <a:p>
            <a:r>
              <a:rPr lang="en-US" dirty="0" smtClean="0"/>
              <a:t>Copy CSS files and images into </a:t>
            </a:r>
            <a:r>
              <a:rPr lang="en-US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~\Content</a:t>
            </a:r>
            <a:endParaRPr lang="en-US" dirty="0" smtClean="0">
              <a:solidFill>
                <a:schemeClr val="accent6">
                  <a:lumMod val="20000"/>
                  <a:lumOff val="80000"/>
                </a:schemeClr>
              </a:solidFill>
            </a:endParaRPr>
          </a:p>
          <a:p>
            <a:pPr lvl="1"/>
            <a:r>
              <a:rPr lang="en-US" sz="2800" dirty="0" smtClean="0"/>
              <a:t>All from </a:t>
            </a:r>
            <a:r>
              <a:rPr lang="en-US" sz="2800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…\styles</a:t>
            </a:r>
            <a:r>
              <a:rPr lang="en-US" sz="2800" dirty="0" smtClean="0"/>
              <a:t> to </a:t>
            </a:r>
            <a:r>
              <a:rPr lang="en-US" sz="2800" dirty="0" err="1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ourProject</a:t>
            </a:r>
            <a:r>
              <a:rPr lang="en-US" sz="2800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\Styles\Kendo</a:t>
            </a:r>
            <a:endParaRPr lang="en-US" sz="2800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44859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Include </a:t>
            </a:r>
            <a:r>
              <a:rPr lang="en-US" dirty="0" smtClean="0"/>
              <a:t>Kendo UI </a:t>
            </a:r>
            <a:r>
              <a:rPr lang="en-US" dirty="0"/>
              <a:t>in </a:t>
            </a:r>
            <a:r>
              <a:rPr lang="en-US" dirty="0" smtClean="0"/>
              <a:t>Project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798968"/>
            <a:ext cx="8686800" cy="5791200"/>
          </a:xfrm>
        </p:spPr>
        <p:txBody>
          <a:bodyPr/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lang="en-US" dirty="0" smtClean="0"/>
              <a:t>Create bundles for </a:t>
            </a:r>
            <a:r>
              <a:rPr lang="en-US" dirty="0" err="1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jQuery</a:t>
            </a:r>
            <a:r>
              <a:rPr lang="en-US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 </a:t>
            </a:r>
            <a:r>
              <a:rPr lang="en-US" dirty="0" smtClean="0"/>
              <a:t>and </a:t>
            </a:r>
            <a:r>
              <a:rPr lang="en-US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Kendo</a:t>
            </a:r>
          </a:p>
          <a:p>
            <a:pPr lvl="1">
              <a:spcBef>
                <a:spcPts val="400"/>
              </a:spcBef>
              <a:spcAft>
                <a:spcPts val="400"/>
              </a:spcAft>
            </a:pPr>
            <a:endParaRPr lang="en-US" sz="2800" dirty="0"/>
          </a:p>
          <a:p>
            <a:pPr lvl="1">
              <a:spcBef>
                <a:spcPts val="400"/>
              </a:spcBef>
              <a:spcAft>
                <a:spcPts val="400"/>
              </a:spcAft>
            </a:pPr>
            <a:endParaRPr lang="en-US" sz="2800" dirty="0"/>
          </a:p>
          <a:p>
            <a:pPr>
              <a:spcBef>
                <a:spcPts val="400"/>
              </a:spcBef>
              <a:spcAft>
                <a:spcPts val="400"/>
              </a:spcAft>
            </a:pPr>
            <a:endParaRPr lang="en-US" sz="2800" dirty="0"/>
          </a:p>
          <a:p>
            <a:pPr>
              <a:spcBef>
                <a:spcPts val="400"/>
              </a:spcBef>
              <a:spcAft>
                <a:spcPts val="400"/>
              </a:spcAft>
            </a:pPr>
            <a:endParaRPr lang="en-US" sz="2800" dirty="0"/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lang="en-US" sz="2800" dirty="0" smtClean="0"/>
              <a:t>Create bundles for CSS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endParaRPr lang="en-US" sz="2800" dirty="0"/>
          </a:p>
          <a:p>
            <a:pPr>
              <a:spcBef>
                <a:spcPts val="400"/>
              </a:spcBef>
              <a:spcAft>
                <a:spcPts val="400"/>
              </a:spcAft>
            </a:pPr>
            <a:endParaRPr lang="en-US" sz="2800" dirty="0" smtClean="0"/>
          </a:p>
          <a:p>
            <a:pPr>
              <a:spcBef>
                <a:spcPts val="400"/>
              </a:spcBef>
              <a:spcAft>
                <a:spcPts val="400"/>
              </a:spcAft>
            </a:pPr>
            <a:endParaRPr lang="en-US" sz="2800" dirty="0" smtClean="0"/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lang="en-US" sz="2800" dirty="0" smtClean="0"/>
              <a:t>Clear the ignore list for the bundles</a:t>
            </a:r>
            <a:endParaRPr lang="en-US" sz="2800" dirty="0"/>
          </a:p>
          <a:p>
            <a:pPr>
              <a:spcBef>
                <a:spcPts val="300"/>
              </a:spcBef>
              <a:spcAft>
                <a:spcPts val="300"/>
              </a:spcAft>
            </a:pP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8</a:t>
            </a:fld>
            <a:endParaRPr lang="en-US" dirty="0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493059" y="1344706"/>
            <a:ext cx="7669306" cy="2246769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500" kern="1200">
                <a:solidFill>
                  <a:srgbClr val="EBFFC2"/>
                </a:solidFill>
                <a:latin typeface="Corbel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500" kern="1200">
                <a:solidFill>
                  <a:srgbClr val="EBFFC2"/>
                </a:solidFill>
                <a:latin typeface="Corbel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500" kern="1200">
                <a:solidFill>
                  <a:srgbClr val="EBFFC2"/>
                </a:solidFill>
                <a:latin typeface="Corbel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500" kern="1200">
                <a:solidFill>
                  <a:srgbClr val="EBFFC2"/>
                </a:solidFill>
                <a:latin typeface="Corbel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500" kern="1200">
                <a:solidFill>
                  <a:srgbClr val="EBFFC2"/>
                </a:solidFill>
                <a:latin typeface="Corbel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500" kern="1200">
                <a:solidFill>
                  <a:srgbClr val="EBFFC2"/>
                </a:solidFill>
                <a:latin typeface="Corbel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500" kern="1200">
                <a:solidFill>
                  <a:srgbClr val="EBFFC2"/>
                </a:solidFill>
                <a:latin typeface="Corbel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500" kern="1200">
                <a:solidFill>
                  <a:srgbClr val="EBFFC2"/>
                </a:solidFill>
                <a:latin typeface="Corbel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500" kern="1200">
                <a:solidFill>
                  <a:srgbClr val="EBFFC2"/>
                </a:solidFill>
                <a:latin typeface="Corbel" pitchFamily="34" charset="0"/>
                <a:ea typeface="+mn-ea"/>
                <a:cs typeface="+mn-cs"/>
              </a:defRPr>
            </a:lvl9pPr>
          </a:lstStyle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bundles.Add(new </a:t>
            </a: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</a:t>
            </a: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</a:t>
            </a: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ScriptBundle</a:t>
            </a: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("~/bundles/jquery").Include(</a:t>
            </a: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    </a:t>
            </a: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"~/Scripts/Kendo/jquery.min.js"));</a:t>
            </a:r>
            <a:endParaRPr lang="en-US" sz="2000" b="1" noProof="1">
              <a:solidFill>
                <a:srgbClr val="8CF4F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bundles.Add(new    </a:t>
            </a: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</a:t>
            </a: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ScriptBundle</a:t>
            </a: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("~/bundles/kendo").Include(</a:t>
            </a: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    </a:t>
            </a: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"~/Scripts/Kendo/kendo.web.min.js“,    </a:t>
            </a: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</a:t>
            </a: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   "~/Scripts/Kendo.kendo.aspnetmvc.min.js</a:t>
            </a: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"));</a:t>
            </a:r>
            <a:endParaRPr lang="en-US" sz="2000" b="1" noProof="1">
              <a:solidFill>
                <a:srgbClr val="8CF4F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510988" y="4267200"/>
            <a:ext cx="7924800" cy="1323439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500" kern="1200">
                <a:solidFill>
                  <a:srgbClr val="EBFFC2"/>
                </a:solidFill>
                <a:latin typeface="Corbel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500" kern="1200">
                <a:solidFill>
                  <a:srgbClr val="EBFFC2"/>
                </a:solidFill>
                <a:latin typeface="Corbel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500" kern="1200">
                <a:solidFill>
                  <a:srgbClr val="EBFFC2"/>
                </a:solidFill>
                <a:latin typeface="Corbel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500" kern="1200">
                <a:solidFill>
                  <a:srgbClr val="EBFFC2"/>
                </a:solidFill>
                <a:latin typeface="Corbel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500" kern="1200">
                <a:solidFill>
                  <a:srgbClr val="EBFFC2"/>
                </a:solidFill>
                <a:latin typeface="Corbel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500" kern="1200">
                <a:solidFill>
                  <a:srgbClr val="EBFFC2"/>
                </a:solidFill>
                <a:latin typeface="Corbel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500" kern="1200">
                <a:solidFill>
                  <a:srgbClr val="EBFFC2"/>
                </a:solidFill>
                <a:latin typeface="Corbel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500" kern="1200">
                <a:solidFill>
                  <a:srgbClr val="EBFFC2"/>
                </a:solidFill>
                <a:latin typeface="Corbel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500" kern="1200">
                <a:solidFill>
                  <a:srgbClr val="EBFFC2"/>
                </a:solidFill>
                <a:latin typeface="Corbel" pitchFamily="34" charset="0"/>
                <a:ea typeface="+mn-ea"/>
                <a:cs typeface="+mn-cs"/>
              </a:defRPr>
            </a:lvl9pPr>
          </a:lstStyle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bundles.Add(new </a:t>
            </a:r>
            <a:endParaRPr lang="en-US" sz="2000" b="1" noProof="1" smtClean="0">
              <a:solidFill>
                <a:srgbClr val="8CF4F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StyleBundle</a:t>
            </a: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("~/Content/kendo").Include(</a:t>
            </a: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   </a:t>
            </a: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</a:t>
            </a: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"~/</a:t>
            </a: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Content/kendo.common.*",</a:t>
            </a: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    </a:t>
            </a: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"~/</a:t>
            </a: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Content/kendo.default.*"));</a:t>
            </a:r>
            <a:endParaRPr lang="en-US" sz="2000" b="1" noProof="1">
              <a:solidFill>
                <a:srgbClr val="8CF4F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60196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Include </a:t>
            </a:r>
            <a:r>
              <a:rPr lang="en-US" dirty="0" smtClean="0"/>
              <a:t>Kendo UI </a:t>
            </a:r>
            <a:r>
              <a:rPr lang="en-US" dirty="0"/>
              <a:t>in </a:t>
            </a:r>
            <a:r>
              <a:rPr lang="en-US" dirty="0" smtClean="0"/>
              <a:t>Project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Register bundles (if not already)</a:t>
            </a:r>
          </a:p>
          <a:p>
            <a:endParaRPr lang="en-US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  <a:p>
            <a:endParaRPr lang="en-US" dirty="0" smtClean="0">
              <a:solidFill>
                <a:schemeClr val="accent6">
                  <a:lumMod val="20000"/>
                  <a:lumOff val="80000"/>
                </a:schemeClr>
              </a:solidFill>
            </a:endParaRPr>
          </a:p>
          <a:p>
            <a:endParaRPr lang="en-US" dirty="0" smtClean="0"/>
          </a:p>
          <a:p>
            <a:r>
              <a:rPr lang="en-US" dirty="0" smtClean="0"/>
              <a:t>Render the bundles in your Layout page</a:t>
            </a:r>
          </a:p>
          <a:p>
            <a:endParaRPr lang="en-US" dirty="0" smtClean="0">
              <a:solidFill>
                <a:schemeClr val="accent6">
                  <a:lumMod val="20000"/>
                  <a:lumOff val="80000"/>
                </a:schemeClr>
              </a:solidFill>
            </a:endParaRPr>
          </a:p>
          <a:p>
            <a:pPr lvl="1"/>
            <a:endParaRPr lang="en-US" sz="2800" dirty="0"/>
          </a:p>
          <a:p>
            <a:pPr lvl="1"/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519953" y="1524000"/>
            <a:ext cx="7924800" cy="1938992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500" kern="1200">
                <a:solidFill>
                  <a:srgbClr val="EBFFC2"/>
                </a:solidFill>
                <a:latin typeface="Corbel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500" kern="1200">
                <a:solidFill>
                  <a:srgbClr val="EBFFC2"/>
                </a:solidFill>
                <a:latin typeface="Corbel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500" kern="1200">
                <a:solidFill>
                  <a:srgbClr val="EBFFC2"/>
                </a:solidFill>
                <a:latin typeface="Corbel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500" kern="1200">
                <a:solidFill>
                  <a:srgbClr val="EBFFC2"/>
                </a:solidFill>
                <a:latin typeface="Corbel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500" kern="1200">
                <a:solidFill>
                  <a:srgbClr val="EBFFC2"/>
                </a:solidFill>
                <a:latin typeface="Corbel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500" kern="1200">
                <a:solidFill>
                  <a:srgbClr val="EBFFC2"/>
                </a:solidFill>
                <a:latin typeface="Corbel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500" kern="1200">
                <a:solidFill>
                  <a:srgbClr val="EBFFC2"/>
                </a:solidFill>
                <a:latin typeface="Corbel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500" kern="1200">
                <a:solidFill>
                  <a:srgbClr val="EBFFC2"/>
                </a:solidFill>
                <a:latin typeface="Corbel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500" kern="1200">
                <a:solidFill>
                  <a:srgbClr val="EBFFC2"/>
                </a:solidFill>
                <a:latin typeface="Corbel" pitchFamily="34" charset="0"/>
                <a:ea typeface="+mn-ea"/>
                <a:cs typeface="+mn-cs"/>
              </a:defRPr>
            </a:lvl9pPr>
          </a:lstStyle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protected void Application_Start()</a:t>
            </a: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{</a:t>
            </a: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…</a:t>
            </a: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BundleConfig.RegisterBundles(BundleTable.Bundles);</a:t>
            </a: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…</a:t>
            </a: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}</a:t>
            </a:r>
            <a:endParaRPr lang="en-US" sz="2000" b="1" noProof="1">
              <a:solidFill>
                <a:srgbClr val="8CF4F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519953" y="4267200"/>
            <a:ext cx="7924800" cy="1631216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500" kern="1200">
                <a:solidFill>
                  <a:srgbClr val="EBFFC2"/>
                </a:solidFill>
                <a:latin typeface="Corbel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500" kern="1200">
                <a:solidFill>
                  <a:srgbClr val="EBFFC2"/>
                </a:solidFill>
                <a:latin typeface="Corbel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500" kern="1200">
                <a:solidFill>
                  <a:srgbClr val="EBFFC2"/>
                </a:solidFill>
                <a:latin typeface="Corbel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500" kern="1200">
                <a:solidFill>
                  <a:srgbClr val="EBFFC2"/>
                </a:solidFill>
                <a:latin typeface="Corbel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500" kern="1200">
                <a:solidFill>
                  <a:srgbClr val="EBFFC2"/>
                </a:solidFill>
                <a:latin typeface="Corbel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500" kern="1200">
                <a:solidFill>
                  <a:srgbClr val="EBFFC2"/>
                </a:solidFill>
                <a:latin typeface="Corbel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500" kern="1200">
                <a:solidFill>
                  <a:srgbClr val="EBFFC2"/>
                </a:solidFill>
                <a:latin typeface="Corbel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500" kern="1200">
                <a:solidFill>
                  <a:srgbClr val="EBFFC2"/>
                </a:solidFill>
                <a:latin typeface="Corbel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500" kern="1200">
                <a:solidFill>
                  <a:srgbClr val="EBFFC2"/>
                </a:solidFill>
                <a:latin typeface="Corbel" pitchFamily="34" charset="0"/>
                <a:ea typeface="+mn-ea"/>
                <a:cs typeface="+mn-cs"/>
              </a:defRPr>
            </a:lvl9pPr>
          </a:lstStyle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&lt;head&gt;</a:t>
            </a: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&lt;!-- other content --&gt;</a:t>
            </a: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@Styles.Render("~/</a:t>
            </a: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Content/kendo</a:t>
            </a: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")    </a:t>
            </a: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</a:t>
            </a: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@</a:t>
            </a: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Scripts.Render("~/bundles/kendo")</a:t>
            </a: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&lt;/head&gt;</a:t>
            </a:r>
            <a:endParaRPr lang="en-US" sz="2000" b="1" noProof="1">
              <a:solidFill>
                <a:srgbClr val="8CF4F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05795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Include </a:t>
            </a:r>
            <a:r>
              <a:rPr lang="en-US" dirty="0" smtClean="0"/>
              <a:t>Kendo UI </a:t>
            </a:r>
            <a:r>
              <a:rPr lang="en-US" dirty="0"/>
              <a:t>in </a:t>
            </a:r>
            <a:r>
              <a:rPr lang="en-US" dirty="0" smtClean="0"/>
              <a:t>Project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Add Kendo namespace in </a:t>
            </a:r>
            <a:r>
              <a:rPr lang="en-US" dirty="0" err="1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web.config</a:t>
            </a:r>
            <a:r>
              <a:rPr lang="en-US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 </a:t>
            </a:r>
            <a:r>
              <a:rPr lang="en-US" dirty="0" smtClean="0"/>
              <a:t>for the </a:t>
            </a:r>
            <a:r>
              <a:rPr lang="en-US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Views </a:t>
            </a:r>
            <a:r>
              <a:rPr lang="en-US" dirty="0" smtClean="0"/>
              <a:t>folder</a:t>
            </a:r>
            <a:endParaRPr lang="en-US" dirty="0" smtClean="0">
              <a:solidFill>
                <a:schemeClr val="accent6">
                  <a:lumMod val="20000"/>
                  <a:lumOff val="80000"/>
                </a:schemeClr>
              </a:solidFill>
            </a:endParaRPr>
          </a:p>
          <a:p>
            <a:endParaRPr lang="en-US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  <a:p>
            <a:endParaRPr lang="en-US" dirty="0" smtClean="0">
              <a:solidFill>
                <a:schemeClr val="accent6">
                  <a:lumMod val="20000"/>
                  <a:lumOff val="80000"/>
                </a:schemeClr>
              </a:solidFill>
            </a:endParaRPr>
          </a:p>
          <a:p>
            <a:endParaRPr lang="en-US" dirty="0" smtClean="0">
              <a:solidFill>
                <a:schemeClr val="accent6">
                  <a:lumMod val="20000"/>
                  <a:lumOff val="80000"/>
                </a:schemeClr>
              </a:solidFill>
            </a:endParaRPr>
          </a:p>
          <a:p>
            <a:pPr lvl="1"/>
            <a:endParaRPr lang="en-US" sz="2800" dirty="0"/>
          </a:p>
          <a:p>
            <a:pPr lvl="1"/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10</a:t>
            </a:fld>
            <a:endParaRPr lang="en-US" dirty="0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533400" y="2057400"/>
            <a:ext cx="7924800" cy="3785652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500" kern="1200">
                <a:solidFill>
                  <a:srgbClr val="EBFFC2"/>
                </a:solidFill>
                <a:latin typeface="Corbel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500" kern="1200">
                <a:solidFill>
                  <a:srgbClr val="EBFFC2"/>
                </a:solidFill>
                <a:latin typeface="Corbel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500" kern="1200">
                <a:solidFill>
                  <a:srgbClr val="EBFFC2"/>
                </a:solidFill>
                <a:latin typeface="Corbel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500" kern="1200">
                <a:solidFill>
                  <a:srgbClr val="EBFFC2"/>
                </a:solidFill>
                <a:latin typeface="Corbel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500" kern="1200">
                <a:solidFill>
                  <a:srgbClr val="EBFFC2"/>
                </a:solidFill>
                <a:latin typeface="Corbel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500" kern="1200">
                <a:solidFill>
                  <a:srgbClr val="EBFFC2"/>
                </a:solidFill>
                <a:latin typeface="Corbel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500" kern="1200">
                <a:solidFill>
                  <a:srgbClr val="EBFFC2"/>
                </a:solidFill>
                <a:latin typeface="Corbel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500" kern="1200">
                <a:solidFill>
                  <a:srgbClr val="EBFFC2"/>
                </a:solidFill>
                <a:latin typeface="Corbel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500" kern="1200">
                <a:solidFill>
                  <a:srgbClr val="EBFFC2"/>
                </a:solidFill>
                <a:latin typeface="Corbel" pitchFamily="34" charset="0"/>
                <a:ea typeface="+mn-ea"/>
                <a:cs typeface="+mn-cs"/>
              </a:defRPr>
            </a:lvl9pPr>
          </a:lstStyle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&lt;system.web.webPages.razor&gt;</a:t>
            </a: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&lt;</a:t>
            </a: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pages pageBaseType="System.Web.Mvc.WebViewPage"&gt;</a:t>
            </a: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  &lt;namespaces&gt;</a:t>
            </a: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    &lt;add namespace="System.Web.Mvc" /&gt;</a:t>
            </a: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    &lt;add namespace="System.Web.Mvc.Ajax" /&gt;</a:t>
            </a: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    &lt;add namespace="System.Web.Mvc.Html" /&gt;</a:t>
            </a: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    &lt;add namespace="System.Web.Optimization"/&gt;</a:t>
            </a: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    &lt;add namespace="System.Web.Routing" /&gt;</a:t>
            </a: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    </a:t>
            </a:r>
            <a:r>
              <a:rPr lang="en-US" sz="2000" b="1" noProof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&lt;add namespace="Kendo.Mvc.UI"/&gt;</a:t>
            </a: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  &lt;/namespaces&gt;</a:t>
            </a: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</a:t>
            </a: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&lt;/</a:t>
            </a: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pages&gt;</a:t>
            </a: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&lt;/</a:t>
            </a: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system.web.webPages.razor&gt;</a:t>
            </a:r>
            <a:endParaRPr lang="en-US" sz="2000" b="1" noProof="1">
              <a:solidFill>
                <a:srgbClr val="8CF4F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49428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Using Kendo UI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Pure HTML and JavaScript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endParaRPr lang="en-US" dirty="0"/>
          </a:p>
          <a:p>
            <a:pPr>
              <a:spcBef>
                <a:spcPts val="300"/>
              </a:spcBef>
              <a:spcAft>
                <a:spcPts val="300"/>
              </a:spcAft>
            </a:pPr>
            <a:endParaRPr lang="en-US" dirty="0" smtClean="0"/>
          </a:p>
          <a:p>
            <a:pPr>
              <a:spcBef>
                <a:spcPts val="300"/>
              </a:spcBef>
              <a:spcAft>
                <a:spcPts val="300"/>
              </a:spcAft>
            </a:pPr>
            <a:endParaRPr lang="en-US" dirty="0"/>
          </a:p>
          <a:p>
            <a:pPr>
              <a:spcBef>
                <a:spcPts val="300"/>
              </a:spcBef>
              <a:spcAft>
                <a:spcPts val="300"/>
              </a:spcAft>
            </a:pPr>
            <a:endParaRPr lang="en-US" dirty="0" smtClean="0"/>
          </a:p>
          <a:p>
            <a:pPr>
              <a:spcBef>
                <a:spcPts val="300"/>
              </a:spcBef>
              <a:spcAft>
                <a:spcPts val="300"/>
              </a:spcAft>
            </a:pPr>
            <a:endParaRPr lang="en-US" dirty="0" smtClean="0"/>
          </a:p>
          <a:p>
            <a:r>
              <a:rPr lang="en-US" dirty="0" smtClean="0"/>
              <a:t>ASP.NET MVC wrappers</a:t>
            </a:r>
          </a:p>
          <a:p>
            <a:endParaRPr lang="en-US" dirty="0"/>
          </a:p>
          <a:p>
            <a:r>
              <a:rPr lang="en-US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Kendo code MUST be after </a:t>
            </a:r>
            <a:r>
              <a:rPr lang="en-US" dirty="0" err="1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jQuery</a:t>
            </a:r>
            <a:r>
              <a:rPr lang="en-US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 reference!</a:t>
            </a:r>
            <a:endParaRPr lang="en-US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11</a:t>
            </a:fld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524000"/>
            <a:ext cx="3306253" cy="290386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2286000"/>
            <a:ext cx="3676650" cy="8763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7" name="Left Arrow 6"/>
          <p:cNvSpPr/>
          <p:nvPr/>
        </p:nvSpPr>
        <p:spPr>
          <a:xfrm rot="9030484">
            <a:off x="2632252" y="3369486"/>
            <a:ext cx="2563875" cy="224085"/>
          </a:xfrm>
          <a:prstGeom prst="left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5328710"/>
            <a:ext cx="4562475" cy="28575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62663" y="3481528"/>
            <a:ext cx="1952625" cy="2305050"/>
          </a:xfrm>
          <a:prstGeom prst="rect">
            <a:avLst/>
          </a:prstGeom>
        </p:spPr>
      </p:pic>
      <p:sp>
        <p:nvSpPr>
          <p:cNvPr id="10" name="Left Arrow 9"/>
          <p:cNvSpPr/>
          <p:nvPr/>
        </p:nvSpPr>
        <p:spPr>
          <a:xfrm rot="7281641">
            <a:off x="4774291" y="4509081"/>
            <a:ext cx="1707492" cy="224085"/>
          </a:xfrm>
          <a:prstGeom prst="left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05093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609600" y="4953001"/>
            <a:ext cx="7924800" cy="685800"/>
          </a:xfrm>
        </p:spPr>
        <p:txBody>
          <a:bodyPr/>
          <a:lstStyle/>
          <a:p>
            <a:r>
              <a:rPr lang="en-US" dirty="0" smtClean="0"/>
              <a:t>Installing Kendo UI for MVC</a:t>
            </a:r>
            <a:endParaRPr lang="en-US" dirty="0"/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>
          <a:xfrm>
            <a:off x="304800" y="5715000"/>
            <a:ext cx="8534400" cy="457200"/>
          </a:xfrm>
        </p:spPr>
        <p:txBody>
          <a:bodyPr/>
          <a:lstStyle/>
          <a:p>
            <a:r>
              <a:rPr lang="en-US" dirty="0" smtClean="0"/>
              <a:t>Documentation </a:t>
            </a:r>
            <a:r>
              <a:rPr lang="en-US" dirty="0" smtClean="0">
                <a:hlinkClick r:id="rId2"/>
              </a:rPr>
              <a:t>here</a:t>
            </a:r>
            <a:r>
              <a:rPr lang="en-US" dirty="0" smtClean="0"/>
              <a:t>!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4333" y="990600"/>
            <a:ext cx="3975335" cy="376244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3790355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1066800"/>
            <a:ext cx="7924800" cy="685800"/>
          </a:xfrm>
        </p:spPr>
        <p:txBody>
          <a:bodyPr/>
          <a:lstStyle/>
          <a:p>
            <a:r>
              <a:rPr lang="en-US" dirty="0" smtClean="0"/>
              <a:t>Kendo UI HTML Helpers</a:t>
            </a:r>
            <a:endParaRPr lang="en-US" dirty="0"/>
          </a:p>
        </p:txBody>
      </p:sp>
      <p:pic>
        <p:nvPicPr>
          <p:cNvPr id="5122" name="Picture 2" descr="http://www.telerik.com/assets/img/home-page/slide-4-01.01.2013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0" y="2362200"/>
            <a:ext cx="3510149" cy="337851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extLst/>
        </p:spPr>
      </p:pic>
      <p:sp>
        <p:nvSpPr>
          <p:cNvPr id="4" name="Subtitle 2"/>
          <p:cNvSpPr>
            <a:spLocks noGrp="1"/>
          </p:cNvSpPr>
          <p:nvPr>
            <p:ph type="subTitle" idx="1"/>
          </p:nvPr>
        </p:nvSpPr>
        <p:spPr>
          <a:xfrm>
            <a:off x="533400" y="1676400"/>
            <a:ext cx="7924800" cy="569120"/>
          </a:xfrm>
        </p:spPr>
        <p:txBody>
          <a:bodyPr/>
          <a:lstStyle/>
          <a:p>
            <a:r>
              <a:rPr lang="en-US" dirty="0" smtClean="0">
                <a:hlinkClick r:id="rId3"/>
              </a:rPr>
              <a:t>http://www.kendoui.com/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76471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Kendo UI HTML Helpers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HTML Helpers</a:t>
            </a:r>
          </a:p>
          <a:p>
            <a:pPr lvl="1"/>
            <a:r>
              <a:rPr lang="en-US" dirty="0" smtClean="0"/>
              <a:t>Lightweight C# objects</a:t>
            </a:r>
          </a:p>
          <a:p>
            <a:pPr lvl="1"/>
            <a:r>
              <a:rPr lang="en-US" dirty="0" smtClean="0"/>
              <a:t>Auto-generate markup within a View</a:t>
            </a:r>
          </a:p>
          <a:p>
            <a:pPr lvl="1"/>
            <a:r>
              <a:rPr lang="en-US" dirty="0" smtClean="0"/>
              <a:t>Return HTML and JavaScript to the browser</a:t>
            </a:r>
          </a:p>
          <a:p>
            <a:pPr lvl="1"/>
            <a:r>
              <a:rPr lang="en-US" dirty="0" smtClean="0"/>
              <a:t>Provide Fluent API</a:t>
            </a:r>
          </a:p>
          <a:p>
            <a:pPr lvl="1"/>
            <a:r>
              <a:rPr lang="en-US" dirty="0" smtClean="0"/>
              <a:t>Can be used in both Web Forms and Razor</a:t>
            </a:r>
          </a:p>
          <a:p>
            <a:pPr lvl="1"/>
            <a:r>
              <a:rPr lang="en-US" dirty="0" smtClean="0"/>
              <a:t>Easily customized through JavaScript and </a:t>
            </a:r>
            <a:r>
              <a:rPr lang="en-US" dirty="0" err="1" smtClean="0"/>
              <a:t>jQuery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90636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Kendo UI HTML Helpers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dirty="0" smtClean="0"/>
              <a:t>Some Web Widgets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lang="en-US" dirty="0" smtClean="0"/>
              <a:t>AutoComplete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lang="en-US" dirty="0" smtClean="0"/>
              <a:t>Calendar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lang="en-US" dirty="0" err="1" smtClean="0"/>
              <a:t>DropDownList</a:t>
            </a:r>
            <a:endParaRPr lang="en-US" dirty="0" smtClean="0"/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lang="en-US" dirty="0" smtClean="0"/>
              <a:t>Upload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lang="en-US" dirty="0" err="1" smtClean="0"/>
              <a:t>TreeView</a:t>
            </a:r>
            <a:endParaRPr lang="en-US" dirty="0" smtClean="0"/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lang="en-US" dirty="0" smtClean="0"/>
              <a:t>Grid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dirty="0" smtClean="0"/>
              <a:t>Some DataViz Widgets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Chart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lang="en-US" dirty="0" err="1"/>
              <a:t>LinearGauge</a:t>
            </a:r>
            <a:endParaRPr lang="en-US" dirty="0"/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lang="en-US" dirty="0" err="1"/>
              <a:t>RadialGauge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87368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Kendo UI HTML Helpers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dirty="0" smtClean="0"/>
              <a:t>Usage of helpers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16</a:t>
            </a:fld>
            <a:endParaRPr lang="en-US" dirty="0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533400" y="1600200"/>
            <a:ext cx="7924800" cy="4401205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500" kern="1200">
                <a:solidFill>
                  <a:srgbClr val="EBFFC2"/>
                </a:solidFill>
                <a:latin typeface="Corbel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500" kern="1200">
                <a:solidFill>
                  <a:srgbClr val="EBFFC2"/>
                </a:solidFill>
                <a:latin typeface="Corbel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500" kern="1200">
                <a:solidFill>
                  <a:srgbClr val="EBFFC2"/>
                </a:solidFill>
                <a:latin typeface="Corbel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500" kern="1200">
                <a:solidFill>
                  <a:srgbClr val="EBFFC2"/>
                </a:solidFill>
                <a:latin typeface="Corbel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500" kern="1200">
                <a:solidFill>
                  <a:srgbClr val="EBFFC2"/>
                </a:solidFill>
                <a:latin typeface="Corbel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500" kern="1200">
                <a:solidFill>
                  <a:srgbClr val="EBFFC2"/>
                </a:solidFill>
                <a:latin typeface="Corbel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500" kern="1200">
                <a:solidFill>
                  <a:srgbClr val="EBFFC2"/>
                </a:solidFill>
                <a:latin typeface="Corbel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500" kern="1200">
                <a:solidFill>
                  <a:srgbClr val="EBFFC2"/>
                </a:solidFill>
                <a:latin typeface="Corbel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500" kern="1200">
                <a:solidFill>
                  <a:srgbClr val="EBFFC2"/>
                </a:solidFill>
                <a:latin typeface="Corbel" pitchFamily="34" charset="0"/>
                <a:ea typeface="+mn-ea"/>
                <a:cs typeface="+mn-cs"/>
              </a:defRPr>
            </a:lvl9pPr>
          </a:lstStyle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@(Html.Kendo().Grid((</a:t>
            </a: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IEnumerable&lt;Models.Product</a:t>
            </a: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&gt;)</a:t>
            </a: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</a:t>
            </a: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                  ViewBag.Products</a:t>
            </a: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)</a:t>
            </a: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  .Name("grid")</a:t>
            </a: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  .Columns(columns =&gt;</a:t>
            </a: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  {</a:t>
            </a: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      columns.Bound(product =&gt; product.ProductID);</a:t>
            </a: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      columns.Bound(product =&gt; product.ProductName);</a:t>
            </a: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      columns.Bound(product =&gt; product.UnitsInStock);</a:t>
            </a: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  })</a:t>
            </a: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  .Pageable() </a:t>
            </a: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  .Sortable()</a:t>
            </a: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47979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609600" y="4953001"/>
            <a:ext cx="7924800" cy="685800"/>
          </a:xfrm>
        </p:spPr>
        <p:txBody>
          <a:bodyPr/>
          <a:lstStyle/>
          <a:p>
            <a:r>
              <a:rPr lang="en-US" dirty="0" smtClean="0"/>
              <a:t>Kendo UI MVC Helpers</a:t>
            </a:r>
            <a:endParaRPr lang="en-US" dirty="0"/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>
          <a:xfrm>
            <a:off x="304800" y="5715000"/>
            <a:ext cx="8534400" cy="457200"/>
          </a:xfrm>
        </p:spPr>
        <p:txBody>
          <a:bodyPr/>
          <a:lstStyle/>
          <a:p>
            <a:r>
              <a:rPr lang="en-US" dirty="0" smtClean="0"/>
              <a:t>Live Demo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4333" y="990600"/>
            <a:ext cx="3975335" cy="376244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2838130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0" y="76200"/>
            <a:ext cx="7086600" cy="1066800"/>
          </a:xfrm>
        </p:spPr>
        <p:txBody>
          <a:bodyPr/>
          <a:lstStyle/>
          <a:p>
            <a:r>
              <a:rPr lang="en-US" dirty="0"/>
              <a:t>Kendo UI ASP.NET MVC Wrappers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5473176" y="6400800"/>
            <a:ext cx="3552511" cy="369332"/>
          </a:xfrm>
        </p:spPr>
        <p:txBody>
          <a:bodyPr/>
          <a:lstStyle/>
          <a:p>
            <a:r>
              <a:rPr lang="en-US" dirty="0">
                <a:hlinkClick r:id="rId2"/>
              </a:rPr>
              <a:t>http</a:t>
            </a:r>
            <a:r>
              <a:rPr lang="en-US" dirty="0" smtClean="0">
                <a:hlinkClick r:id="rId2"/>
              </a:rPr>
              <a:t>://schoolacademy.telerik.com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31627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Homework</a:t>
            </a:r>
            <a:endParaRPr lang="bg-BG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28600" y="805343"/>
            <a:ext cx="8686800" cy="5791200"/>
          </a:xfrm>
        </p:spPr>
        <p:txBody>
          <a:bodyPr/>
          <a:lstStyle/>
          <a:p>
            <a:pPr marL="514350" indent="-514350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Font typeface="+mj-lt"/>
              <a:buAutoNum type="arabicPeriod"/>
            </a:pPr>
            <a:r>
              <a:rPr lang="en-US" sz="2800" dirty="0" smtClean="0"/>
              <a:t>Create the </a:t>
            </a:r>
            <a:r>
              <a:rPr lang="en-US" sz="2800" dirty="0" err="1" smtClean="0"/>
              <a:t>WebForms</a:t>
            </a:r>
            <a:r>
              <a:rPr lang="en-US" sz="2800" dirty="0" smtClean="0"/>
              <a:t> “Library System” exam with ASP.NET MVC and Kendo UI Server Side Wrappers using as much widgets as you can: </a:t>
            </a:r>
          </a:p>
          <a:p>
            <a:pPr lvl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2600" dirty="0" err="1" smtClean="0"/>
              <a:t>TreeView</a:t>
            </a:r>
            <a:r>
              <a:rPr lang="en-US" sz="2600" dirty="0" smtClean="0"/>
              <a:t> for the Home page</a:t>
            </a:r>
            <a:endParaRPr lang="en-US" sz="2600" dirty="0"/>
          </a:p>
          <a:p>
            <a:pPr lvl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2600" dirty="0" smtClean="0"/>
              <a:t>Grid for the Administration</a:t>
            </a:r>
          </a:p>
          <a:p>
            <a:pPr lvl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2600" dirty="0" smtClean="0"/>
              <a:t>AutoComplete for the Search input </a:t>
            </a:r>
          </a:p>
          <a:p>
            <a:pPr lvl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2600" dirty="0" err="1" smtClean="0"/>
              <a:t>DropDownList</a:t>
            </a:r>
            <a:r>
              <a:rPr lang="en-US" sz="2600" dirty="0" smtClean="0"/>
              <a:t> for category selection</a:t>
            </a:r>
          </a:p>
          <a:p>
            <a:pPr lvl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2600" dirty="0" smtClean="0"/>
              <a:t>Others</a:t>
            </a:r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23167583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 smtClean="0"/>
              <a:t>Free Trainings @ Telerik Academy</a:t>
            </a:r>
            <a:endParaRPr lang="en-US" sz="3600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228600" y="1066800"/>
            <a:ext cx="8686800" cy="5638800"/>
          </a:xfrm>
        </p:spPr>
        <p:txBody>
          <a:bodyPr/>
          <a:lstStyle/>
          <a:p>
            <a:r>
              <a:rPr lang="en-US" dirty="0" smtClean="0"/>
              <a:t>“C# Programming @ Telerik Academy</a:t>
            </a:r>
          </a:p>
          <a:p>
            <a:pPr marL="574675" lvl="2" indent="-282575"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Char char=""/>
              <a:tabLst>
                <a:tab pos="282575" algn="l"/>
              </a:tabLst>
            </a:pPr>
            <a:r>
              <a:rPr lang="en-US" noProof="1">
                <a:hlinkClick r:id="rId2"/>
              </a:rPr>
              <a:t>csharpfundamentals.telerik.com</a:t>
            </a:r>
            <a:endParaRPr lang="en-US" noProof="1"/>
          </a:p>
          <a:p>
            <a:pPr marL="282575" lvl="1" indent="-282575">
              <a:spcBef>
                <a:spcPts val="180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Char char=""/>
              <a:tabLst>
                <a:tab pos="282575" algn="l"/>
              </a:tabLst>
            </a:pPr>
            <a:r>
              <a:rPr lang="en-US" dirty="0" smtClean="0"/>
              <a:t>Telerik Software Academy</a:t>
            </a:r>
          </a:p>
          <a:p>
            <a:pPr marL="574675" lvl="2" indent="-282575"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Char char=""/>
              <a:tabLst>
                <a:tab pos="282575" algn="l"/>
              </a:tabLst>
            </a:pPr>
            <a:r>
              <a:rPr lang="en-US" noProof="1" smtClean="0">
                <a:hlinkClick r:id="rId3" tooltip="Telerik Software Academy - Free Programming Courses"/>
              </a:rPr>
              <a:t>academy.telerik.com</a:t>
            </a:r>
            <a:endParaRPr lang="en-US" noProof="1" smtClean="0"/>
          </a:p>
          <a:p>
            <a:pPr marL="282575" lvl="1" indent="-282575">
              <a:spcBef>
                <a:spcPts val="180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Char char=""/>
              <a:tabLst>
                <a:tab pos="282575" algn="l"/>
              </a:tabLst>
            </a:pPr>
            <a:r>
              <a:rPr lang="en-US" dirty="0" smtClean="0"/>
              <a:t>Telerik Academy @ Facebook</a:t>
            </a:r>
          </a:p>
          <a:p>
            <a:pPr marL="574675" lvl="2" indent="-282575"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Char char=""/>
              <a:tabLst>
                <a:tab pos="282575" algn="l"/>
              </a:tabLst>
            </a:pPr>
            <a:r>
              <a:rPr lang="en-US" noProof="1" smtClean="0">
                <a:hlinkClick r:id="rId4" tooltip="Telerik Softyware Academy @ Facebook"/>
              </a:rPr>
              <a:t>facebook.com/TelerikAcademy</a:t>
            </a:r>
            <a:endParaRPr lang="en-US" noProof="1" smtClean="0"/>
          </a:p>
          <a:p>
            <a:pPr marL="282575" lvl="1" indent="-282575">
              <a:spcBef>
                <a:spcPts val="180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Char char=""/>
              <a:tabLst>
                <a:tab pos="282575" algn="l"/>
              </a:tabLst>
            </a:pPr>
            <a:r>
              <a:rPr lang="en-US" dirty="0" smtClean="0"/>
              <a:t>Telerik Software Academy Forums</a:t>
            </a:r>
          </a:p>
          <a:p>
            <a:pPr marL="574675" lvl="2" indent="-282575"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Char char=""/>
              <a:tabLst>
                <a:tab pos="282575" algn="l"/>
              </a:tabLst>
            </a:pPr>
            <a:r>
              <a:rPr lang="en-US" noProof="1" smtClean="0">
                <a:hlinkClick r:id="rId5" tooltip="Telerik Software Academy Forums - Community for Programmers"/>
              </a:rPr>
              <a:t>forums.academy.telerik.com</a:t>
            </a:r>
            <a:endParaRPr lang="en-US" noProof="1"/>
          </a:p>
        </p:txBody>
      </p:sp>
      <p:pic>
        <p:nvPicPr>
          <p:cNvPr id="5" name="Picture 5">
            <a:hlinkClick r:id="rId5" tooltip="Telerik Software Academy Forums - Discussion Board for Developers"/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3898" y="5218092"/>
            <a:ext cx="1162902" cy="12686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>
            <a:hlinkClick r:id="rId3" tooltip="Telerik Software Academy"/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8941" y="2667000"/>
            <a:ext cx="3137859" cy="918234"/>
          </a:xfrm>
          <a:prstGeom prst="rect">
            <a:avLst/>
          </a:prstGeom>
          <a:noFill/>
          <a:ln>
            <a:solidFill>
              <a:srgbClr val="9BCC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7" name="Picture 13">
            <a:hlinkClick r:id="rId8" tooltip="Telerik Academy @ Facebook"/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8587" y="4003901"/>
            <a:ext cx="938213" cy="938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" name="Picture 1">
            <a:hlinkClick r:id="rId2"/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2025" y="1123558"/>
            <a:ext cx="1124775" cy="1124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450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2" val="1891dbb5ef1eec16f96b550c792a3c169f6d68"/>
</p:tagLst>
</file>

<file path=ppt/theme/theme1.xml><?xml version="1.0" encoding="utf-8"?>
<a:theme xmlns:a="http://schemas.openxmlformats.org/drawingml/2006/main" name="Telerik Academy">
  <a:themeElements>
    <a:clrScheme name="Telerik Colors Theme">
      <a:dk1>
        <a:sysClr val="windowText" lastClr="000000"/>
      </a:dk1>
      <a:lt1>
        <a:srgbClr val="CCFF66"/>
      </a:lt1>
      <a:dk2>
        <a:srgbClr val="30356E"/>
      </a:dk2>
      <a:lt2>
        <a:srgbClr val="CCFF33"/>
      </a:lt2>
      <a:accent1>
        <a:srgbClr val="CC4757"/>
      </a:accent1>
      <a:accent2>
        <a:srgbClr val="FF6F61"/>
      </a:accent2>
      <a:accent3>
        <a:srgbClr val="FF953E"/>
      </a:accent3>
      <a:accent4>
        <a:srgbClr val="F8BD52"/>
      </a:accent4>
      <a:accent5>
        <a:srgbClr val="46A6BD"/>
      </a:accent5>
      <a:accent6>
        <a:srgbClr val="5488BC"/>
      </a:accent6>
      <a:hlink>
        <a:srgbClr val="76B200"/>
      </a:hlink>
      <a:folHlink>
        <a:srgbClr val="FFCF3E"/>
      </a:folHlink>
    </a:clrScheme>
    <a:fontScheme name="Deluxe">
      <a:majorFont>
        <a:latin typeface="Corbel"/>
        <a:ea typeface=""/>
        <a:cs typeface=""/>
        <a:font script="Jpan" typeface="HGｺﾞｼｯｸM"/>
        <a:font script="Hang" typeface="HY엽서L"/>
        <a:font script="Hans" typeface="华文新魏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rbel"/>
        <a:ea typeface=""/>
        <a:cs typeface=""/>
        <a:font script="Jpan" typeface="HGｺﾞｼｯｸM"/>
        <a:font script="Hang" typeface="HY엽서L"/>
        <a:font script="Hans" typeface="华文新魏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Deluxe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280000"/>
              </a:schemeClr>
            </a:gs>
            <a:gs pos="14000">
              <a:schemeClr val="phClr">
                <a:tint val="37000"/>
                <a:satMod val="250000"/>
              </a:schemeClr>
            </a:gs>
            <a:gs pos="45000">
              <a:schemeClr val="phClr">
                <a:tint val="53000"/>
                <a:satMod val="220000"/>
              </a:schemeClr>
            </a:gs>
            <a:gs pos="65000">
              <a:schemeClr val="phClr">
                <a:tint val="53000"/>
                <a:satMod val="220000"/>
              </a:schemeClr>
            </a:gs>
            <a:gs pos="86000">
              <a:schemeClr val="phClr">
                <a:tint val="42000"/>
                <a:satMod val="240000"/>
              </a:schemeClr>
            </a:gs>
            <a:gs pos="100000">
              <a:schemeClr val="phClr">
                <a:tint val="20000"/>
                <a:satMod val="23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75000"/>
                <a:satMod val="160000"/>
              </a:schemeClr>
            </a:gs>
            <a:gs pos="60000">
              <a:schemeClr val="phClr">
                <a:satMod val="150000"/>
              </a:schemeClr>
            </a:gs>
            <a:gs pos="100000">
              <a:schemeClr val="phClr">
                <a:tint val="75000"/>
                <a:satMod val="200000"/>
              </a:schemeClr>
            </a:gs>
          </a:gsLst>
          <a:lin ang="16200000" scaled="1"/>
        </a:gradFill>
      </a:fillStyleLst>
      <a:lnStyleLst>
        <a:ln w="9525" cap="flat" cmpd="sng" algn="ctr">
          <a:solidFill>
            <a:schemeClr val="phClr">
              <a:satMod val="14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6500000"/>
            </a:lightRig>
          </a:scene3d>
          <a:sp3d prstMaterial="powder">
            <a:bevelT w="152400"/>
            <a:contourClr>
              <a:schemeClr val="phClr"/>
            </a:contourClr>
          </a:sp3d>
        </a:effectStyle>
        <a:effectStyle>
          <a:effectLst>
            <a:reflection blurRad="12700" stA="26000" endPos="28000" dist="38100" dir="5400000" sy="-100000"/>
          </a:effectLst>
          <a:scene3d>
            <a:camera prst="orthographicFront" fov="0">
              <a:rot lat="0" lon="0" rev="0"/>
            </a:camera>
            <a:lightRig rig="contrasting" dir="t">
              <a:rot lat="0" lon="0" rev="16500000"/>
            </a:lightRig>
          </a:scene3d>
          <a:sp3d prstMaterial="powder">
            <a:bevelT w="190500" h="1016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3000"/>
                <a:satMod val="1550000"/>
              </a:schemeClr>
            </a:gs>
            <a:gs pos="1000">
              <a:schemeClr val="phClr">
                <a:tint val="48000"/>
                <a:satMod val="1550000"/>
              </a:schemeClr>
            </a:gs>
            <a:gs pos="90000">
              <a:schemeClr val="phClr">
                <a:shade val="18000"/>
                <a:satMod val="275000"/>
              </a:schemeClr>
            </a:gs>
          </a:gsLst>
          <a:path path="circle">
            <a:fillToRect r="210000" b="300000"/>
          </a:path>
        </a:gradFill>
        <a:gradFill rotWithShape="1">
          <a:gsLst>
            <a:gs pos="5000">
              <a:schemeClr val="phClr">
                <a:tint val="38000"/>
                <a:satMod val="1800000"/>
              </a:schemeClr>
            </a:gs>
            <a:gs pos="5000">
              <a:schemeClr val="phClr">
                <a:tint val="40000"/>
                <a:satMod val="1800000"/>
              </a:schemeClr>
            </a:gs>
            <a:gs pos="90000">
              <a:schemeClr val="phClr">
                <a:shade val="18000"/>
                <a:satMod val="275000"/>
              </a:schemeClr>
            </a:gs>
          </a:gsLst>
          <a:path path="circle">
            <a:fillToRect l="20000" t="30000" r="135000" b="10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Deluxe</Template>
  <TotalTime>8840</TotalTime>
  <Words>640</Words>
  <Application>Microsoft Office PowerPoint</Application>
  <PresentationFormat>On-screen Show (4:3)</PresentationFormat>
  <Paragraphs>193</Paragraphs>
  <Slides>20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Telerik Academy</vt:lpstr>
      <vt:lpstr>Kendo UI ASP.NET MVC Wrappers</vt:lpstr>
      <vt:lpstr>Table of Contents</vt:lpstr>
      <vt:lpstr>Kendo UI</vt:lpstr>
      <vt:lpstr>What is Kendo UI? </vt:lpstr>
      <vt:lpstr>What Does Kendo UI Provide? </vt:lpstr>
      <vt:lpstr>What Does Kendo UI Provide? </vt:lpstr>
      <vt:lpstr>Include Kendo UI in Project</vt:lpstr>
      <vt:lpstr>Include Kendo UI in Project</vt:lpstr>
      <vt:lpstr>Include Kendo UI in Project</vt:lpstr>
      <vt:lpstr>Include Kendo UI in Project</vt:lpstr>
      <vt:lpstr>Using Kendo UI</vt:lpstr>
      <vt:lpstr>Installing Kendo UI for MVC</vt:lpstr>
      <vt:lpstr>Kendo UI HTML Helpers</vt:lpstr>
      <vt:lpstr>Kendo UI HTML Helpers</vt:lpstr>
      <vt:lpstr>Kendo UI HTML Helpers</vt:lpstr>
      <vt:lpstr>Kendo UI HTML Helpers</vt:lpstr>
      <vt:lpstr>Kendo UI MVC Helpers</vt:lpstr>
      <vt:lpstr>Kendo UI ASP.NET MVC Wrappers</vt:lpstr>
      <vt:lpstr>Homework</vt:lpstr>
      <vt:lpstr>Free Trainings @ Telerik Academy</vt:lpstr>
    </vt:vector>
  </TitlesOfParts>
  <Company>Telerik Corporation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Telerik Software Academy</dc:title>
  <dc:subject>Telerik Software Academy</dc:subject>
  <dc:creator>Nikolay.IT</dc:creator>
  <cp:keywords>telerik software academy, free courses for developers</cp:keywords>
  <cp:lastModifiedBy>Ivaylo Kenov</cp:lastModifiedBy>
  <cp:revision>917</cp:revision>
  <dcterms:created xsi:type="dcterms:W3CDTF">2007-12-08T16:03:35Z</dcterms:created>
  <dcterms:modified xsi:type="dcterms:W3CDTF">2013-09-21T14:46:56Z</dcterms:modified>
  <cp:category>software engineering</cp:category>
</cp:coreProperties>
</file>