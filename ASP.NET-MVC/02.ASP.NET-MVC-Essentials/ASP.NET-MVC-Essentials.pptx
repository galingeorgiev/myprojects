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5"/>
  </p:notesMasterIdLst>
  <p:handoutMasterIdLst>
    <p:handoutMasterId r:id="rId56"/>
  </p:handoutMasterIdLst>
  <p:sldIdLst>
    <p:sldId id="338" r:id="rId2"/>
    <p:sldId id="335" r:id="rId3"/>
    <p:sldId id="373" r:id="rId4"/>
    <p:sldId id="385" r:id="rId5"/>
    <p:sldId id="384" r:id="rId6"/>
    <p:sldId id="387" r:id="rId7"/>
    <p:sldId id="388" r:id="rId8"/>
    <p:sldId id="389" r:id="rId9"/>
    <p:sldId id="390" r:id="rId10"/>
    <p:sldId id="391" r:id="rId11"/>
    <p:sldId id="392" r:id="rId12"/>
    <p:sldId id="400" r:id="rId13"/>
    <p:sldId id="446" r:id="rId14"/>
    <p:sldId id="450" r:id="rId15"/>
    <p:sldId id="374" r:id="rId16"/>
    <p:sldId id="386" r:id="rId17"/>
    <p:sldId id="336" r:id="rId18"/>
    <p:sldId id="395" r:id="rId19"/>
    <p:sldId id="401" r:id="rId20"/>
    <p:sldId id="448" r:id="rId21"/>
    <p:sldId id="396" r:id="rId22"/>
    <p:sldId id="443" r:id="rId23"/>
    <p:sldId id="399" r:id="rId24"/>
    <p:sldId id="397" r:id="rId25"/>
    <p:sldId id="398" r:id="rId26"/>
    <p:sldId id="402" r:id="rId27"/>
    <p:sldId id="407" r:id="rId28"/>
    <p:sldId id="337" r:id="rId29"/>
    <p:sldId id="417" r:id="rId30"/>
    <p:sldId id="405" r:id="rId31"/>
    <p:sldId id="408" r:id="rId32"/>
    <p:sldId id="445" r:id="rId33"/>
    <p:sldId id="409" r:id="rId34"/>
    <p:sldId id="410" r:id="rId35"/>
    <p:sldId id="413" r:id="rId36"/>
    <p:sldId id="412" r:id="rId37"/>
    <p:sldId id="423" r:id="rId38"/>
    <p:sldId id="418" r:id="rId39"/>
    <p:sldId id="425" r:id="rId40"/>
    <p:sldId id="426" r:id="rId41"/>
    <p:sldId id="427" r:id="rId42"/>
    <p:sldId id="432" r:id="rId43"/>
    <p:sldId id="433" r:id="rId44"/>
    <p:sldId id="428" r:id="rId45"/>
    <p:sldId id="429" r:id="rId46"/>
    <p:sldId id="424" r:id="rId47"/>
    <p:sldId id="419" r:id="rId48"/>
    <p:sldId id="420" r:id="rId49"/>
    <p:sldId id="436" r:id="rId50"/>
    <p:sldId id="370" r:id="rId51"/>
    <p:sldId id="334" r:id="rId52"/>
    <p:sldId id="449" r:id="rId53"/>
    <p:sldId id="403" r:id="rId54"/>
  </p:sldIdLst>
  <p:sldSz cx="9144000" cy="6858000" type="screen4x3"/>
  <p:notesSz cx="6881813" cy="9296400"/>
  <p:custDataLst>
    <p:tags r:id="rId57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5pPr>
    <a:lvl6pPr marL="22860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6pPr>
    <a:lvl7pPr marL="27432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7pPr>
    <a:lvl8pPr marL="32004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8pPr>
    <a:lvl9pPr marL="36576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and Table of Contents" id="{F102DF86-0396-4FF6-82FB-92E785EDA54F}">
          <p14:sldIdLst>
            <p14:sldId id="338"/>
            <p14:sldId id="335"/>
          </p14:sldIdLst>
        </p14:section>
        <p14:section name="ASP.NET MVC Routing" id="{E4B1964F-0B58-4BAF-80A0-8CC6A976DD3E}">
          <p14:sldIdLst>
            <p14:sldId id="373"/>
            <p14:sldId id="385"/>
            <p14:sldId id="384"/>
            <p14:sldId id="387"/>
            <p14:sldId id="388"/>
            <p14:sldId id="389"/>
            <p14:sldId id="390"/>
            <p14:sldId id="391"/>
            <p14:sldId id="392"/>
            <p14:sldId id="400"/>
            <p14:sldId id="446"/>
            <p14:sldId id="450"/>
            <p14:sldId id="374"/>
            <p14:sldId id="386"/>
          </p14:sldIdLst>
        </p14:section>
        <p14:section name="Controllers and Actions" id="{48D1B37F-2AEC-4329-A78D-0EF2454D0412}">
          <p14:sldIdLst>
            <p14:sldId id="336"/>
            <p14:sldId id="395"/>
            <p14:sldId id="401"/>
            <p14:sldId id="448"/>
            <p14:sldId id="396"/>
            <p14:sldId id="443"/>
            <p14:sldId id="399"/>
            <p14:sldId id="397"/>
            <p14:sldId id="398"/>
            <p14:sldId id="402"/>
            <p14:sldId id="407"/>
          </p14:sldIdLst>
        </p14:section>
        <p14:section name="Razor Views" id="{7D9B0C67-5478-4A62-84D1-788B449A9966}">
          <p14:sldIdLst>
            <p14:sldId id="337"/>
            <p14:sldId id="417"/>
            <p14:sldId id="405"/>
            <p14:sldId id="408"/>
            <p14:sldId id="445"/>
            <p14:sldId id="409"/>
            <p14:sldId id="410"/>
            <p14:sldId id="413"/>
            <p14:sldId id="412"/>
            <p14:sldId id="423"/>
            <p14:sldId id="418"/>
            <p14:sldId id="425"/>
            <p14:sldId id="426"/>
            <p14:sldId id="427"/>
            <p14:sldId id="432"/>
            <p14:sldId id="433"/>
            <p14:sldId id="428"/>
            <p14:sldId id="429"/>
            <p14:sldId id="424"/>
          </p14:sldIdLst>
        </p14:section>
        <p14:section name="Areas" id="{4B8612F7-1EBE-4AB5-AE2C-84495B302C6F}">
          <p14:sldIdLst>
            <p14:sldId id="419"/>
            <p14:sldId id="420"/>
            <p14:sldId id="436"/>
          </p14:sldIdLst>
        </p14:section>
        <p14:section name="Summary, Questions, Homework" id="{BF8BA706-AE01-4B32-9077-3FC7844D949C}">
          <p14:sldIdLst>
            <p14:sldId id="370"/>
            <p14:sldId id="334"/>
            <p14:sldId id="449"/>
            <p14:sldId id="40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16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9BCC00"/>
    <a:srgbClr val="9ED000"/>
    <a:srgbClr val="F4FCD8"/>
    <a:srgbClr val="E8FFC8"/>
    <a:srgbClr val="FAF7C8"/>
    <a:srgbClr val="FAF8C8"/>
    <a:srgbClr val="F5FFC2"/>
    <a:srgbClr val="EBFFD2"/>
    <a:srgbClr val="EBFF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00" autoAdjust="0"/>
    <p:restoredTop sz="94468" autoAdjust="0"/>
  </p:normalViewPr>
  <p:slideViewPr>
    <p:cSldViewPr>
      <p:cViewPr varScale="1">
        <p:scale>
          <a:sx n="106" d="100"/>
          <a:sy n="106" d="100"/>
        </p:scale>
        <p:origin x="1032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2778" y="-96"/>
      </p:cViewPr>
      <p:guideLst>
        <p:guide orient="horz" pos="2928"/>
        <p:guide pos="216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gs" Target="tags/tag1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3897313" y="0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3BF7C7B5-275F-4D1F-9AB4-9255447DBC73}" type="datetimeFigureOut">
              <a:rPr lang="en-US"/>
              <a:pPr/>
              <a:t>9/22/2013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8829675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897313" y="8829675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3DADE544-1278-4EDA-8870-0A169B9A6D6D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2406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97313" y="0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9B46F231-FB2B-4655-A644-E2477325E686}" type="datetimeFigureOut">
              <a:rPr lang="en-US"/>
              <a:pPr/>
              <a:t>9/22/2013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7388" y="4416425"/>
            <a:ext cx="5507037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829675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97313" y="8829675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6FB4F6EA-423E-42DF-9292-215E7D886C4E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2019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1094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62433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dirty="0"/>
              <a:t>(c) 2008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E89B841-8A48-48DC-813C-151166E312BA}" type="slidenum">
              <a:rPr lang="en-US"/>
              <a:pPr/>
              <a:t>52</a:t>
            </a:fld>
            <a:r>
              <a:rPr lang="en-US" dirty="0"/>
              <a:t>##</a:t>
            </a:r>
          </a:p>
        </p:txBody>
      </p:sp>
      <p:sp>
        <p:nvSpPr>
          <p:cNvPr id="545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5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9625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hyperlink" Target="http://mvccourse.telerik.com/" TargetMode="External"/><Relationship Id="rId13" Type="http://schemas.openxmlformats.org/officeDocument/2006/relationships/hyperlink" Target="http://algoacademy.telerik.com/" TargetMode="External"/><Relationship Id="rId18" Type="http://schemas.openxmlformats.org/officeDocument/2006/relationships/hyperlink" Target="http://www.minkov.it/" TargetMode="External"/><Relationship Id="rId3" Type="http://schemas.openxmlformats.org/officeDocument/2006/relationships/hyperlink" Target="http://kursove-uroci-knigi-obuchenie-programirane-web-design-csharp.info/" TargetMode="External"/><Relationship Id="rId7" Type="http://schemas.openxmlformats.org/officeDocument/2006/relationships/hyperlink" Target="http://schoolacademy.telerik.com/" TargetMode="External"/><Relationship Id="rId12" Type="http://schemas.openxmlformats.org/officeDocument/2006/relationships/hyperlink" Target="http://codecourse.telerik.com/" TargetMode="External"/><Relationship Id="rId17" Type="http://schemas.openxmlformats.org/officeDocument/2006/relationships/hyperlink" Target="http://www.introprogramming.info/" TargetMode="External"/><Relationship Id="rId2" Type="http://schemas.openxmlformats.org/officeDocument/2006/relationships/hyperlink" Target="http://forums.academy.telerik.com/" TargetMode="External"/><Relationship Id="rId16" Type="http://schemas.openxmlformats.org/officeDocument/2006/relationships/hyperlink" Target="http://mobiledevcourse.telerik.com/" TargetMode="External"/><Relationship Id="rId20" Type="http://schemas.openxmlformats.org/officeDocument/2006/relationships/hyperlink" Target="http://csharpfundamentals.telerik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html5course.telerik.com/" TargetMode="External"/><Relationship Id="rId11" Type="http://schemas.openxmlformats.org/officeDocument/2006/relationships/hyperlink" Target="http://www.nakov.com/" TargetMode="External"/><Relationship Id="rId5" Type="http://schemas.openxmlformats.org/officeDocument/2006/relationships/hyperlink" Target="http://seocourse.telerik.com/" TargetMode="External"/><Relationship Id="rId15" Type="http://schemas.openxmlformats.org/officeDocument/2006/relationships/hyperlink" Target="http://academy.telerik.com/" TargetMode="External"/><Relationship Id="rId10" Type="http://schemas.openxmlformats.org/officeDocument/2006/relationships/hyperlink" Target="http://www.bgcoder.com/" TargetMode="External"/><Relationship Id="rId19" Type="http://schemas.openxmlformats.org/officeDocument/2006/relationships/hyperlink" Target="http://www.nikolay.it/" TargetMode="External"/><Relationship Id="rId4" Type="http://schemas.openxmlformats.org/officeDocument/2006/relationships/hyperlink" Target="http://www.telerik-kids.com/" TargetMode="External"/><Relationship Id="rId9" Type="http://schemas.openxmlformats.org/officeDocument/2006/relationships/hyperlink" Target="http://clouddevcourse.telerik.com/" TargetMode="External"/><Relationship Id="rId14" Type="http://schemas.openxmlformats.org/officeDocument/2006/relationships/hyperlink" Target="http://aspnetcourse.telerik.com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8"/>
          <p:cNvSpPr>
            <a:spLocks noGrp="1"/>
          </p:cNvSpPr>
          <p:nvPr>
            <p:ph type="ctrTitle" hasCustomPrompt="1"/>
          </p:nvPr>
        </p:nvSpPr>
        <p:spPr>
          <a:xfrm>
            <a:off x="457200" y="1524000"/>
            <a:ext cx="8229600" cy="1524000"/>
          </a:xfrm>
          <a:prstGeom prst="rect">
            <a:avLst/>
          </a:prstGeom>
        </p:spPr>
        <p:txBody>
          <a:bodyPr tIns="0" bIns="0" anchor="b" anchorCtr="0"/>
          <a:lstStyle>
            <a:lvl1pPr algn="r">
              <a:lnSpc>
                <a:spcPts val="5600"/>
              </a:lnSpc>
              <a:defRPr sz="5400" cap="none" baseline="0">
                <a:solidFill>
                  <a:srgbClr val="D4FF5B"/>
                </a:solidFill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  <a:reflection blurRad="120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7" name="Subtitle 16"/>
          <p:cNvSpPr>
            <a:spLocks noGrp="1"/>
          </p:cNvSpPr>
          <p:nvPr>
            <p:ph type="subTitle" idx="1" hasCustomPrompt="1"/>
          </p:nvPr>
        </p:nvSpPr>
        <p:spPr>
          <a:xfrm>
            <a:off x="457200" y="3240880"/>
            <a:ext cx="8229600" cy="569120"/>
          </a:xfrm>
          <a:prstGeom prst="rect">
            <a:avLst/>
          </a:prstGeom>
        </p:spPr>
        <p:txBody>
          <a:bodyPr lIns="90000" tIns="0" rIns="90000" bIns="0" anchor="ctr" anchorCtr="0"/>
          <a:lstStyle>
            <a:lvl1pPr marL="0" indent="0" algn="r">
              <a:buNone/>
              <a:defRPr sz="2800">
                <a:solidFill>
                  <a:srgbClr val="FAF8C8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Presentation Subtitle</a:t>
            </a:r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2667000" y="4114800"/>
            <a:ext cx="6248400" cy="0"/>
          </a:xfrm>
          <a:prstGeom prst="line">
            <a:avLst/>
          </a:prstGeom>
          <a:ln w="38100" cap="rnd">
            <a:solidFill>
              <a:schemeClr val="accent5">
                <a:lumMod val="20000"/>
                <a:lumOff val="80000"/>
                <a:alpha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4572000"/>
            <a:ext cx="3352800" cy="533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800" b="1" kern="1200" dirty="0" smtClean="0">
                <a:solidFill>
                  <a:srgbClr val="DEFF9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Author Name</a:t>
            </a:r>
            <a:endParaRPr lang="en-US" dirty="0"/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5833646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800" b="1" kern="1200" dirty="0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marL="319088" lvl="0" indent="-319088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1800" b="1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Company Name</a:t>
            </a:r>
            <a:endParaRPr lang="en-US" sz="1800" b="1" dirty="0">
              <a:solidFill>
                <a:srgbClr val="0EFE5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6138446"/>
            <a:ext cx="335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1600" b="1" kern="1200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algn="l"/>
            <a:r>
              <a:rPr lang="en-US" sz="1600" b="1" dirty="0" smtClean="0"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Company Web Site</a:t>
            </a:r>
            <a:endParaRPr lang="en-US" sz="1600" b="1" dirty="0"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5029200"/>
            <a:ext cx="335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300" b="1" kern="1200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Position</a:t>
            </a:r>
            <a:endParaRPr lang="en-US" dirty="0"/>
          </a:p>
        </p:txBody>
      </p:sp>
      <p:sp>
        <p:nvSpPr>
          <p:cNvPr id="9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5405735"/>
            <a:ext cx="335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Web Site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4267200" y="4572000"/>
            <a:ext cx="4419600" cy="1905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 smtClean="0"/>
              <a:t>Insert a Picture Here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762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 rtl="0" eaLnBrk="0" fontAlgn="base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lang="en-US" sz="4000" b="1" kern="1200" baseline="0" dirty="0">
                <a:ln w="500"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8600" y="914400"/>
            <a:ext cx="8686800" cy="5791200"/>
          </a:xfrm>
          <a:prstGeom prst="rect">
            <a:avLst/>
          </a:prstGeom>
        </p:spPr>
        <p:txBody>
          <a:bodyPr/>
          <a:lstStyle>
            <a:lvl1pPr marL="282575" indent="-2825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tabLst>
                <a:tab pos="282575" algn="l"/>
              </a:tabLst>
              <a:defRPr sz="3200">
                <a:solidFill>
                  <a:srgbClr val="EBFFD2"/>
                </a:solidFill>
              </a:defRPr>
            </a:lvl1pPr>
            <a:lvl2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defRPr sz="3000">
                <a:solidFill>
                  <a:schemeClr val="tx1">
                    <a:lumMod val="40000"/>
                    <a:lumOff val="60000"/>
                  </a:schemeClr>
                </a:solidFill>
              </a:defRPr>
            </a:lvl2pPr>
            <a:lvl3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defRPr sz="2800">
                <a:solidFill>
                  <a:srgbClr val="F5FFC2"/>
                </a:solidFill>
              </a:defRPr>
            </a:lvl3pPr>
            <a:lvl4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defRPr sz="2600">
                <a:solidFill>
                  <a:schemeClr val="tx1">
                    <a:lumMod val="40000"/>
                    <a:lumOff val="60000"/>
                  </a:schemeClr>
                </a:solidFill>
              </a:defRPr>
            </a:lvl4pPr>
            <a:lvl5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defRPr sz="2400">
                <a:solidFill>
                  <a:schemeClr val="tx1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First Level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  <a:prstGeom prst="rect">
            <a:avLst/>
          </a:prstGeom>
        </p:spPr>
        <p:txBody>
          <a:bodyPr anchor="ctr" anchorCtr="0"/>
          <a:lstStyle>
            <a:lvl1pPr algn="r">
              <a:defRPr sz="1100"/>
            </a:lvl1pPr>
          </a:lstStyle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762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ts val="4000"/>
              </a:lnSpc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8600" y="990600"/>
            <a:ext cx="8686800" cy="579646"/>
          </a:xfrm>
          <a:prstGeom prst="rect">
            <a:avLst/>
          </a:prstGeom>
        </p:spPr>
        <p:txBody>
          <a:bodyPr>
            <a:spAutoFit/>
          </a:bodyPr>
          <a:lstStyle>
            <a:lvl1pPr marL="319088" marR="0" indent="-3190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buFont typeface="Wingdings 2" pitchFamily="18" charset="2"/>
              <a:buChar char=""/>
              <a:tabLst/>
              <a:defRPr sz="3000" baseline="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  <a:lvl2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defRPr sz="3000">
                <a:solidFill>
                  <a:schemeClr val="tx1">
                    <a:lumMod val="40000"/>
                    <a:lumOff val="60000"/>
                  </a:schemeClr>
                </a:solidFill>
              </a:defRPr>
            </a:lvl2pPr>
            <a:lvl3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defRPr sz="2800">
                <a:solidFill>
                  <a:schemeClr val="tx1">
                    <a:lumMod val="40000"/>
                    <a:lumOff val="60000"/>
                  </a:schemeClr>
                </a:solidFill>
              </a:defRPr>
            </a:lvl3pPr>
            <a:lvl4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defRPr sz="2600">
                <a:solidFill>
                  <a:schemeClr val="tx1">
                    <a:lumMod val="40000"/>
                    <a:lumOff val="60000"/>
                  </a:schemeClr>
                </a:solidFill>
              </a:defRPr>
            </a:lvl4pPr>
            <a:lvl5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defRPr sz="2400">
                <a:solidFill>
                  <a:schemeClr val="tx1">
                    <a:lumMod val="40000"/>
                    <a:lumOff val="60000"/>
                  </a:schemeClr>
                </a:solidFill>
              </a:defRPr>
            </a:lvl5pPr>
          </a:lstStyle>
          <a:p>
            <a:pPr marL="319088" marR="0" lvl="0" indent="-3190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buFont typeface="Wingdings 2" pitchFamily="18" charset="2"/>
              <a:buChar char=""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FF66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First Level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533400" y="1752600"/>
            <a:ext cx="8077200" cy="470898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lang="en-US" sz="2000" smtClean="0">
                <a:solidFill>
                  <a:srgbClr val="8CF4F2"/>
                </a:solidFill>
                <a:latin typeface="Consolas" pitchFamily="49" charset="0"/>
                <a:cs typeface="Consolas" pitchFamily="49" charset="0"/>
              </a:defRPr>
            </a:lvl1pPr>
          </a:lstStyle>
          <a:p>
            <a:pPr lvl="0"/>
            <a:r>
              <a:rPr lang="en-US" noProof="1" smtClean="0"/>
              <a:t>Enter source code here</a:t>
            </a:r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  <a:prstGeom prst="rect">
            <a:avLst/>
          </a:prstGeom>
        </p:spPr>
        <p:txBody>
          <a:bodyPr anchor="ctr" anchorCtr="0"/>
          <a:lstStyle>
            <a:lvl1pPr algn="r">
              <a:defRPr sz="1100"/>
            </a:lvl1pPr>
          </a:lstStyle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685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 hasCustomPrompt="1"/>
          </p:nvPr>
        </p:nvSpPr>
        <p:spPr>
          <a:xfrm>
            <a:off x="609600" y="2743201"/>
            <a:ext cx="7924800" cy="685800"/>
          </a:xfrm>
          <a:prstGeom prst="rect">
            <a:avLst/>
          </a:prstGeom>
        </p:spPr>
        <p:txBody>
          <a:bodyPr tIns="0" bIns="0" anchor="ctr" anchorCtr="0"/>
          <a:lstStyle>
            <a:lvl1pPr algn="ctr">
              <a:lnSpc>
                <a:spcPts val="5600"/>
              </a:lnSpc>
              <a:defRPr sz="5000" cap="none" baseline="0"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  <a:reflection blurRad="120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Section Title</a:t>
            </a:r>
            <a:endParaRPr lang="en-US" dirty="0"/>
          </a:p>
        </p:txBody>
      </p:sp>
      <p:sp>
        <p:nvSpPr>
          <p:cNvPr id="17" name="Subtitle 16"/>
          <p:cNvSpPr>
            <a:spLocks noGrp="1"/>
          </p:cNvSpPr>
          <p:nvPr>
            <p:ph type="subTitle" idx="1" hasCustomPrompt="1"/>
          </p:nvPr>
        </p:nvSpPr>
        <p:spPr>
          <a:xfrm>
            <a:off x="609600" y="3469480"/>
            <a:ext cx="7924800" cy="56912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800" b="1" kern="1200" baseline="0" dirty="0">
                <a:solidFill>
                  <a:srgbClr val="FAF7C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Section Subtitle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/>
          <p:cNvGrpSpPr/>
          <p:nvPr userDrawn="1"/>
        </p:nvGrpSpPr>
        <p:grpSpPr>
          <a:xfrm>
            <a:off x="130434" y="6373882"/>
            <a:ext cx="1816798" cy="331718"/>
            <a:chOff x="1236228" y="1523999"/>
            <a:chExt cx="4351212" cy="3261410"/>
          </a:xfrm>
          <a:noFill/>
        </p:grpSpPr>
        <p:sp>
          <p:nvSpPr>
            <p:cNvPr id="31" name="TextBox 30">
              <a:hlinkClick r:id="rId2" tooltip="Форум за програмиране и уеб дизайн - дискусии, съвети, въпроси и отговори @ Софтуерна академия на Телерик"/>
            </p:cNvPr>
            <p:cNvSpPr txBox="1"/>
            <p:nvPr userDrawn="1"/>
          </p:nvSpPr>
          <p:spPr>
            <a:xfrm flipH="1">
              <a:off x="3394420" y="1733044"/>
              <a:ext cx="1528760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форум програмиране, форум уеб дизайн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2" name="TextBox 31">
              <a:hlinkClick r:id="rId3" tooltip="Курсове и уроци по програмиране, уеб дизайн, разработка на софтуер и информационни технологии - лекции, видео уроци, обучения - безплатно"/>
            </p:cNvPr>
            <p:cNvSpPr txBox="1"/>
            <p:nvPr userDrawn="1"/>
          </p:nvSpPr>
          <p:spPr>
            <a:xfrm flipH="1">
              <a:off x="1350512" y="1528531"/>
              <a:ext cx="2008656" cy="1149887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курсове и уроци по програмиране, уеб дизайн – безплатно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3" name="TextBox 32">
              <a:hlinkClick r:id="rId4" tooltip="Програмиране за деца - безплатно в Телерик кидс академия"/>
            </p:cNvPr>
            <p:cNvSpPr txBox="1"/>
            <p:nvPr userDrawn="1"/>
          </p:nvSpPr>
          <p:spPr>
            <a:xfrm flipH="1">
              <a:off x="1538277" y="2175145"/>
              <a:ext cx="181669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програмиране за деца – безплатни курсове и уроци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4" name="TextBox 33">
              <a:hlinkClick r:id="rId5" tooltip="Безплатен SEO курс - оптимизация за търсачки, уроци по SEO"/>
            </p:cNvPr>
            <p:cNvSpPr txBox="1"/>
            <p:nvPr userDrawn="1"/>
          </p:nvSpPr>
          <p:spPr>
            <a:xfrm flipH="1">
              <a:off x="1660733" y="2421354"/>
              <a:ext cx="169768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 algn="l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безплатен SEO курс - оптимизация за търсачки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5" name="TextBox 34">
              <a:hlinkClick r:id="rId6" tooltip="Безплатен курс &quot;Уеб дизайн с HTML, CSS и JavaScript&quot; - уроци по правене на уеб сайтове, HTML, CSS, Photoshop, JavaScript и CMS системи"/>
            </p:cNvPr>
            <p:cNvSpPr txBox="1"/>
            <p:nvPr userDrawn="1"/>
          </p:nvSpPr>
          <p:spPr>
            <a:xfrm flipH="1">
              <a:off x="1448482" y="2878556"/>
              <a:ext cx="190883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уроци по уеб дизайн, HTML, CSS, JavaScript, Photoshop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6" name="TextBox 35">
              <a:hlinkClick r:id="rId7" tooltip="Училищна софтуерна академия - безплатни уроци по програмиране и уеб дизайн"/>
            </p:cNvPr>
            <p:cNvSpPr txBox="1"/>
            <p:nvPr userDrawn="1"/>
          </p:nvSpPr>
          <p:spPr>
            <a:xfrm flipH="1">
              <a:off x="1636239" y="1946534"/>
              <a:ext cx="1747592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l"/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уроци по програмиране и уеб дизайн за ученици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7" name="TextBox 36">
              <a:hlinkClick r:id="rId8" tooltip="Безплатен курс &quot;Програмиране с ASP.NET MVC&quot; - уеб технологии, бази данни, C#, .NET, ASP.NET MVC"/>
            </p:cNvPr>
            <p:cNvSpPr txBox="1"/>
            <p:nvPr userDrawn="1"/>
          </p:nvSpPr>
          <p:spPr>
            <a:xfrm flipH="1">
              <a:off x="3402824" y="2230065"/>
              <a:ext cx="193955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ASP.NET MVC курс – HTML, SQL, C#, .NET, ASP.NET MVC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8" name="TextBox 37">
              <a:hlinkClick r:id="rId9" tooltip="Безплатен курс &quot;Разработка на софтуер в Cloud среда&quot; - AppEngine, AWS, Azure"/>
            </p:cNvPr>
            <p:cNvSpPr txBox="1"/>
            <p:nvPr userDrawn="1"/>
          </p:nvSpPr>
          <p:spPr>
            <a:xfrm flipH="1">
              <a:off x="1440310" y="3574997"/>
              <a:ext cx="1881966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безплатен курс "Разработка на софтуер в cloud среда"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9" name="TextBox 38">
              <a:hlinkClick r:id="rId10" tooltip="BG Coder - онлайн състезателна система - тренировки за състезания по програмиране - online judge"/>
            </p:cNvPr>
            <p:cNvSpPr txBox="1"/>
            <p:nvPr userDrawn="1"/>
          </p:nvSpPr>
          <p:spPr>
            <a:xfrm flipH="1">
              <a:off x="3389110" y="1523999"/>
              <a:ext cx="187428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BG Coder - онлайн състезателна система - online judge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0" name="TextBox 39">
              <a:hlinkClick r:id="rId11" tooltip="Светлин Наков - курсове и уроци по програмиране, уеб дизайн, книги, обучения - безплатно"/>
            </p:cNvPr>
            <p:cNvSpPr txBox="1"/>
            <p:nvPr userDrawn="1"/>
          </p:nvSpPr>
          <p:spPr>
            <a:xfrm flipH="1">
              <a:off x="1236228" y="2649965"/>
              <a:ext cx="212383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курсове и уроци по програмиране, книги – безплатно от Наков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1" name="TextBox 40">
              <a:hlinkClick r:id="rId12" tooltip="Безплатен курс &quot;Качествен програмен код&quot;"/>
            </p:cNvPr>
            <p:cNvSpPr txBox="1"/>
            <p:nvPr userDrawn="1"/>
          </p:nvSpPr>
          <p:spPr>
            <a:xfrm flipH="1">
              <a:off x="1766855" y="3335748"/>
              <a:ext cx="1594026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безплатен курс "Качествен програмен код"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2" name="TextBox 41">
              <a:hlinkClick r:id="rId13" tooltip="Алго академия - Академия по алгоритмично програмиране - безплатни уроци по алгоритми и структури от данни, състезателно програмиране и състезания"/>
            </p:cNvPr>
            <p:cNvSpPr txBox="1"/>
            <p:nvPr userDrawn="1"/>
          </p:nvSpPr>
          <p:spPr>
            <a:xfrm flipH="1">
              <a:off x="3407676" y="2461282"/>
              <a:ext cx="197794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алго академия – състезателно програмиране, състезания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3" name="TextBox 42">
              <a:hlinkClick r:id="rId14" tooltip="Безплатен ASP.NET курс - уеб програмиране, бази данни, C#, .NET, ASP.NET"/>
            </p:cNvPr>
            <p:cNvSpPr txBox="1"/>
            <p:nvPr userDrawn="1"/>
          </p:nvSpPr>
          <p:spPr>
            <a:xfrm flipH="1">
              <a:off x="3406019" y="1985429"/>
              <a:ext cx="218142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ASP.NET курс - уеб програмиране, бази данни, C#, .NET, ASP.NET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4" name="TextBox 43">
              <a:hlinkClick r:id="rId15" tooltip="Софтуерна академия на Телерик - безплатни курсове и уроци по програмиране"/>
            </p:cNvPr>
            <p:cNvSpPr txBox="1"/>
            <p:nvPr userDrawn="1"/>
          </p:nvSpPr>
          <p:spPr>
            <a:xfrm flipH="1">
              <a:off x="1504800" y="1717933"/>
              <a:ext cx="1901159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200"/>
              </a:lvl1pPr>
            </a:lstStyle>
            <a:p>
              <a:pPr lvl="0" algn="l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курсове и уроци по </a:t>
              </a:r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програмиране – Телерик академия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5" name="TextBox 44">
              <a:hlinkClick r:id="rId16" tooltip="Безплатен курс &quot;Разработка на мобилни приложения&quot; - iPhone, Android, Windows Phone, PhoneGap, HTML5, jQuery, AJAX"/>
            </p:cNvPr>
            <p:cNvSpPr txBox="1"/>
            <p:nvPr userDrawn="1"/>
          </p:nvSpPr>
          <p:spPr>
            <a:xfrm flipH="1">
              <a:off x="3404043" y="2718405"/>
              <a:ext cx="2058568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 мобилни приложения с iPhone, Android, WP7, PhoneGap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6" name="TextBox 45">
              <a:hlinkClick r:id="rId17" tooltip="Free C# Programming Book by Svetlin Nakov - безплатна C# книга от Светлин Наков, книга C#, книга Java, безплатна книга"/>
            </p:cNvPr>
            <p:cNvSpPr txBox="1"/>
            <p:nvPr userDrawn="1"/>
          </p:nvSpPr>
          <p:spPr>
            <a:xfrm flipH="1">
              <a:off x="1440317" y="3117785"/>
              <a:ext cx="1901159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free C# book, безплатна книга C#, книга Java, книга C#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7" name="TextBox 46">
              <a:hlinkClick r:id="rId18" tooltip="Дончо Минков - сайт за програмиране"/>
            </p:cNvPr>
            <p:cNvSpPr txBox="1"/>
            <p:nvPr userDrawn="1"/>
          </p:nvSpPr>
          <p:spPr>
            <a:xfrm flipH="1">
              <a:off x="3401370" y="2963513"/>
              <a:ext cx="1475012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600">
                  <a:ln w="0">
                    <a:solidFill>
                      <a:schemeClr val="tx1"/>
                    </a:solidFill>
                  </a:ln>
                  <a:effectLst/>
                </a:defRPr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</a:rPr>
                <a:t>Дончо Минков - сайт за програмиране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</a:endParaRPr>
            </a:p>
          </p:txBody>
        </p:sp>
        <p:sp>
          <p:nvSpPr>
            <p:cNvPr id="48" name="TextBox 47">
              <a:hlinkClick r:id="rId19" tooltip="Николай Костов - блог за програмиране"/>
            </p:cNvPr>
            <p:cNvSpPr txBox="1"/>
            <p:nvPr userDrawn="1"/>
          </p:nvSpPr>
          <p:spPr>
            <a:xfrm flipH="1">
              <a:off x="3401423" y="3217864"/>
              <a:ext cx="151340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l"/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Николай Костов - блог за програмиране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9" name="TextBox 48">
              <a:hlinkClick r:id="rId20" tooltip="безплатен C# курс в софтуерната академия на Наков"/>
            </p:cNvPr>
            <p:cNvSpPr txBox="1"/>
            <p:nvPr userDrawn="1"/>
          </p:nvSpPr>
          <p:spPr>
            <a:xfrm flipH="1">
              <a:off x="3398079" y="3548402"/>
              <a:ext cx="135983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600">
                  <a:ln w="0">
                    <a:solidFill>
                      <a:schemeClr val="tx1"/>
                    </a:solidFill>
                  </a:ln>
                  <a:effectLst/>
                </a:defRPr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</a:rPr>
                <a:t>C# курс, програмиране, безплатно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</a:endParaRPr>
            </a:p>
          </p:txBody>
        </p:sp>
      </p:grp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1524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 rtl="0" eaLnBrk="0" fontAlgn="base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lang="en-US" sz="4000" b="1" kern="1200" baseline="0" dirty="0">
                <a:ln w="500"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9" name="TextBox 8">
            <a:hlinkClick r:id="rId2" tooltip="Форум за програмиране и уеб дизайн - дискусии, съвети, въпроси и отговори @ Софтуерна академия на Телерик"/>
          </p:cNvPr>
          <p:cNvSpPr txBox="1"/>
          <p:nvPr userDrawn="1"/>
        </p:nvSpPr>
        <p:spPr>
          <a:xfrm rot="12041701" flipH="1">
            <a:off x="7471619" y="3840481"/>
            <a:ext cx="890352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9600" b="1" dirty="0" smtClean="0">
                <a:solidFill>
                  <a:schemeClr val="tx1">
                    <a:lumMod val="7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9600" b="1" dirty="0">
              <a:solidFill>
                <a:schemeClr val="tx1">
                  <a:lumMod val="75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1" name="TextBox 10">
            <a:hlinkClick r:id="rId4" tooltip="Програмиране за деца - безплатно в Телерик кидс академия"/>
          </p:cNvPr>
          <p:cNvSpPr txBox="1"/>
          <p:nvPr userDrawn="1"/>
        </p:nvSpPr>
        <p:spPr>
          <a:xfrm rot="9535351" flipH="1">
            <a:off x="923386" y="1861198"/>
            <a:ext cx="673363" cy="14465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isometricOffAxis1Righ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8800" dirty="0" smtClean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8800" dirty="0">
              <a:solidFill>
                <a:schemeClr val="accent5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2" name="TextBox 11">
            <a:hlinkClick r:id="rId5" tooltip="Безплатен SEO курс - оптимизация за търсачки, уроци по SEO"/>
          </p:cNvPr>
          <p:cNvSpPr txBox="1"/>
          <p:nvPr userDrawn="1"/>
        </p:nvSpPr>
        <p:spPr>
          <a:xfrm rot="16938170" flipH="1">
            <a:off x="4905823" y="966542"/>
            <a:ext cx="859648" cy="19928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11500" b="1" dirty="0" smtClean="0">
                <a:solidFill>
                  <a:srgbClr val="FF831D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11500" b="1" dirty="0">
              <a:solidFill>
                <a:srgbClr val="FF831D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3" name="TextBox 12">
            <a:hlinkClick r:id="rId6" tooltip="Безплатен курс &quot;Уеб дизайн с HTML, CSS и JavaScript&quot; - уроци по правене на уеб сайтове, HTML, CSS, Photoshop, JavaScript и CMS системи"/>
          </p:cNvPr>
          <p:cNvSpPr txBox="1"/>
          <p:nvPr userDrawn="1"/>
        </p:nvSpPr>
        <p:spPr>
          <a:xfrm rot="19836951" flipH="1">
            <a:off x="7379010" y="1495154"/>
            <a:ext cx="949687" cy="206210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128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innerShdw blurRad="63500" dist="50800" dir="8100000">
                    <a:prstClr val="black">
                      <a:alpha val="50000"/>
                    </a:prstClr>
                  </a:innerShdw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128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innerShdw blurRad="63500" dist="50800" dir="8100000">
                  <a:prstClr val="black">
                    <a:alpha val="50000"/>
                  </a:prstClr>
                </a:innerShd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4" name="TextBox 13">
            <a:hlinkClick r:id="rId7" tooltip="Училищна софтуерна академия - безплатни уроци по програмиране и уеб дизайн"/>
          </p:cNvPr>
          <p:cNvSpPr txBox="1"/>
          <p:nvPr userDrawn="1"/>
        </p:nvSpPr>
        <p:spPr>
          <a:xfrm rot="2233443" flipH="1">
            <a:off x="2139218" y="940065"/>
            <a:ext cx="445351" cy="95410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perspectiveHeroicExtremeLeftFacing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5600" dirty="0" smtClean="0">
                <a:solidFill>
                  <a:schemeClr val="tx2">
                    <a:lumMod val="7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5600" dirty="0">
              <a:solidFill>
                <a:schemeClr val="tx2">
                  <a:lumMod val="75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5" name="TextBox 14">
            <a:hlinkClick r:id="rId8" tooltip="Безплатен курс &quot;Програмиране с ASP.NET MVC&quot; - уеб технологии, бази данни, C#, .NET, ASP.NET MVC"/>
          </p:cNvPr>
          <p:cNvSpPr txBox="1"/>
          <p:nvPr userDrawn="1"/>
        </p:nvSpPr>
        <p:spPr>
          <a:xfrm rot="8530737" flipH="1">
            <a:off x="4757100" y="4722613"/>
            <a:ext cx="643173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9600" dirty="0" smtClean="0">
                <a:solidFill>
                  <a:srgbClr val="FF4A37"/>
                </a:solidFill>
                <a:effectLst>
                  <a:reflection blurRad="6350" stA="60000" endA="900" endPos="60000" dist="29997" dir="5400000" sy="-100000" algn="bl" rotWithShape="0"/>
                </a:effectLst>
              </a:rPr>
              <a:t>?</a:t>
            </a:r>
            <a:endParaRPr lang="en-US" sz="9600" dirty="0">
              <a:solidFill>
                <a:srgbClr val="FF4A37"/>
              </a:solidFill>
              <a:effectLst>
                <a:reflection blurRad="6350" stA="60000" endA="900" endPos="60000" dist="29997" dir="5400000" sy="-100000" algn="bl" rotWithShape="0"/>
              </a:effectLst>
            </a:endParaRPr>
          </a:p>
        </p:txBody>
      </p:sp>
      <p:sp>
        <p:nvSpPr>
          <p:cNvPr id="16" name="TextBox 15">
            <a:hlinkClick r:id="rId9" tooltip="Безплатен курс &quot;Разработка на софтуер в Cloud среда&quot; - AppEngine, AWS, Azure"/>
          </p:cNvPr>
          <p:cNvSpPr txBox="1"/>
          <p:nvPr userDrawn="1"/>
        </p:nvSpPr>
        <p:spPr>
          <a:xfrm rot="12627025" flipH="1">
            <a:off x="2910497" y="4405707"/>
            <a:ext cx="386488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600" dirty="0" smtClean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600" dirty="0">
              <a:solidFill>
                <a:schemeClr val="tx2">
                  <a:lumMod val="40000"/>
                  <a:lumOff val="6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7" name="TextBox 16">
            <a:hlinkClick r:id="rId10" tooltip="BG Coder - онлайн състезателна система - тренировки за състезания по програмиране - online judge"/>
          </p:cNvPr>
          <p:cNvSpPr txBox="1"/>
          <p:nvPr userDrawn="1"/>
        </p:nvSpPr>
        <p:spPr>
          <a:xfrm rot="1186146" flipH="1">
            <a:off x="6185957" y="4125718"/>
            <a:ext cx="499379" cy="110799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</a:sp3d>
          </a:bodyPr>
          <a:lstStyle/>
          <a:p>
            <a:r>
              <a:rPr lang="en-US" sz="6600" dirty="0" smtClean="0">
                <a:solidFill>
                  <a:srgbClr val="9966FF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6600" dirty="0">
              <a:solidFill>
                <a:srgbClr val="9966FF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8" name="TextBox 17">
            <a:hlinkClick r:id="rId11" tooltip="Светлин Наков - курсове и уроци по програмиране, уеб дизайн, книги, обучения - безплатно"/>
          </p:cNvPr>
          <p:cNvSpPr txBox="1"/>
          <p:nvPr userDrawn="1"/>
        </p:nvSpPr>
        <p:spPr>
          <a:xfrm rot="19460650" flipH="1">
            <a:off x="3150206" y="1979501"/>
            <a:ext cx="489197" cy="769441"/>
          </a:xfrm>
          <a:prstGeom prst="rect">
            <a:avLst/>
          </a:prstGeom>
          <a:noFill/>
        </p:spPr>
        <p:txBody>
          <a:bodyPr wrap="square" rtlCol="0">
            <a:prstTxWarp prst="textInflate">
              <a:avLst/>
            </a:prstTxWarp>
            <a:spAutoFit/>
            <a:scene3d>
              <a:camera prst="perspectiveRelaxedModerately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400" dirty="0" smtClean="0">
                <a:solidFill>
                  <a:srgbClr val="FF6699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400" dirty="0">
              <a:solidFill>
                <a:srgbClr val="FF6699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9" name="TextBox 18">
            <a:hlinkClick r:id="rId12" tooltip="Безплатен курс &quot;Качествен програмен код&quot;"/>
          </p:cNvPr>
          <p:cNvSpPr txBox="1"/>
          <p:nvPr userDrawn="1"/>
        </p:nvSpPr>
        <p:spPr>
          <a:xfrm rot="18277140" flipH="1">
            <a:off x="405234" y="3272336"/>
            <a:ext cx="413607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600" dirty="0" smtClean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600" dirty="0">
              <a:solidFill>
                <a:schemeClr val="tx2">
                  <a:lumMod val="40000"/>
                  <a:lumOff val="6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0" name="TextBox 19">
            <a:hlinkClick r:id="rId13" tooltip="Алго академия - Академия по алгоритмично програмиране - безплатни уроци по алгоритми и структури от данни, състезателно програмиране и състезания"/>
          </p:cNvPr>
          <p:cNvSpPr txBox="1"/>
          <p:nvPr userDrawn="1"/>
        </p:nvSpPr>
        <p:spPr>
          <a:xfrm rot="18695734" flipH="1">
            <a:off x="3127407" y="5396299"/>
            <a:ext cx="5481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?</a:t>
            </a:r>
            <a:endParaRPr lang="en-US" sz="60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21" name="TextBox 20">
            <a:hlinkClick r:id="rId14" tooltip="Безплатен ASP.NET курс - уеб програмиране, бази данни, C#, .NET, ASP.NET"/>
          </p:cNvPr>
          <p:cNvSpPr txBox="1"/>
          <p:nvPr userDrawn="1"/>
        </p:nvSpPr>
        <p:spPr>
          <a:xfrm rot="10134629" flipH="1">
            <a:off x="6730680" y="5522529"/>
            <a:ext cx="44439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000" dirty="0" smtClean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000" dirty="0"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2" name="TextBox 21">
            <a:hlinkClick r:id="rId15" tooltip="Софтуерна академия на Телерик - безплатни курсове и уроци по програмиране"/>
          </p:cNvPr>
          <p:cNvSpPr txBox="1"/>
          <p:nvPr userDrawn="1"/>
        </p:nvSpPr>
        <p:spPr>
          <a:xfrm rot="12126217" flipH="1">
            <a:off x="559977" y="930479"/>
            <a:ext cx="387894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en-US" sz="4000" b="1" spc="150" dirty="0" smtClean="0">
                <a:ln w="1143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</a:rPr>
              <a:t>?</a:t>
            </a:r>
            <a:endParaRPr lang="en-US" sz="4000" b="1" spc="150" dirty="0">
              <a:ln w="1143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  <p:sp>
        <p:nvSpPr>
          <p:cNvPr id="23" name="TextBox 22">
            <a:hlinkClick r:id="rId16" tooltip="Безплатен курс &quot;Разработка на мобилни приложения&quot; - iPhone, Android, Windows Phone, PhoneGap, HTML5, jQuery, AJAX"/>
          </p:cNvPr>
          <p:cNvSpPr txBox="1"/>
          <p:nvPr userDrawn="1"/>
        </p:nvSpPr>
        <p:spPr>
          <a:xfrm rot="20840689" flipH="1">
            <a:off x="8186733" y="5517701"/>
            <a:ext cx="357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ln w="19050">
                  <a:solidFill>
                    <a:schemeClr val="accent4">
                      <a:lumMod val="75000"/>
                      <a:alpha val="50000"/>
                    </a:schemeClr>
                  </a:solidFill>
                  <a:prstDash val="solid"/>
                  <a:miter lim="800000"/>
                </a:ln>
                <a:solidFill>
                  <a:schemeClr val="accent4">
                    <a:lumMod val="20000"/>
                    <a:lumOff val="80000"/>
                    <a:alpha val="25000"/>
                  </a:schemeClr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?</a:t>
            </a:r>
            <a:endParaRPr lang="en-US" sz="4000" b="1" dirty="0">
              <a:ln w="19050">
                <a:solidFill>
                  <a:schemeClr val="accent4">
                    <a:lumMod val="75000"/>
                    <a:alpha val="50000"/>
                  </a:schemeClr>
                </a:solidFill>
                <a:prstDash val="solid"/>
                <a:miter lim="800000"/>
              </a:ln>
              <a:solidFill>
                <a:schemeClr val="accent4">
                  <a:lumMod val="20000"/>
                  <a:lumOff val="80000"/>
                  <a:alpha val="25000"/>
                </a:schemeClr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4" name="TextBox 23">
            <a:hlinkClick r:id="rId17" tooltip="Free C# Programming Book by Svetlin Nakov - безплатна C# книга от Светлин Наков, книга C#, книга Java, безплатна книга"/>
          </p:cNvPr>
          <p:cNvSpPr txBox="1"/>
          <p:nvPr userDrawn="1"/>
        </p:nvSpPr>
        <p:spPr>
          <a:xfrm rot="15426793" flipH="1">
            <a:off x="1145826" y="4072253"/>
            <a:ext cx="369652" cy="76944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400" dirty="0" smtClean="0">
                <a:ln>
                  <a:solidFill>
                    <a:schemeClr val="accent2">
                      <a:lumMod val="40000"/>
                      <a:lumOff val="60000"/>
                    </a:schemeClr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400" dirty="0"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5" name="TextBox 24">
            <a:hlinkClick r:id="rId18" tooltip="Дончо Минков - сайт за програмиране"/>
          </p:cNvPr>
          <p:cNvSpPr txBox="1"/>
          <p:nvPr userDrawn="1"/>
        </p:nvSpPr>
        <p:spPr>
          <a:xfrm rot="11071760" flipH="1">
            <a:off x="6518175" y="1140358"/>
            <a:ext cx="345408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2800" dirty="0" smtClean="0">
                <a:ln>
                  <a:solidFill>
                    <a:schemeClr val="tx1">
                      <a:lumMod val="75000"/>
                    </a:schemeClr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2800" dirty="0">
              <a:ln>
                <a:solidFill>
                  <a:schemeClr val="tx1">
                    <a:lumMod val="75000"/>
                  </a:schemeClr>
                </a:solidFill>
              </a:ln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6" name="TextBox 25">
            <a:hlinkClick r:id="rId19" tooltip="Николай Костов - блог за програмиране"/>
          </p:cNvPr>
          <p:cNvSpPr txBox="1"/>
          <p:nvPr userDrawn="1"/>
        </p:nvSpPr>
        <p:spPr>
          <a:xfrm rot="300526" flipH="1">
            <a:off x="3902297" y="1278821"/>
            <a:ext cx="345408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2800" b="1" dirty="0" smtClean="0">
                <a:ln w="31550" cmpd="sng">
                  <a:solidFill>
                    <a:schemeClr val="tx2">
                      <a:lumMod val="20000"/>
                      <a:lumOff val="80000"/>
                    </a:schemeClr>
                  </a:solidFill>
                  <a:prstDash val="solid"/>
                </a:ln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?</a:t>
            </a:r>
            <a:endParaRPr lang="en-US" sz="2800" dirty="0">
              <a:ln w="31550" cmpd="sng">
                <a:solidFill>
                  <a:schemeClr val="tx2">
                    <a:lumMod val="20000"/>
                    <a:lumOff val="80000"/>
                  </a:schemeClr>
                </a:solidFill>
                <a:prstDash val="solid"/>
              </a:ln>
              <a:solidFill>
                <a:schemeClr val="tx1">
                  <a:lumMod val="20000"/>
                  <a:lumOff val="8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7" name="TextBox 26">
            <a:hlinkClick r:id="rId20" tooltip="C# курс - програмиране, уроци, видео, лекции от Наков"/>
          </p:cNvPr>
          <p:cNvSpPr txBox="1"/>
          <p:nvPr userDrawn="1"/>
        </p:nvSpPr>
        <p:spPr>
          <a:xfrm rot="2086872" flipH="1">
            <a:off x="8330354" y="1359227"/>
            <a:ext cx="444390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200" dirty="0" smtClean="0"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200" dirty="0"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8" name="Rectangle 27"/>
          <p:cNvSpPr/>
          <p:nvPr userDrawn="1"/>
        </p:nvSpPr>
        <p:spPr>
          <a:xfrm>
            <a:off x="1828800" y="2903716"/>
            <a:ext cx="5486400" cy="1261884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lvl="0" indent="0" algn="ctr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7600" b="1" spc="150" noProof="0" dirty="0" smtClean="0">
                <a:ln w="11430"/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rPr>
              <a:t>Questions?</a:t>
            </a:r>
            <a:endParaRPr lang="en-US" sz="7600" b="1" spc="150" dirty="0">
              <a:ln w="11430"/>
              <a:solidFill>
                <a:schemeClr val="tx1">
                  <a:lumMod val="40000"/>
                  <a:lumOff val="6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n-lt"/>
            </a:endParaRPr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10" hasCustomPrompt="1"/>
          </p:nvPr>
        </p:nvSpPr>
        <p:spPr>
          <a:xfrm>
            <a:off x="6807131" y="6400800"/>
            <a:ext cx="2218556" cy="369332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 smtClean="0"/>
              <a:t>Course web site URL</a:t>
            </a:r>
            <a:endParaRPr lang="en-US" dirty="0"/>
          </a:p>
        </p:txBody>
      </p:sp>
      <p:sp>
        <p:nvSpPr>
          <p:cNvPr id="10" name="TextBox 9">
            <a:hlinkClick r:id="rId3" tooltip="Курсове и уроци по програмиране, уеб дизайн, разработка на софтуер и информационни технологии - лекции, видео уроци, обучения - безплатно"/>
          </p:cNvPr>
          <p:cNvSpPr txBox="1"/>
          <p:nvPr userDrawn="1"/>
        </p:nvSpPr>
        <p:spPr>
          <a:xfrm rot="2456848" flipH="1">
            <a:off x="968763" y="4970087"/>
            <a:ext cx="859648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>
              <a:lnSpc>
                <a:spcPct val="80000"/>
              </a:lnSpc>
            </a:pPr>
            <a:r>
              <a:rPr lang="en-US" sz="12000" b="1" dirty="0" smtClean="0">
                <a:solidFill>
                  <a:srgbClr val="FFBF8B"/>
                </a:solidFill>
                <a:effectLst>
                  <a:reflection blurRad="6350" stA="55000" endA="300" endPos="45500" dir="5400000" sy="-100000" algn="bl" rotWithShape="0"/>
                </a:effectLst>
                <a:latin typeface="Cambria" pitchFamily="18" charset="0"/>
              </a:rPr>
              <a:t>?</a:t>
            </a:r>
            <a:endParaRPr lang="en-US" sz="12000" b="1" dirty="0">
              <a:solidFill>
                <a:srgbClr val="FFBF8B"/>
              </a:solidFill>
              <a:effectLst>
                <a:reflection blurRad="6350" stA="55000" endA="300" endPos="45500" dir="5400000" sy="-100000" algn="bl" rotWithShape="0"/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microsoft.com/office/2007/relationships/hdphoto" Target="../media/hdphoto1.wdp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"/>
          <p:cNvPicPr>
            <a:picLocks noChangeAspect="1" noChangeArrowheads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00"/>
            <a:ext cx="9144000" cy="5907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2"/>
          <p:cNvPicPr>
            <a:picLocks noChangeAspect="1" noChangeArrowheads="1"/>
          </p:cNvPicPr>
          <p:nvPr userDrawn="1"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247650"/>
            <a:ext cx="9144000" cy="4833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52400" y="228600"/>
            <a:ext cx="1714500" cy="428625"/>
          </a:xfrm>
          <a:prstGeom prst="rect">
            <a:avLst/>
          </a:prstGeom>
          <a:noFill/>
          <a:effectLst>
            <a:outerShdw blurRad="127000" sx="101000" sy="101000" algn="ctr" rotWithShape="0">
              <a:schemeClr val="tx1">
                <a:lumMod val="20000"/>
                <a:lumOff val="80000"/>
                <a:alpha val="75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701" r:id="rId1"/>
    <p:sldLayoutId id="2147483688" r:id="rId2"/>
    <p:sldLayoutId id="2147483704" r:id="rId3"/>
    <p:sldLayoutId id="2147483689" r:id="rId4"/>
    <p:sldLayoutId id="2147483703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r" rtl="0" eaLnBrk="0" fontAlgn="base" hangingPunct="0">
        <a:lnSpc>
          <a:spcPts val="4400"/>
        </a:lnSpc>
        <a:spcBef>
          <a:spcPct val="0"/>
        </a:spcBef>
        <a:spcAft>
          <a:spcPct val="0"/>
        </a:spcAft>
        <a:defRPr sz="4400" b="1" kern="1200" baseline="0">
          <a:ln w="500">
            <a:noFill/>
          </a:ln>
          <a:solidFill>
            <a:schemeClr val="tx2"/>
          </a:solidFill>
          <a:effectLst>
            <a:outerShdw blurRad="38100" dist="38100" dir="2700000" algn="tl">
              <a:srgbClr val="000000">
                <a:alpha val="43137"/>
              </a:srgbClr>
            </a:outerShdw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9pPr>
    </p:titleStyle>
    <p:bodyStyle>
      <a:lvl1pPr marL="319088" indent="-319088" algn="l" rtl="0" eaLnBrk="0" fontAlgn="base" hangingPunct="0">
        <a:spcBef>
          <a:spcPct val="20000"/>
        </a:spcBef>
        <a:spcAft>
          <a:spcPct val="0"/>
        </a:spcAft>
        <a:buClr>
          <a:schemeClr val="accent5">
            <a:lumMod val="40000"/>
            <a:lumOff val="60000"/>
          </a:schemeClr>
        </a:buClr>
        <a:buSzPct val="70000"/>
        <a:buFont typeface="Wingdings 2" pitchFamily="18" charset="2"/>
        <a:buChar char=""/>
        <a:defRPr sz="32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1pPr>
      <a:lvl2pPr marL="630238" indent="-273050" algn="l" rtl="0" eaLnBrk="0" fontAlgn="base" hangingPunct="0">
        <a:spcBef>
          <a:spcPct val="20000"/>
        </a:spcBef>
        <a:spcAft>
          <a:spcPct val="0"/>
        </a:spcAft>
        <a:buClr>
          <a:schemeClr val="accent2">
            <a:lumMod val="60000"/>
            <a:lumOff val="40000"/>
          </a:schemeClr>
        </a:buClr>
        <a:buFont typeface="Wingdings 2" pitchFamily="18" charset="2"/>
        <a:buChar char=""/>
        <a:defRPr sz="30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2pPr>
      <a:lvl3pPr marL="922338" indent="-273050" algn="l" rtl="0" eaLnBrk="0" fontAlgn="base" hangingPunct="0">
        <a:spcBef>
          <a:spcPct val="20000"/>
        </a:spcBef>
        <a:spcAft>
          <a:spcPct val="0"/>
        </a:spcAft>
        <a:buClr>
          <a:schemeClr val="tx1">
            <a:lumMod val="50000"/>
          </a:schemeClr>
        </a:buClr>
        <a:buFont typeface="Wingdings 2" pitchFamily="18" charset="2"/>
        <a:buChar char=""/>
        <a:defRPr sz="28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3pPr>
      <a:lvl4pPr marL="1187450" indent="-228600" algn="l" rtl="0" eaLnBrk="0" fontAlgn="base" hangingPunct="0">
        <a:spcBef>
          <a:spcPct val="20000"/>
        </a:spcBef>
        <a:spcAft>
          <a:spcPct val="0"/>
        </a:spcAft>
        <a:buClr>
          <a:srgbClr val="F8BD52"/>
        </a:buClr>
        <a:buFont typeface="Wingdings 2" pitchFamily="18" charset="2"/>
        <a:buChar char=""/>
        <a:defRPr sz="26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4pPr>
      <a:lvl5pPr marL="1425575" indent="-228600" algn="l" rtl="0" eaLnBrk="0" fontAlgn="base" hangingPunct="0">
        <a:spcBef>
          <a:spcPct val="20000"/>
        </a:spcBef>
        <a:spcAft>
          <a:spcPct val="0"/>
        </a:spcAft>
        <a:buClr>
          <a:srgbClr val="46A6BD"/>
        </a:buClr>
        <a:buFont typeface="Wingdings 2" pitchFamily="18" charset="2"/>
        <a:buChar char=""/>
        <a:defRPr sz="24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5pPr>
      <a:lvl6pPr marL="1673352" indent="-22860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11096" indent="-228600" algn="l" rtl="0" eaLnBrk="1" latinLnBrk="0" hangingPunct="1">
        <a:spcBef>
          <a:spcPct val="20000"/>
        </a:spcBef>
        <a:buClr>
          <a:schemeClr val="tx2"/>
        </a:buClr>
        <a:buFont typeface="Wingdings 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21408" indent="-182880" algn="l" rtl="0" eaLnBrk="1" latinLnBrk="0" hangingPunct="1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22576" indent="-182880" algn="l" rtl="0" eaLnBrk="1" latinLnBrk="0" hangingPunct="1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hyperlink" Target="http://nikolay.it/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academy.telerik.com/" TargetMode="Externa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://schoolacademy.telerik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webtools.com/bit-calculator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hyperlink" Target="http://facebook.com/TelerikAcademy" TargetMode="External"/><Relationship Id="rId3" Type="http://schemas.openxmlformats.org/officeDocument/2006/relationships/hyperlink" Target="http://academy.telerik.com/" TargetMode="External"/><Relationship Id="rId7" Type="http://schemas.openxmlformats.org/officeDocument/2006/relationships/image" Target="../media/image43.png"/><Relationship Id="rId2" Type="http://schemas.openxmlformats.org/officeDocument/2006/relationships/hyperlink" Target="http://csharpfundamentals.telerik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hyperlink" Target="http://forums.academy.telerik.com/" TargetMode="External"/><Relationship Id="rId10" Type="http://schemas.openxmlformats.org/officeDocument/2006/relationships/image" Target="../media/image45.png"/><Relationship Id="rId4" Type="http://schemas.openxmlformats.org/officeDocument/2006/relationships/hyperlink" Target="http://www.facebook.com/telerikacademy" TargetMode="External"/><Relationship Id="rId9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0" y="2362200"/>
            <a:ext cx="4876800" cy="1524000"/>
          </a:xfrm>
        </p:spPr>
        <p:txBody>
          <a:bodyPr/>
          <a:lstStyle/>
          <a:p>
            <a:r>
              <a:rPr lang="en-US" dirty="0"/>
              <a:t>ASP.NET MVC Essentials</a:t>
            </a:r>
          </a:p>
        </p:txBody>
      </p:sp>
      <p:pic>
        <p:nvPicPr>
          <p:cNvPr id="9" name="Picture 2" descr="http://www.davidhayden.me/media/default/posts/ASP.NET-MVC-4-Bundling-and-Minificatio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797943"/>
            <a:ext cx="3951970" cy="133565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pic>
        <p:nvPicPr>
          <p:cNvPr id="10" name="Picture 4" descr="http://4.bp.blogspot.com/-e6I8CyF7AG4/UOKfFIZfoyI/AAAAAAAABNs/2L68gGJhvrg/s1600/asp.net%2Bmvc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685800"/>
            <a:ext cx="2743200" cy="3296027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  <a:extLst/>
        </p:spPr>
      </p:pic>
      <p:pic>
        <p:nvPicPr>
          <p:cNvPr id="6146" name="Picture 2" descr="http://www.awdp.org/images/marketing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6580" y="4572000"/>
            <a:ext cx="246182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72137" y="4572000"/>
            <a:ext cx="1816101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19099" y="4495800"/>
            <a:ext cx="3853295" cy="533400"/>
          </a:xfrm>
        </p:spPr>
        <p:txBody>
          <a:bodyPr/>
          <a:lstStyle/>
          <a:p>
            <a:r>
              <a:rPr lang="en-US" dirty="0" smtClean="0"/>
              <a:t>Nikolay </a:t>
            </a:r>
            <a:r>
              <a:rPr lang="en-US" noProof="1" smtClean="0"/>
              <a:t>Kostov</a:t>
            </a:r>
            <a:endParaRPr lang="en-US" noProof="1"/>
          </a:p>
        </p:txBody>
      </p:sp>
      <p:sp>
        <p:nvSpPr>
          <p:cNvPr id="21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457200" y="5955268"/>
            <a:ext cx="3810000" cy="369332"/>
          </a:xfrm>
        </p:spPr>
        <p:txBody>
          <a:bodyPr/>
          <a:lstStyle/>
          <a:p>
            <a:r>
              <a:rPr lang="en-US" dirty="0" smtClean="0"/>
              <a:t>Telerik Software Academy</a:t>
            </a:r>
            <a:endParaRPr lang="en-US" dirty="0"/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57200" y="6214646"/>
            <a:ext cx="3810000" cy="338554"/>
          </a:xfrm>
        </p:spPr>
        <p:txBody>
          <a:bodyPr/>
          <a:lstStyle/>
          <a:p>
            <a:r>
              <a:rPr lang="en-US" dirty="0" smtClean="0">
                <a:hlinkClick r:id="rId6"/>
              </a:rPr>
              <a:t>academy.telerik.com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31800" y="4914781"/>
            <a:ext cx="3555998" cy="800219"/>
          </a:xfrm>
        </p:spPr>
        <p:txBody>
          <a:bodyPr/>
          <a:lstStyle/>
          <a:p>
            <a:pPr marL="0" indent="0"/>
            <a:r>
              <a:rPr lang="en-US" dirty="0" smtClean="0"/>
              <a:t>Team Lead, Senior</a:t>
            </a:r>
            <a:br>
              <a:rPr lang="en-US" dirty="0" smtClean="0"/>
            </a:br>
            <a:r>
              <a:rPr lang="en-US" dirty="0" smtClean="0"/>
              <a:t>Developer and Trainer</a:t>
            </a:r>
            <a:endParaRPr lang="en-US" dirty="0"/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457200" y="5650468"/>
            <a:ext cx="3810000" cy="369332"/>
          </a:xfrm>
        </p:spPr>
        <p:txBody>
          <a:bodyPr/>
          <a:lstStyle/>
          <a:p>
            <a:r>
              <a:rPr lang="en-US" sz="1800" dirty="0" smtClean="0">
                <a:hlinkClick r:id="rId7"/>
              </a:rPr>
              <a:t>http://Nikolay.IT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71799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 </a:t>
            </a:r>
            <a:r>
              <a:rPr lang="en-US" smtClean="0"/>
              <a:t>of Contents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791200"/>
          </a:xfrm>
        </p:spPr>
        <p:txBody>
          <a:bodyPr/>
          <a:lstStyle/>
          <a:p>
            <a:r>
              <a:rPr lang="en-US" dirty="0" smtClean="0"/>
              <a:t>ASP.NET MVC Routing</a:t>
            </a:r>
            <a:endParaRPr lang="bg-BG" dirty="0" smtClean="0"/>
          </a:p>
          <a:p>
            <a:pPr lvl="1"/>
            <a:r>
              <a:rPr lang="en-US" dirty="0" smtClean="0"/>
              <a:t>Route constraints</a:t>
            </a:r>
          </a:p>
          <a:p>
            <a:r>
              <a:rPr lang="en-US" dirty="0"/>
              <a:t>Controllers and </a:t>
            </a:r>
            <a:r>
              <a:rPr lang="en-US" dirty="0" smtClean="0"/>
              <a:t>Actions</a:t>
            </a:r>
            <a:endParaRPr lang="bg-BG" dirty="0" smtClean="0"/>
          </a:p>
          <a:p>
            <a:pPr lvl="1"/>
            <a:r>
              <a:rPr lang="en-US" dirty="0" smtClean="0"/>
              <a:t>Action results and filters</a:t>
            </a:r>
          </a:p>
          <a:p>
            <a:r>
              <a:rPr lang="en-US" dirty="0" smtClean="0"/>
              <a:t>Razor Views</a:t>
            </a:r>
          </a:p>
          <a:p>
            <a:pPr lvl="1"/>
            <a:r>
              <a:rPr lang="en-US" dirty="0" smtClean="0"/>
              <a:t>Layout and sections</a:t>
            </a:r>
          </a:p>
          <a:p>
            <a:pPr lvl="1"/>
            <a:r>
              <a:rPr lang="en-US" dirty="0" smtClean="0"/>
              <a:t>Helpers</a:t>
            </a:r>
          </a:p>
          <a:p>
            <a:pPr lvl="1"/>
            <a:r>
              <a:rPr lang="en-US" dirty="0" smtClean="0"/>
              <a:t>Partial views</a:t>
            </a:r>
          </a:p>
          <a:p>
            <a:r>
              <a:rPr lang="en-US" dirty="0" smtClean="0"/>
              <a:t>Areas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pic>
        <p:nvPicPr>
          <p:cNvPr id="5" name="Picture 5" descr="C:\Users\nkostov\Desktop\Untitl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502284">
            <a:off x="4465999" y="3135181"/>
            <a:ext cx="4482227" cy="373518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98783" y="929185"/>
            <a:ext cx="2616657" cy="2572000"/>
          </a:xfrm>
          <a:prstGeom prst="rect">
            <a:avLst/>
          </a:prstGeom>
          <a:effectLst>
            <a:softEdge rad="38100"/>
          </a:effectLst>
        </p:spPr>
      </p:pic>
    </p:spTree>
    <p:extLst>
      <p:ext uri="{BB962C8B-B14F-4D97-AF65-F5344CB8AC3E}">
        <p14:creationId xmlns:p14="http://schemas.microsoft.com/office/powerpoint/2010/main" val="1442871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295400"/>
            <a:ext cx="7924800" cy="685800"/>
          </a:xfrm>
        </p:spPr>
        <p:txBody>
          <a:bodyPr/>
          <a:lstStyle/>
          <a:p>
            <a:r>
              <a:rPr lang="en-US" dirty="0" smtClean="0"/>
              <a:t>ASP.NET MVC Routing</a:t>
            </a:r>
            <a:endParaRPr lang="en-US" dirty="0"/>
          </a:p>
        </p:txBody>
      </p:sp>
      <p:pic>
        <p:nvPicPr>
          <p:cNvPr id="6" name="Picture 2" descr="http://www.ciscorouting.com/routing_engin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3340" y="2438400"/>
            <a:ext cx="5357320" cy="364842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6656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ASP.NET MVC </a:t>
            </a:r>
            <a:r>
              <a:rPr lang="en-US" dirty="0" smtClean="0"/>
              <a:t>Routing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Mapping between patterns and a combination of </a:t>
            </a:r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controller + action + parameters</a:t>
            </a:r>
          </a:p>
          <a:p>
            <a:r>
              <a:rPr lang="en-US" dirty="0" smtClean="0"/>
              <a:t>Routes are defined as a global list of routes</a:t>
            </a:r>
          </a:p>
          <a:p>
            <a:pPr lvl="1"/>
            <a:r>
              <a:rPr lang="en-US" dirty="0" err="1"/>
              <a:t>System.Web.Routing.RouteTable.Routes</a:t>
            </a:r>
            <a:endParaRPr lang="en-US" dirty="0"/>
          </a:p>
          <a:p>
            <a:r>
              <a:rPr lang="en-US" dirty="0" smtClean="0"/>
              <a:t>Something similar to Apache </a:t>
            </a:r>
            <a:r>
              <a:rPr lang="en-US" dirty="0" err="1" smtClean="0"/>
              <a:t>mod_rewrite</a:t>
            </a:r>
            <a:endParaRPr lang="en-US" dirty="0" smtClean="0"/>
          </a:p>
          <a:p>
            <a:r>
              <a:rPr lang="en-US" dirty="0"/>
              <a:t>Greedy algorithm</a:t>
            </a:r>
          </a:p>
          <a:p>
            <a:pPr lvl="1"/>
            <a:r>
              <a:rPr lang="en-US" dirty="0"/>
              <a:t>the first match wins</a:t>
            </a:r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4191000"/>
            <a:ext cx="3609975" cy="1639158"/>
          </a:xfrm>
          <a:prstGeom prst="roundRect">
            <a:avLst>
              <a:gd name="adj" fmla="val 4718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541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Register routes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686800" cy="5791200"/>
          </a:xfrm>
        </p:spPr>
        <p:txBody>
          <a:bodyPr/>
          <a:lstStyle/>
          <a:p>
            <a:r>
              <a:rPr lang="en-US" dirty="0" smtClean="0"/>
              <a:t>In </a:t>
            </a:r>
            <a:r>
              <a:rPr lang="en-US" dirty="0" err="1">
                <a:solidFill>
                  <a:srgbClr val="FF9933"/>
                </a:solidFill>
              </a:rPr>
              <a:t>Global.asax</a:t>
            </a:r>
            <a:r>
              <a:rPr lang="en-US" dirty="0" smtClean="0"/>
              <a:t> in the </a:t>
            </a:r>
            <a:r>
              <a:rPr lang="en-US" dirty="0" err="1">
                <a:solidFill>
                  <a:srgbClr val="FF9933"/>
                </a:solidFill>
              </a:rPr>
              <a:t>Application_Start</a:t>
            </a:r>
            <a:r>
              <a:rPr lang="en-US" dirty="0">
                <a:solidFill>
                  <a:srgbClr val="FF9933"/>
                </a:solidFill>
              </a:rPr>
              <a:t>()</a:t>
            </a:r>
            <a:r>
              <a:rPr lang="en-US" dirty="0" smtClean="0"/>
              <a:t> there is </a:t>
            </a:r>
            <a:r>
              <a:rPr lang="en-US" sz="2800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RouteConfig.RegisterRoutes</a:t>
            </a:r>
            <a:r>
              <a:rPr lang="en-US" sz="2800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(</a:t>
            </a:r>
            <a:r>
              <a:rPr lang="en-US" sz="2800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RouteTable.Routes</a:t>
            </a:r>
            <a:r>
              <a:rPr lang="en-US" sz="2800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);</a:t>
            </a:r>
          </a:p>
          <a:p>
            <a:r>
              <a:rPr lang="en-US" dirty="0" err="1">
                <a:solidFill>
                  <a:srgbClr val="FF9933"/>
                </a:solidFill>
              </a:rPr>
              <a:t>RoutesConfig</a:t>
            </a:r>
            <a:r>
              <a:rPr lang="en-US" dirty="0" smtClean="0"/>
              <a:t> class is located in </a:t>
            </a:r>
            <a:r>
              <a:rPr lang="en-US" dirty="0">
                <a:solidFill>
                  <a:srgbClr val="FF9933"/>
                </a:solidFill>
              </a:rPr>
              <a:t>/</a:t>
            </a:r>
            <a:r>
              <a:rPr lang="en-US" dirty="0" err="1" smtClean="0">
                <a:solidFill>
                  <a:srgbClr val="FF9933"/>
                </a:solidFill>
              </a:rPr>
              <a:t>App_Start</a:t>
            </a:r>
            <a:r>
              <a:rPr lang="en-US" dirty="0" smtClean="0">
                <a:solidFill>
                  <a:srgbClr val="FF9933"/>
                </a:solidFill>
              </a:rPr>
              <a:t>/</a:t>
            </a:r>
            <a:r>
              <a:rPr lang="en-US" dirty="0" smtClean="0"/>
              <a:t> in internet applications template by default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162300"/>
            <a:ext cx="6000750" cy="3390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Left Arrow 9"/>
          <p:cNvSpPr/>
          <p:nvPr/>
        </p:nvSpPr>
        <p:spPr>
          <a:xfrm rot="21332211">
            <a:off x="2922746" y="4260375"/>
            <a:ext cx="3562351" cy="152400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24138" y="4004500"/>
            <a:ext cx="2005462" cy="3385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bg1"/>
                </a:solidFill>
              </a:rPr>
              <a:t>Route name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2" name="Left Arrow 11"/>
          <p:cNvSpPr/>
          <p:nvPr/>
        </p:nvSpPr>
        <p:spPr>
          <a:xfrm>
            <a:off x="4851639" y="4668650"/>
            <a:ext cx="1372499" cy="129260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6224138" y="4534288"/>
            <a:ext cx="2005462" cy="3385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bg1"/>
                </a:solidFill>
              </a:rPr>
              <a:t>Route pattern</a:t>
            </a:r>
          </a:p>
        </p:txBody>
      </p:sp>
      <p:sp>
        <p:nvSpPr>
          <p:cNvPr id="14" name="Right Brace 13"/>
          <p:cNvSpPr/>
          <p:nvPr/>
        </p:nvSpPr>
        <p:spPr>
          <a:xfrm>
            <a:off x="3810000" y="4971596"/>
            <a:ext cx="2414138" cy="1010104"/>
          </a:xfrm>
          <a:prstGeom prst="rightBrace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24138" y="5302752"/>
            <a:ext cx="2005462" cy="3385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bg1"/>
                </a:solidFill>
              </a:rPr>
              <a:t>Default parameters</a:t>
            </a:r>
          </a:p>
        </p:txBody>
      </p:sp>
      <p:sp>
        <p:nvSpPr>
          <p:cNvPr id="16" name="Left Arrow 15"/>
          <p:cNvSpPr/>
          <p:nvPr/>
        </p:nvSpPr>
        <p:spPr>
          <a:xfrm rot="20594177">
            <a:off x="5943698" y="3482724"/>
            <a:ext cx="1372499" cy="129260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6712070" y="3272882"/>
            <a:ext cx="2050930" cy="5847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bg1"/>
                </a:solidFill>
              </a:rPr>
              <a:t>Routes to ignore</a:t>
            </a:r>
          </a:p>
          <a:p>
            <a:r>
              <a:rPr lang="en-US" sz="1600" b="1" dirty="0" smtClean="0">
                <a:solidFill>
                  <a:schemeClr val="bg1"/>
                </a:solidFill>
              </a:rPr>
              <a:t>The [*] means all left</a:t>
            </a:r>
          </a:p>
        </p:txBody>
      </p:sp>
    </p:spTree>
    <p:extLst>
      <p:ext uri="{BB962C8B-B14F-4D97-AF65-F5344CB8AC3E}">
        <p14:creationId xmlns:p14="http://schemas.microsoft.com/office/powerpoint/2010/main" val="2502513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Routing 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866" y="4630228"/>
            <a:ext cx="8686800" cy="2057400"/>
          </a:xfrm>
        </p:spPr>
        <p:txBody>
          <a:bodyPr/>
          <a:lstStyle/>
          <a:p>
            <a:r>
              <a:rPr lang="en-US" dirty="0" smtClean="0"/>
              <a:t>Controller: Products</a:t>
            </a:r>
          </a:p>
          <a:p>
            <a:r>
              <a:rPr lang="en-US" dirty="0" smtClean="0"/>
              <a:t>Action: </a:t>
            </a:r>
            <a:r>
              <a:rPr lang="en-US" dirty="0" err="1" smtClean="0"/>
              <a:t>ById</a:t>
            </a:r>
            <a:endParaRPr lang="en-US" dirty="0" smtClean="0"/>
          </a:p>
          <a:p>
            <a:r>
              <a:rPr lang="en-US" dirty="0" smtClean="0"/>
              <a:t>Id: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066800"/>
            <a:ext cx="6000750" cy="3390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Left Arrow 5"/>
          <p:cNvSpPr/>
          <p:nvPr/>
        </p:nvSpPr>
        <p:spPr>
          <a:xfrm rot="5400000">
            <a:off x="2772116" y="3434228"/>
            <a:ext cx="1466167" cy="152400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Arrow 6"/>
          <p:cNvSpPr/>
          <p:nvPr/>
        </p:nvSpPr>
        <p:spPr>
          <a:xfrm rot="6147888">
            <a:off x="3550847" y="3565129"/>
            <a:ext cx="1794656" cy="136586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Arrow 7"/>
          <p:cNvSpPr/>
          <p:nvPr/>
        </p:nvSpPr>
        <p:spPr>
          <a:xfrm rot="6984572">
            <a:off x="4067222" y="3494732"/>
            <a:ext cx="1794656" cy="136586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676401" y="4233446"/>
            <a:ext cx="3032138" cy="3385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bg1"/>
                </a:solidFill>
              </a:rPr>
              <a:t>http://localhost/Products/ById/3</a:t>
            </a:r>
          </a:p>
        </p:txBody>
      </p:sp>
    </p:spTree>
    <p:extLst>
      <p:ext uri="{BB962C8B-B14F-4D97-AF65-F5344CB8AC3E}">
        <p14:creationId xmlns:p14="http://schemas.microsoft.com/office/powerpoint/2010/main" val="1490632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Routing Examples 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866" y="4630228"/>
            <a:ext cx="8686800" cy="2057400"/>
          </a:xfrm>
        </p:spPr>
        <p:txBody>
          <a:bodyPr/>
          <a:lstStyle/>
          <a:p>
            <a:r>
              <a:rPr lang="en-US" dirty="0" smtClean="0"/>
              <a:t>Controller: Products</a:t>
            </a:r>
          </a:p>
          <a:p>
            <a:r>
              <a:rPr lang="en-US" dirty="0" smtClean="0"/>
              <a:t>Action: </a:t>
            </a:r>
            <a:r>
              <a:rPr lang="en-US" dirty="0" err="1" smtClean="0"/>
              <a:t>ById</a:t>
            </a:r>
            <a:endParaRPr lang="en-US" dirty="0" smtClean="0"/>
          </a:p>
          <a:p>
            <a:r>
              <a:rPr lang="en-US" dirty="0" smtClean="0"/>
              <a:t>Id: 0 (optional parameter)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066800"/>
            <a:ext cx="6000750" cy="3390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Left Arrow 5"/>
          <p:cNvSpPr/>
          <p:nvPr/>
        </p:nvSpPr>
        <p:spPr>
          <a:xfrm rot="5400000">
            <a:off x="2772116" y="3434229"/>
            <a:ext cx="1466167" cy="152400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Arrow 6"/>
          <p:cNvSpPr/>
          <p:nvPr/>
        </p:nvSpPr>
        <p:spPr>
          <a:xfrm rot="6147888">
            <a:off x="3550847" y="3565129"/>
            <a:ext cx="1794656" cy="136586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 Arrow 10"/>
          <p:cNvSpPr/>
          <p:nvPr/>
        </p:nvSpPr>
        <p:spPr>
          <a:xfrm rot="5400000">
            <a:off x="4303763" y="4037063"/>
            <a:ext cx="733083" cy="108191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676401" y="4233446"/>
            <a:ext cx="3032138" cy="3385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bg1"/>
                </a:solidFill>
              </a:rPr>
              <a:t>http://localhost/Products/ById</a:t>
            </a:r>
          </a:p>
        </p:txBody>
      </p:sp>
    </p:spTree>
    <p:extLst>
      <p:ext uri="{BB962C8B-B14F-4D97-AF65-F5344CB8AC3E}">
        <p14:creationId xmlns:p14="http://schemas.microsoft.com/office/powerpoint/2010/main" val="3251449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Routing Examples (3)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866" y="4630228"/>
            <a:ext cx="8686800" cy="2057400"/>
          </a:xfrm>
        </p:spPr>
        <p:txBody>
          <a:bodyPr/>
          <a:lstStyle/>
          <a:p>
            <a:r>
              <a:rPr lang="en-US" dirty="0" smtClean="0"/>
              <a:t>Controller: Products</a:t>
            </a:r>
          </a:p>
          <a:p>
            <a:r>
              <a:rPr lang="en-US" dirty="0" smtClean="0"/>
              <a:t>Action: Index</a:t>
            </a:r>
          </a:p>
          <a:p>
            <a:r>
              <a:rPr lang="en-US" dirty="0" smtClean="0"/>
              <a:t>Id: 0 (optional parameter)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066800"/>
            <a:ext cx="6000750" cy="3390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Left Arrow 5"/>
          <p:cNvSpPr/>
          <p:nvPr/>
        </p:nvSpPr>
        <p:spPr>
          <a:xfrm rot="5400000">
            <a:off x="2772116" y="3434228"/>
            <a:ext cx="1466167" cy="152400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Arrow 6"/>
          <p:cNvSpPr/>
          <p:nvPr/>
        </p:nvSpPr>
        <p:spPr>
          <a:xfrm rot="5400000">
            <a:off x="3683202" y="3929430"/>
            <a:ext cx="999782" cy="136586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 Arrow 10"/>
          <p:cNvSpPr/>
          <p:nvPr/>
        </p:nvSpPr>
        <p:spPr>
          <a:xfrm rot="5400000">
            <a:off x="4303763" y="4037063"/>
            <a:ext cx="733083" cy="108191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676401" y="4233446"/>
            <a:ext cx="3032138" cy="3385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bg1"/>
                </a:solidFill>
              </a:rPr>
              <a:t>http://localhost/Products</a:t>
            </a:r>
          </a:p>
        </p:txBody>
      </p:sp>
    </p:spTree>
    <p:extLst>
      <p:ext uri="{BB962C8B-B14F-4D97-AF65-F5344CB8AC3E}">
        <p14:creationId xmlns:p14="http://schemas.microsoft.com/office/powerpoint/2010/main" val="1260097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Routing Examples (4)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866" y="4630228"/>
            <a:ext cx="8686800" cy="2057400"/>
          </a:xfrm>
        </p:spPr>
        <p:txBody>
          <a:bodyPr/>
          <a:lstStyle/>
          <a:p>
            <a:r>
              <a:rPr lang="en-US" dirty="0" smtClean="0"/>
              <a:t>Controller: Home</a:t>
            </a:r>
          </a:p>
          <a:p>
            <a:r>
              <a:rPr lang="en-US" dirty="0" smtClean="0"/>
              <a:t>Action: Index</a:t>
            </a:r>
          </a:p>
          <a:p>
            <a:r>
              <a:rPr lang="en-US" dirty="0" smtClean="0"/>
              <a:t>Id: 0 (optional parameter)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066800"/>
            <a:ext cx="6000750" cy="3390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Left Arrow 5"/>
          <p:cNvSpPr/>
          <p:nvPr/>
        </p:nvSpPr>
        <p:spPr>
          <a:xfrm rot="7537519">
            <a:off x="3090187" y="3657601"/>
            <a:ext cx="1319580" cy="152400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Arrow 6"/>
          <p:cNvSpPr/>
          <p:nvPr/>
        </p:nvSpPr>
        <p:spPr>
          <a:xfrm rot="5400000">
            <a:off x="3683202" y="3927616"/>
            <a:ext cx="999782" cy="136586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 Arrow 10"/>
          <p:cNvSpPr/>
          <p:nvPr/>
        </p:nvSpPr>
        <p:spPr>
          <a:xfrm rot="5400000">
            <a:off x="4303763" y="4037063"/>
            <a:ext cx="733083" cy="108191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676401" y="4233446"/>
            <a:ext cx="3032138" cy="3385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bg1"/>
                </a:solidFill>
              </a:rPr>
              <a:t>http://localhost/</a:t>
            </a:r>
          </a:p>
        </p:txBody>
      </p:sp>
    </p:spTree>
    <p:extLst>
      <p:ext uri="{BB962C8B-B14F-4D97-AF65-F5344CB8AC3E}">
        <p14:creationId xmlns:p14="http://schemas.microsoft.com/office/powerpoint/2010/main" val="3997033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Custom Route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866" y="4630228"/>
            <a:ext cx="8686800" cy="2057400"/>
          </a:xfrm>
        </p:spPr>
        <p:txBody>
          <a:bodyPr/>
          <a:lstStyle/>
          <a:p>
            <a:r>
              <a:rPr lang="en-US" dirty="0" smtClean="0"/>
              <a:t>Controller: Users</a:t>
            </a:r>
          </a:p>
          <a:p>
            <a:r>
              <a:rPr lang="en-US" dirty="0" smtClean="0"/>
              <a:t>Action: </a:t>
            </a:r>
            <a:r>
              <a:rPr lang="en-US" dirty="0" err="1" smtClean="0"/>
              <a:t>ByUsername</a:t>
            </a:r>
            <a:endParaRPr lang="en-US" dirty="0" smtClean="0"/>
          </a:p>
          <a:p>
            <a:r>
              <a:rPr lang="en-US" dirty="0" smtClean="0"/>
              <a:t>Username: </a:t>
            </a:r>
            <a:r>
              <a:rPr lang="en-US" dirty="0" err="1" smtClean="0"/>
              <a:t>NikolayIT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195" y="1320666"/>
            <a:ext cx="4457700" cy="2924175"/>
          </a:xfrm>
          <a:prstGeom prst="rect">
            <a:avLst/>
          </a:prstGeom>
        </p:spPr>
      </p:pic>
      <p:sp>
        <p:nvSpPr>
          <p:cNvPr id="6" name="Left Arrow 5"/>
          <p:cNvSpPr/>
          <p:nvPr/>
        </p:nvSpPr>
        <p:spPr>
          <a:xfrm rot="6593364">
            <a:off x="2832966" y="3168492"/>
            <a:ext cx="2148134" cy="239546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Arrow 6"/>
          <p:cNvSpPr/>
          <p:nvPr/>
        </p:nvSpPr>
        <p:spPr>
          <a:xfrm rot="6501041">
            <a:off x="3573381" y="3238133"/>
            <a:ext cx="2270216" cy="224085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676400" y="4233446"/>
            <a:ext cx="3124199" cy="3385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bg1"/>
                </a:solidFill>
              </a:rPr>
              <a:t>http://localhost/Users/NikolayIT</a:t>
            </a:r>
          </a:p>
        </p:txBody>
      </p:sp>
    </p:spTree>
    <p:extLst>
      <p:ext uri="{BB962C8B-B14F-4D97-AF65-F5344CB8AC3E}">
        <p14:creationId xmlns:p14="http://schemas.microsoft.com/office/powerpoint/2010/main" val="3295970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Custom Route 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866" y="4630228"/>
            <a:ext cx="8686800" cy="2057400"/>
          </a:xfrm>
        </p:spPr>
        <p:txBody>
          <a:bodyPr/>
          <a:lstStyle/>
          <a:p>
            <a:r>
              <a:rPr lang="en-US" dirty="0" smtClean="0"/>
              <a:t>Controller: Users</a:t>
            </a:r>
          </a:p>
          <a:p>
            <a:r>
              <a:rPr lang="en-US" dirty="0" smtClean="0"/>
              <a:t>Action: </a:t>
            </a:r>
            <a:r>
              <a:rPr lang="en-US" dirty="0" err="1" smtClean="0"/>
              <a:t>ByUsername</a:t>
            </a:r>
            <a:endParaRPr lang="en-US" dirty="0" smtClean="0"/>
          </a:p>
          <a:p>
            <a:r>
              <a:rPr lang="en-US" dirty="0" smtClean="0"/>
              <a:t>Username: </a:t>
            </a:r>
            <a:r>
              <a:rPr lang="en-US" dirty="0" err="1" smtClean="0"/>
              <a:t>DefaultValue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195" y="1320666"/>
            <a:ext cx="4457700" cy="2924175"/>
          </a:xfrm>
          <a:prstGeom prst="rect">
            <a:avLst/>
          </a:prstGeom>
        </p:spPr>
      </p:pic>
      <p:sp>
        <p:nvSpPr>
          <p:cNvPr id="6" name="Left Arrow 5"/>
          <p:cNvSpPr/>
          <p:nvPr/>
        </p:nvSpPr>
        <p:spPr>
          <a:xfrm rot="6593364">
            <a:off x="2630962" y="3178777"/>
            <a:ext cx="2148134" cy="239546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Arrow 6"/>
          <p:cNvSpPr/>
          <p:nvPr/>
        </p:nvSpPr>
        <p:spPr>
          <a:xfrm rot="7687604">
            <a:off x="4167012" y="3811743"/>
            <a:ext cx="1056282" cy="224085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676400" y="4233446"/>
            <a:ext cx="3124199" cy="3385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bg1"/>
                </a:solidFill>
              </a:rPr>
              <a:t>http://localhost/Users</a:t>
            </a:r>
          </a:p>
        </p:txBody>
      </p:sp>
    </p:spTree>
    <p:extLst>
      <p:ext uri="{BB962C8B-B14F-4D97-AF65-F5344CB8AC3E}">
        <p14:creationId xmlns:p14="http://schemas.microsoft.com/office/powerpoint/2010/main" val="1318259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195" y="1320665"/>
            <a:ext cx="4457700" cy="29241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Custom Route (3)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866" y="4630228"/>
            <a:ext cx="8686800" cy="2057400"/>
          </a:xfrm>
        </p:spPr>
        <p:txBody>
          <a:bodyPr/>
          <a:lstStyle/>
          <a:p>
            <a:r>
              <a:rPr lang="en-US" dirty="0" smtClean="0"/>
              <a:t>Result: 404 Not Found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6" name="Left Arrow 5"/>
          <p:cNvSpPr/>
          <p:nvPr/>
        </p:nvSpPr>
        <p:spPr>
          <a:xfrm rot="6593364">
            <a:off x="2630962" y="3178777"/>
            <a:ext cx="2148134" cy="239546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Arrow 6"/>
          <p:cNvSpPr/>
          <p:nvPr/>
        </p:nvSpPr>
        <p:spPr>
          <a:xfrm rot="16200000">
            <a:off x="4569900" y="2855499"/>
            <a:ext cx="1380115" cy="224085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676400" y="4233446"/>
            <a:ext cx="3124199" cy="3385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bg1"/>
                </a:solidFill>
              </a:rPr>
              <a:t>http://localhost/Users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9497" y="3721953"/>
            <a:ext cx="320922" cy="4770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  <a:latin typeface="+mn-lt"/>
              </a:defRPr>
            </a:lvl1pPr>
            <a:lvl2pPr>
              <a:defRPr>
                <a:solidFill>
                  <a:schemeClr val="lt1"/>
                </a:solidFill>
                <a:latin typeface="+mn-lt"/>
              </a:defRPr>
            </a:lvl2pPr>
            <a:lvl3pPr>
              <a:defRPr>
                <a:solidFill>
                  <a:schemeClr val="lt1"/>
                </a:solidFill>
                <a:latin typeface="+mn-lt"/>
              </a:defRPr>
            </a:lvl3pPr>
            <a:lvl4pPr>
              <a:defRPr>
                <a:solidFill>
                  <a:schemeClr val="lt1"/>
                </a:solidFill>
                <a:latin typeface="+mn-lt"/>
              </a:defRPr>
            </a:lvl4pPr>
            <a:lvl5pPr>
              <a:defRPr>
                <a:solidFill>
                  <a:schemeClr val="lt1"/>
                </a:solidFill>
                <a:latin typeface="+mn-lt"/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  <a:latin typeface="+mn-lt"/>
              </a:defRPr>
            </a:lvl7pPr>
            <a:lvl8pPr>
              <a:defRPr>
                <a:solidFill>
                  <a:schemeClr val="lt1"/>
                </a:solidFill>
                <a:latin typeface="+mn-lt"/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r>
              <a:rPr lang="en-US" b="1" dirty="0">
                <a:solidFill>
                  <a:schemeClr val="bg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27296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Route Constraints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Constraints are rules on the URL segments</a:t>
            </a:r>
          </a:p>
          <a:p>
            <a:r>
              <a:rPr lang="en-US" dirty="0" smtClean="0"/>
              <a:t>All the constraints are regular expression compatible with class Regex</a:t>
            </a:r>
          </a:p>
          <a:p>
            <a:r>
              <a:rPr lang="en-US" dirty="0" smtClean="0"/>
              <a:t>Defined as one of the </a:t>
            </a:r>
            <a:r>
              <a:rPr lang="en-US" dirty="0" err="1" smtClean="0"/>
              <a:t>routes.MapRoute</a:t>
            </a:r>
            <a:r>
              <a:rPr lang="en-US" dirty="0" smtClean="0"/>
              <a:t>(…) parameters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4114800"/>
            <a:ext cx="7296150" cy="18383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022506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Route Constraint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12" name="Text Placeholder 6"/>
          <p:cNvSpPr txBox="1">
            <a:spLocks/>
          </p:cNvSpPr>
          <p:nvPr/>
        </p:nvSpPr>
        <p:spPr>
          <a:xfrm>
            <a:off x="381000" y="990599"/>
            <a:ext cx="8357856" cy="347787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marL="0" indent="0" algn="l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000" b="1" kern="120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ea typeface="+mn-ea"/>
                <a:cs typeface="Consolas" pitchFamily="49" charset="0"/>
              </a:defRPr>
            </a:lvl1pPr>
            <a:lvl2pPr marL="63023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>
                  <a:lumMod val="60000"/>
                  <a:lumOff val="40000"/>
                </a:schemeClr>
              </a:buClr>
              <a:buFont typeface="Wingdings 2" pitchFamily="18" charset="2"/>
              <a:buChar char=""/>
              <a:defRPr sz="30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2233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>
                  <a:lumMod val="50000"/>
                </a:schemeClr>
              </a:buClr>
              <a:buFont typeface="Wingdings 2" pitchFamily="18" charset="2"/>
              <a:buChar char=""/>
              <a:defRPr sz="28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874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8BD52"/>
              </a:buClr>
              <a:buFont typeface="Wingdings 2" pitchFamily="18" charset="2"/>
              <a:buChar char=""/>
              <a:defRPr sz="26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6A6BD"/>
              </a:buClr>
              <a:buFont typeface="Wingdings 2" pitchFamily="18" charset="2"/>
              <a:buChar char=""/>
              <a:defRPr sz="24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673352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11096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1408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22576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1" smtClean="0"/>
              <a:t>public class LocalhostConstraint : IRouteConstraint</a:t>
            </a:r>
          </a:p>
          <a:p>
            <a:r>
              <a:rPr lang="en-US" noProof="1" smtClean="0"/>
              <a:t>{</a:t>
            </a:r>
          </a:p>
          <a:p>
            <a:r>
              <a:rPr lang="en-US" noProof="1" smtClean="0"/>
              <a:t>    public bool Match(HttpContextBase httpContext,</a:t>
            </a:r>
          </a:p>
          <a:p>
            <a:r>
              <a:rPr lang="en-US" noProof="1" smtClean="0"/>
              <a:t>        Route route,</a:t>
            </a:r>
          </a:p>
          <a:p>
            <a:r>
              <a:rPr lang="en-US" noProof="1"/>
              <a:t> </a:t>
            </a:r>
            <a:r>
              <a:rPr lang="en-US" noProof="1" smtClean="0"/>
              <a:t>       string parameterName,</a:t>
            </a:r>
          </a:p>
          <a:p>
            <a:r>
              <a:rPr lang="en-US" noProof="1" smtClean="0"/>
              <a:t>        RouteValueDictionary values,</a:t>
            </a:r>
          </a:p>
          <a:p>
            <a:r>
              <a:rPr lang="en-US" noProof="1" smtClean="0"/>
              <a:t>        RouteDirection routeDirection)</a:t>
            </a:r>
          </a:p>
          <a:p>
            <a:r>
              <a:rPr lang="en-US" noProof="1" smtClean="0"/>
              <a:t>    {</a:t>
            </a:r>
          </a:p>
          <a:p>
            <a:r>
              <a:rPr lang="en-US" noProof="1" smtClean="0"/>
              <a:t>        return httpContext.Request.IsLocal;</a:t>
            </a:r>
          </a:p>
          <a:p>
            <a:r>
              <a:rPr lang="en-US" noProof="1" smtClean="0"/>
              <a:t>    }</a:t>
            </a:r>
          </a:p>
          <a:p>
            <a:r>
              <a:rPr lang="en-US" noProof="1" smtClean="0"/>
              <a:t>}</a:t>
            </a:r>
            <a:endParaRPr lang="en-US" noProof="1"/>
          </a:p>
        </p:txBody>
      </p:sp>
      <p:sp>
        <p:nvSpPr>
          <p:cNvPr id="13" name="Text Placeholder 6"/>
          <p:cNvSpPr txBox="1">
            <a:spLocks/>
          </p:cNvSpPr>
          <p:nvPr/>
        </p:nvSpPr>
        <p:spPr>
          <a:xfrm>
            <a:off x="380999" y="4695229"/>
            <a:ext cx="8357857" cy="1631216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marL="0" indent="0" algn="l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000" b="1" kern="120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ea typeface="+mn-ea"/>
                <a:cs typeface="Consolas" pitchFamily="49" charset="0"/>
              </a:defRPr>
            </a:lvl1pPr>
            <a:lvl2pPr marL="63023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>
                  <a:lumMod val="60000"/>
                  <a:lumOff val="40000"/>
                </a:schemeClr>
              </a:buClr>
              <a:buFont typeface="Wingdings 2" pitchFamily="18" charset="2"/>
              <a:buChar char=""/>
              <a:defRPr sz="30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2233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>
                  <a:lumMod val="50000"/>
                </a:schemeClr>
              </a:buClr>
              <a:buFont typeface="Wingdings 2" pitchFamily="18" charset="2"/>
              <a:buChar char=""/>
              <a:defRPr sz="28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874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8BD52"/>
              </a:buClr>
              <a:buFont typeface="Wingdings 2" pitchFamily="18" charset="2"/>
              <a:buChar char=""/>
              <a:defRPr sz="26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6A6BD"/>
              </a:buClr>
              <a:buFont typeface="Wingdings 2" pitchFamily="18" charset="2"/>
              <a:buChar char=""/>
              <a:defRPr sz="24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673352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11096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1408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22576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1" smtClean="0"/>
              <a:t>routes.MapRoute("Admin",</a:t>
            </a:r>
          </a:p>
          <a:p>
            <a:r>
              <a:rPr lang="en-US" noProof="1" smtClean="0"/>
              <a:t>                "Admin/{action}",</a:t>
            </a:r>
          </a:p>
          <a:p>
            <a:r>
              <a:rPr lang="en-US" noProof="1" smtClean="0"/>
              <a:t>                new { controller="Admin" },</a:t>
            </a:r>
          </a:p>
          <a:p>
            <a:r>
              <a:rPr lang="en-US" noProof="1" smtClean="0"/>
              <a:t>                new {isLocal = new LocalhostConstraint()}</a:t>
            </a:r>
          </a:p>
          <a:p>
            <a:r>
              <a:rPr lang="en-US" noProof="1" smtClean="0"/>
              <a:t>               );</a:t>
            </a:r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9870323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Debugging Routes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791200"/>
          </a:xfrm>
        </p:spPr>
        <p:txBody>
          <a:bodyPr/>
          <a:lstStyle/>
          <a:p>
            <a:pPr>
              <a:spcBef>
                <a:spcPts val="300"/>
              </a:spcBef>
            </a:pPr>
            <a:r>
              <a:rPr lang="en-US" dirty="0" smtClean="0"/>
              <a:t>In actions we have access to a data structure called </a:t>
            </a:r>
            <a:r>
              <a:rPr lang="en-US" dirty="0" err="1" smtClean="0"/>
              <a:t>RouteData</a:t>
            </a:r>
            <a:endParaRPr lang="en-US" dirty="0" smtClean="0"/>
          </a:p>
          <a:p>
            <a:pPr lvl="1">
              <a:spcBef>
                <a:spcPts val="300"/>
              </a:spcBef>
            </a:pPr>
            <a:r>
              <a:rPr lang="en-US" dirty="0" err="1"/>
              <a:t>RouteData.Values</a:t>
            </a:r>
            <a:r>
              <a:rPr lang="en-US" dirty="0"/>
              <a:t>["controller</a:t>
            </a:r>
            <a:r>
              <a:rPr lang="en-US" dirty="0" smtClean="0"/>
              <a:t>"]</a:t>
            </a:r>
          </a:p>
          <a:p>
            <a:pPr lvl="1">
              <a:spcBef>
                <a:spcPts val="300"/>
              </a:spcBef>
            </a:pPr>
            <a:r>
              <a:rPr lang="en-US" dirty="0" err="1"/>
              <a:t>RouteData.Values</a:t>
            </a:r>
            <a:r>
              <a:rPr lang="en-US" dirty="0" smtClean="0"/>
              <a:t>["action"]</a:t>
            </a:r>
          </a:p>
          <a:p>
            <a:pPr lvl="1">
              <a:spcBef>
                <a:spcPts val="300"/>
              </a:spcBef>
            </a:pPr>
            <a:r>
              <a:rPr lang="en-US" dirty="0" err="1"/>
              <a:t>RouteData.Values</a:t>
            </a:r>
            <a:r>
              <a:rPr lang="en-US" dirty="0" smtClean="0"/>
              <a:t>["id"]</a:t>
            </a:r>
            <a:endParaRPr lang="en-US" dirty="0"/>
          </a:p>
          <a:p>
            <a:pPr>
              <a:spcBef>
                <a:spcPts val="300"/>
              </a:spcBef>
            </a:pPr>
            <a:r>
              <a:rPr lang="en-US" dirty="0" smtClean="0"/>
              <a:t>We can use </a:t>
            </a:r>
            <a:r>
              <a:rPr lang="en-US" dirty="0" err="1" smtClean="0"/>
              <a:t>NuGet</a:t>
            </a:r>
            <a:r>
              <a:rPr lang="en-US" dirty="0" smtClean="0"/>
              <a:t> package </a:t>
            </a:r>
            <a:r>
              <a:rPr lang="en-US" dirty="0" err="1" smtClean="0"/>
              <a:t>RouteDebugger</a:t>
            </a:r>
            <a:endParaRPr lang="en-US" dirty="0" smtClean="0"/>
          </a:p>
          <a:p>
            <a:pPr lvl="1">
              <a:spcBef>
                <a:spcPts val="300"/>
              </a:spcBef>
            </a:pPr>
            <a:r>
              <a:rPr lang="en-US" dirty="0" smtClean="0"/>
              <a:t>Install-Package </a:t>
            </a:r>
            <a:r>
              <a:rPr lang="en-US" dirty="0" err="1" smtClean="0"/>
              <a:t>RouteDebugger</a:t>
            </a:r>
            <a:endParaRPr lang="en-US" dirty="0" smtClean="0"/>
          </a:p>
          <a:p>
            <a:pPr lvl="2">
              <a:spcBef>
                <a:spcPts val="300"/>
              </a:spcBef>
            </a:pPr>
            <a:r>
              <a:rPr lang="en-US" dirty="0" err="1" smtClean="0"/>
              <a:t>Web.config</a:t>
            </a:r>
            <a:r>
              <a:rPr lang="en-US" dirty="0" smtClean="0"/>
              <a:t>: </a:t>
            </a:r>
            <a:r>
              <a:rPr lang="en-US" dirty="0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&lt;add 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key="</a:t>
            </a:r>
            <a:r>
              <a:rPr lang="en-US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RouteDebugger:Enabled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" value="true" </a:t>
            </a:r>
            <a:r>
              <a:rPr lang="en-US" dirty="0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/&gt;</a:t>
            </a:r>
          </a:p>
          <a:p>
            <a:pPr>
              <a:spcBef>
                <a:spcPts val="300"/>
              </a:spcBef>
            </a:pPr>
            <a:r>
              <a:rPr lang="en-US" dirty="0"/>
              <a:t>We can </a:t>
            </a:r>
            <a:r>
              <a:rPr lang="en-US" dirty="0" smtClean="0"/>
              <a:t>also use Glimpse for debugging routes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87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09600" y="4953001"/>
            <a:ext cx="7924800" cy="685800"/>
          </a:xfrm>
        </p:spPr>
        <p:txBody>
          <a:bodyPr/>
          <a:lstStyle/>
          <a:p>
            <a:r>
              <a:rPr lang="en-US" dirty="0"/>
              <a:t>Demo</a:t>
            </a:r>
            <a:r>
              <a:rPr lang="en-US" dirty="0" smtClean="0"/>
              <a:t>: Routes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1790700" y="5715000"/>
            <a:ext cx="5562600" cy="457200"/>
          </a:xfrm>
        </p:spPr>
        <p:txBody>
          <a:bodyPr/>
          <a:lstStyle/>
          <a:p>
            <a:r>
              <a:rPr lang="en-US" dirty="0" smtClean="0"/>
              <a:t>ASP.NET MVC Routing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635" y="1219200"/>
            <a:ext cx="5318731" cy="3090862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768740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09600" y="1143000"/>
            <a:ext cx="7924800" cy="685800"/>
          </a:xfrm>
        </p:spPr>
        <p:txBody>
          <a:bodyPr/>
          <a:lstStyle/>
          <a:p>
            <a:r>
              <a:rPr lang="en-US" dirty="0">
                <a:effectLst/>
              </a:rPr>
              <a:t>Controllers </a:t>
            </a:r>
            <a:r>
              <a:rPr lang="en-US" dirty="0" smtClean="0">
                <a:effectLst/>
              </a:rPr>
              <a:t>and Actions</a:t>
            </a:r>
            <a:endParaRPr lang="en-US" dirty="0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609600" y="1752600"/>
            <a:ext cx="7924800" cy="569120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smtClean="0"/>
              <a:t>brain </a:t>
            </a:r>
            <a:r>
              <a:rPr lang="en-US" dirty="0"/>
              <a:t>of the application</a:t>
            </a:r>
          </a:p>
        </p:txBody>
      </p:sp>
      <p:pic>
        <p:nvPicPr>
          <p:cNvPr id="2050" name="Picture 2" descr="http://www.wagonbutterworth.com/projects/xbox_controller/xbc-c-controlle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468592"/>
            <a:ext cx="5638800" cy="375626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9811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ffectLst/>
              </a:rPr>
              <a:t>Controllers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core component of the MVC pattern</a:t>
            </a:r>
            <a:endParaRPr lang="en-US" dirty="0"/>
          </a:p>
          <a:p>
            <a:r>
              <a:rPr lang="en-US" dirty="0" smtClean="0"/>
              <a:t>All the controllers should be available in a folder by name </a:t>
            </a:r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Controllers</a:t>
            </a:r>
            <a:endParaRPr lang="en-US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r>
              <a:rPr lang="en-US" dirty="0" smtClean="0"/>
              <a:t>Controller naming standard should be </a:t>
            </a:r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"</a:t>
            </a:r>
            <a:r>
              <a:rPr lang="en-US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nameController</a:t>
            </a:r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"</a:t>
            </a:r>
            <a:r>
              <a:rPr lang="en-US" dirty="0" smtClean="0"/>
              <a:t> (convention)</a:t>
            </a:r>
          </a:p>
          <a:p>
            <a:r>
              <a:rPr lang="en-US" dirty="0" smtClean="0"/>
              <a:t>Routers instantiate controllers in every request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dirty="0"/>
              <a:t>All requests are mapped to a specific action</a:t>
            </a:r>
          </a:p>
          <a:p>
            <a:r>
              <a:rPr lang="en-US" dirty="0" smtClean="0"/>
              <a:t>Every controller should inherit Controller class</a:t>
            </a:r>
          </a:p>
          <a:p>
            <a:pPr lvl="1"/>
            <a:r>
              <a:rPr lang="en-US" dirty="0" smtClean="0"/>
              <a:t>Access to Request (context) and </a:t>
            </a:r>
            <a:r>
              <a:rPr lang="en-US" dirty="0" err="1" smtClean="0"/>
              <a:t>HttpContext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897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Actions are the ultimate request </a:t>
            </a:r>
            <a:r>
              <a:rPr lang="en-US" dirty="0" smtClean="0"/>
              <a:t>destination</a:t>
            </a:r>
          </a:p>
          <a:p>
            <a:pPr lvl="1"/>
            <a:r>
              <a:rPr lang="en-US" dirty="0"/>
              <a:t>Public controller </a:t>
            </a:r>
            <a:r>
              <a:rPr lang="en-US" dirty="0" smtClean="0"/>
              <a:t>methods</a:t>
            </a:r>
          </a:p>
          <a:p>
            <a:pPr lvl="1"/>
            <a:r>
              <a:rPr lang="en-US" dirty="0" smtClean="0"/>
              <a:t>Non-static</a:t>
            </a:r>
          </a:p>
          <a:p>
            <a:pPr lvl="1"/>
            <a:r>
              <a:rPr lang="en-US" dirty="0"/>
              <a:t>No return value </a:t>
            </a:r>
            <a:r>
              <a:rPr lang="en-US" dirty="0" smtClean="0"/>
              <a:t>restrictions</a:t>
            </a:r>
          </a:p>
          <a:p>
            <a:r>
              <a:rPr lang="en-US" dirty="0" smtClean="0"/>
              <a:t>Actions </a:t>
            </a:r>
            <a:r>
              <a:rPr lang="en-US" dirty="0"/>
              <a:t>typically return an </a:t>
            </a:r>
            <a:r>
              <a:rPr lang="en-US" dirty="0" err="1"/>
              <a:t>ActionResult</a:t>
            </a:r>
            <a:r>
              <a:rPr lang="en-US" dirty="0"/>
              <a:t> </a:t>
            </a:r>
            <a:endParaRPr lang="en-US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425" y="4343400"/>
            <a:ext cx="4629150" cy="1295400"/>
          </a:xfrm>
          <a:prstGeom prst="roundRect">
            <a:avLst>
              <a:gd name="adj" fmla="val 593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483405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ASP.NET MVC Request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pic>
        <p:nvPicPr>
          <p:cNvPr id="5122" name="Picture 2" descr="http://i.msdn.microsoft.com/dd942833.fig02_L(en-us)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" y="1066800"/>
            <a:ext cx="7143750" cy="5391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6748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Action Results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791200"/>
          </a:xfrm>
        </p:spPr>
        <p:txBody>
          <a:bodyPr/>
          <a:lstStyle/>
          <a:p>
            <a:r>
              <a:rPr lang="en-US" dirty="0"/>
              <a:t>Controller action response to a browser request</a:t>
            </a:r>
          </a:p>
          <a:p>
            <a:r>
              <a:rPr lang="en-US" dirty="0"/>
              <a:t>Inherits from the base </a:t>
            </a:r>
            <a:r>
              <a:rPr lang="en-US" dirty="0" err="1"/>
              <a:t>ActionResult</a:t>
            </a:r>
            <a:r>
              <a:rPr lang="en-US" dirty="0"/>
              <a:t> class</a:t>
            </a:r>
          </a:p>
          <a:p>
            <a:r>
              <a:rPr lang="en-US" dirty="0"/>
              <a:t>Different results </a:t>
            </a:r>
            <a:r>
              <a:rPr lang="en-US" dirty="0" smtClean="0"/>
              <a:t>types: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5193021"/>
              </p:ext>
            </p:extLst>
          </p:nvPr>
        </p:nvGraphicFramePr>
        <p:xfrm>
          <a:off x="609600" y="3716655"/>
          <a:ext cx="7924800" cy="215074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14322"/>
                <a:gridCol w="3155894"/>
                <a:gridCol w="2454584"/>
              </a:tblGrid>
              <a:tr h="41211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u="none" strike="noStrike" kern="1200" baseline="0" dirty="0" smtClean="0"/>
                        <a:t>Name</a:t>
                      </a:r>
                      <a:endParaRPr lang="en-US" sz="18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Framework Behavior</a:t>
                      </a:r>
                      <a:endParaRPr lang="en-US" sz="18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Producing Method</a:t>
                      </a:r>
                      <a:endParaRPr lang="en-US" sz="18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1211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ContentResult</a:t>
                      </a:r>
                      <a:endParaRPr lang="en-US" sz="18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Returns a string literal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Content</a:t>
                      </a:r>
                    </a:p>
                  </a:txBody>
                  <a:tcPr/>
                </a:tc>
              </a:tr>
              <a:tr h="41211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EmptyResult</a:t>
                      </a:r>
                      <a:endParaRPr lang="en-US" sz="18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1211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FileContentResult</a:t>
                      </a:r>
                      <a:endParaRPr lang="en-US" sz="18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FilePathResult</a:t>
                      </a:r>
                      <a:endParaRPr lang="en-US" sz="18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FileStreamResult</a:t>
                      </a:r>
                      <a:endParaRPr lang="en-US" sz="18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Return the contents of a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8542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</a:t>
            </a:r>
            <a:r>
              <a:rPr lang="en-US" dirty="0" smtClean="0"/>
              <a:t>Results (2)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181722"/>
              </p:ext>
            </p:extLst>
          </p:nvPr>
        </p:nvGraphicFramePr>
        <p:xfrm>
          <a:off x="800100" y="1445895"/>
          <a:ext cx="7543800" cy="434530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14600"/>
                <a:gridCol w="2819400"/>
                <a:gridCol w="2209800"/>
              </a:tblGrid>
              <a:tr h="41211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u="none" strike="noStrike" kern="1200" baseline="0" dirty="0" smtClean="0"/>
                        <a:t>Name</a:t>
                      </a:r>
                      <a:endParaRPr lang="en-US" sz="18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Framework Behavior</a:t>
                      </a:r>
                      <a:endParaRPr lang="en-US" sz="18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Producing Method</a:t>
                      </a:r>
                      <a:endParaRPr lang="en-US" sz="18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1211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HttpUnauthorizedResult</a:t>
                      </a: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Returns an HTTP 403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1211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JavaScriptResult</a:t>
                      </a:r>
                      <a:endParaRPr lang="en-US" sz="18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Returns a script to execute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JavaScript</a:t>
                      </a:r>
                      <a:endParaRPr lang="en-US" dirty="0"/>
                    </a:p>
                  </a:txBody>
                  <a:tcPr/>
                </a:tc>
              </a:tr>
              <a:tr h="41211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JsonResult</a:t>
                      </a:r>
                      <a:endParaRPr lang="en-US" sz="18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Returns data in JSON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Json</a:t>
                      </a:r>
                      <a:endParaRPr lang="en-US" sz="18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1211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RedirectResult</a:t>
                      </a:r>
                      <a:endParaRPr lang="en-US" sz="18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Redirects the client to a new 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Redirect / </a:t>
                      </a:r>
                      <a:r>
                        <a:rPr lang="en-US" sz="1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RedirectPermanent</a:t>
                      </a:r>
                      <a:endParaRPr lang="en-US" sz="18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1211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RedirectToRouteResult</a:t>
                      </a:r>
                      <a:endParaRPr lang="en-US" sz="18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Redirect to another action, or another controller’s 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RedirectToRoute</a:t>
                      </a: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/ </a:t>
                      </a:r>
                      <a:r>
                        <a:rPr lang="en-US" sz="1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RedirectToAction</a:t>
                      </a:r>
                      <a:endParaRPr lang="en-US" sz="18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1211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ViewResult</a:t>
                      </a: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	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PartialViewResult</a:t>
                      </a: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Response is the responsibility of a view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View / </a:t>
                      </a:r>
                      <a:r>
                        <a:rPr lang="en-US" sz="1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PartialView</a:t>
                      </a:r>
                      <a:endParaRPr lang="en-US" sz="18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6712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Action Parameters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686800" cy="5791200"/>
          </a:xfrm>
        </p:spPr>
        <p:txBody>
          <a:bodyPr/>
          <a:lstStyle/>
          <a:p>
            <a:r>
              <a:rPr lang="en-US" dirty="0" smtClean="0"/>
              <a:t>ASP.NET MVC maps the data from the HTTP request to action parameters in few ways:</a:t>
            </a:r>
          </a:p>
          <a:p>
            <a:pPr lvl="1"/>
            <a:r>
              <a:rPr lang="en-US" dirty="0" smtClean="0"/>
              <a:t>Routing engine can pass parameters to actions</a:t>
            </a:r>
          </a:p>
          <a:p>
            <a:pPr lvl="2"/>
            <a:r>
              <a:rPr lang="en-US" dirty="0"/>
              <a:t>http://localhost/Users/NikolayIT</a:t>
            </a:r>
          </a:p>
          <a:p>
            <a:pPr lvl="2"/>
            <a:r>
              <a:rPr lang="en-US" dirty="0" smtClean="0"/>
              <a:t>Routing pattern: Users/{</a:t>
            </a:r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username</a:t>
            </a:r>
            <a:r>
              <a:rPr lang="en-US" dirty="0" smtClean="0"/>
              <a:t>}</a:t>
            </a:r>
          </a:p>
          <a:p>
            <a:pPr lvl="1"/>
            <a:r>
              <a:rPr lang="en-US" dirty="0" smtClean="0"/>
              <a:t>URL query string can contains parameters</a:t>
            </a:r>
          </a:p>
          <a:p>
            <a:pPr lvl="2"/>
            <a:r>
              <a:rPr lang="en-US" dirty="0" smtClean="0"/>
              <a:t>/Users/</a:t>
            </a:r>
            <a:r>
              <a:rPr lang="en-US" dirty="0" err="1" smtClean="0"/>
              <a:t>ByUsername?</a:t>
            </a:r>
            <a:r>
              <a:rPr lang="en-US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username</a:t>
            </a:r>
            <a:r>
              <a:rPr lang="en-US" dirty="0" smtClean="0"/>
              <a:t>=</a:t>
            </a:r>
            <a:r>
              <a:rPr lang="en-US" dirty="0" err="1" smtClean="0"/>
              <a:t>NikolayIT</a:t>
            </a:r>
            <a:endParaRPr lang="en-US" dirty="0" smtClean="0"/>
          </a:p>
          <a:p>
            <a:pPr lvl="1"/>
            <a:r>
              <a:rPr lang="en-US" dirty="0" smtClean="0"/>
              <a:t>HTTP post data can also contain parameters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450" y="5572125"/>
            <a:ext cx="4991100" cy="9810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53250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Action Selectors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791200"/>
          </a:xfrm>
        </p:spPr>
        <p:txBody>
          <a:bodyPr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 smtClean="0"/>
              <a:t>ActionName(string name)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 err="1" smtClean="0"/>
              <a:t>AcceptVerbs</a:t>
            </a:r>
            <a:endParaRPr lang="en-US" dirty="0" smtClean="0"/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 err="1" smtClean="0"/>
              <a:t>HttpPost</a:t>
            </a:r>
            <a:endParaRPr lang="en-US" dirty="0" smtClean="0"/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 err="1" smtClean="0"/>
              <a:t>HttpGet</a:t>
            </a:r>
            <a:endParaRPr lang="en-US" dirty="0" smtClean="0"/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 err="1" smtClean="0"/>
              <a:t>HttpDelete</a:t>
            </a:r>
            <a:endParaRPr lang="en-US" dirty="0" smtClean="0"/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 err="1" smtClean="0"/>
              <a:t>HttpOptions</a:t>
            </a:r>
            <a:endParaRPr lang="en-US" dirty="0" smtClean="0"/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 smtClean="0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 err="1"/>
              <a:t>NonAction</a:t>
            </a:r>
            <a:endParaRPr lang="en-US" dirty="0" smtClean="0"/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 err="1" smtClean="0"/>
              <a:t>RequireHttps</a:t>
            </a:r>
            <a:endParaRPr lang="en-US" dirty="0" smtClean="0"/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 err="1" smtClean="0"/>
              <a:t>ChildActionOnly</a:t>
            </a:r>
            <a:r>
              <a:rPr lang="en-US" dirty="0" smtClean="0"/>
              <a:t> – Only for </a:t>
            </a:r>
            <a:r>
              <a:rPr lang="en-US" dirty="0" err="1" smtClean="0"/>
              <a:t>Html.Action</a:t>
            </a:r>
            <a:r>
              <a:rPr lang="en-US" dirty="0" smtClean="0"/>
              <a:t>()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327" y="1828800"/>
            <a:ext cx="5328745" cy="2971800"/>
          </a:xfrm>
          <a:prstGeom prst="roundRect">
            <a:avLst>
              <a:gd name="adj" fmla="val 4873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78323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Action Filters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686800" cy="5791200"/>
          </a:xfrm>
        </p:spPr>
        <p:txBody>
          <a:bodyPr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 smtClean="0"/>
              <a:t>Apply pre- and post-processing logic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 smtClean="0"/>
              <a:t>Similar to HTTP Modules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 smtClean="0"/>
              <a:t>Can be applied to actions and to controllers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 smtClean="0"/>
              <a:t>Global filters can be registered in GlobalFilters. Filters (or in 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/App_Start/</a:t>
            </a:r>
            <a:r>
              <a:rPr lang="en-US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FilterConfig.cs</a:t>
            </a:r>
            <a:r>
              <a:rPr lang="en-US" dirty="0" smtClean="0"/>
              <a:t>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7984234"/>
              </p:ext>
            </p:extLst>
          </p:nvPr>
        </p:nvGraphicFramePr>
        <p:xfrm>
          <a:off x="609600" y="3662303"/>
          <a:ext cx="8001000" cy="29286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385037"/>
                <a:gridCol w="4615963"/>
              </a:tblGrid>
              <a:tr h="41211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u="none" strike="noStrike" kern="1200" baseline="0" dirty="0" smtClean="0"/>
                        <a:t>Name</a:t>
                      </a:r>
                      <a:endParaRPr lang="en-US" sz="18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US" sz="18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12115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OutputCache</a:t>
                      </a:r>
                      <a:endParaRPr lang="en-US" sz="18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Cache the output of a controller</a:t>
                      </a:r>
                    </a:p>
                  </a:txBody>
                  <a:tcPr/>
                </a:tc>
              </a:tr>
              <a:tr h="412115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ValidateInput</a:t>
                      </a: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(false)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Turn off request validation and allow dangerous input (html tags)</a:t>
                      </a:r>
                    </a:p>
                  </a:txBody>
                  <a:tcPr/>
                </a:tc>
              </a:tr>
              <a:tr h="41211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Authorize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Restrict an action to authorized users or roles</a:t>
                      </a:r>
                    </a:p>
                  </a:txBody>
                  <a:tcPr/>
                </a:tc>
              </a:tr>
              <a:tr h="41211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ValidateAntiForgeryToken</a:t>
                      </a:r>
                      <a:endParaRPr lang="en-US" sz="18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Helps prevent cross site request forgeries</a:t>
                      </a:r>
                    </a:p>
                  </a:txBody>
                  <a:tcPr/>
                </a:tc>
              </a:tr>
              <a:tr h="412115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HandleError</a:t>
                      </a:r>
                      <a:endParaRPr lang="en-US" sz="18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Can specify a view to render in the event of an unhandled exception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9492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Custom Action Filter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 C# class file in /Filters/</a:t>
            </a:r>
          </a:p>
          <a:p>
            <a:r>
              <a:rPr lang="en-US" dirty="0" smtClean="0"/>
              <a:t>Inherit </a:t>
            </a:r>
            <a:r>
              <a:rPr lang="en-US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ActionFilterAttribute</a:t>
            </a:r>
            <a:endParaRPr lang="en-US" dirty="0" smtClean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r>
              <a:rPr lang="en-US" dirty="0" smtClean="0"/>
              <a:t>We can override:</a:t>
            </a:r>
          </a:p>
          <a:p>
            <a:pPr lvl="1"/>
            <a:r>
              <a:rPr lang="en-US" noProof="1" smtClean="0"/>
              <a:t>OnActionExecuting(ActionExecutingContext)</a:t>
            </a:r>
          </a:p>
          <a:p>
            <a:pPr lvl="1"/>
            <a:r>
              <a:rPr lang="en-US" noProof="1" smtClean="0"/>
              <a:t>OnActionExecuted(ActionExecutedContext)</a:t>
            </a:r>
          </a:p>
          <a:p>
            <a:pPr lvl="1"/>
            <a:r>
              <a:rPr lang="en-US" noProof="1" smtClean="0"/>
              <a:t>OnResultExecuting(ResultExecutingContext)</a:t>
            </a:r>
          </a:p>
          <a:p>
            <a:pPr lvl="1"/>
            <a:r>
              <a:rPr lang="en-US" noProof="1" smtClean="0"/>
              <a:t>OnResultExecuted(ResultExecutedContext)</a:t>
            </a:r>
          </a:p>
          <a:p>
            <a:r>
              <a:rPr lang="en-US" dirty="0" smtClean="0"/>
              <a:t>We can apply our new attribute to a controller, method or globally in </a:t>
            </a:r>
            <a:r>
              <a:rPr lang="en-US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GlobalFilters.Filters</a:t>
            </a:r>
            <a:endParaRPr lang="en-US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66800"/>
            <a:ext cx="2443655" cy="9144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143764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Action </a:t>
            </a:r>
            <a:r>
              <a:rPr lang="en-US" dirty="0" smtClean="0"/>
              <a:t>Filter (2)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381000" y="990600"/>
            <a:ext cx="8077200" cy="4401205"/>
          </a:xfrm>
        </p:spPr>
        <p:txBody>
          <a:bodyPr/>
          <a:lstStyle/>
          <a:p>
            <a:r>
              <a:rPr lang="en-US" b="0" dirty="0"/>
              <a:t>public class </a:t>
            </a:r>
            <a:r>
              <a:rPr lang="en-US" b="0" dirty="0" err="1"/>
              <a:t>LogAttribute</a:t>
            </a:r>
            <a:r>
              <a:rPr lang="en-US" b="0" dirty="0"/>
              <a:t> : </a:t>
            </a:r>
            <a:r>
              <a:rPr lang="en-US" b="0" dirty="0" err="1" smtClean="0"/>
              <a:t>ActionFilterAttribute</a:t>
            </a:r>
            <a:endParaRPr lang="en-US" b="0" dirty="0" smtClean="0"/>
          </a:p>
          <a:p>
            <a:r>
              <a:rPr lang="en-US" b="0" dirty="0" smtClean="0"/>
              <a:t>{</a:t>
            </a:r>
          </a:p>
          <a:p>
            <a:r>
              <a:rPr lang="en-US" b="0" dirty="0" smtClean="0"/>
              <a:t>   public </a:t>
            </a:r>
            <a:r>
              <a:rPr lang="en-US" b="0" dirty="0"/>
              <a:t>override void </a:t>
            </a:r>
            <a:r>
              <a:rPr lang="en-US" b="0" dirty="0" err="1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OnActionExecuting</a:t>
            </a:r>
            <a:r>
              <a:rPr lang="en-US" b="0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 </a:t>
            </a:r>
            <a:r>
              <a:rPr lang="en-US" b="0" dirty="0" smtClean="0"/>
              <a:t>	(</a:t>
            </a:r>
            <a:r>
              <a:rPr lang="en-US" b="0" dirty="0" err="1"/>
              <a:t>ActionExecutingContext</a:t>
            </a:r>
            <a:r>
              <a:rPr lang="en-US" b="0" dirty="0"/>
              <a:t> </a:t>
            </a:r>
            <a:r>
              <a:rPr lang="en-US" b="0" dirty="0" err="1"/>
              <a:t>filterContext</a:t>
            </a:r>
            <a:r>
              <a:rPr lang="en-US" b="0" dirty="0"/>
              <a:t>) { </a:t>
            </a:r>
            <a:r>
              <a:rPr lang="en-US" b="0" dirty="0">
                <a:solidFill>
                  <a:schemeClr val="accent2">
                    <a:lumMod val="75000"/>
                  </a:schemeClr>
                </a:solidFill>
              </a:rPr>
              <a:t>/* */</a:t>
            </a:r>
            <a:r>
              <a:rPr lang="en-US" b="0" dirty="0"/>
              <a:t> </a:t>
            </a:r>
            <a:r>
              <a:rPr lang="en-US" b="0" dirty="0" smtClean="0"/>
              <a:t>}</a:t>
            </a:r>
          </a:p>
          <a:p>
            <a:endParaRPr lang="en-US" b="0" dirty="0"/>
          </a:p>
          <a:p>
            <a:r>
              <a:rPr lang="en-US" b="0" dirty="0" smtClean="0"/>
              <a:t>   public </a:t>
            </a:r>
            <a:r>
              <a:rPr lang="en-US" b="0" dirty="0"/>
              <a:t>override void </a:t>
            </a:r>
            <a:r>
              <a:rPr lang="en-US" b="0" dirty="0" err="1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OnActionExecuted</a:t>
            </a:r>
            <a:r>
              <a:rPr lang="en-US" b="0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 </a:t>
            </a:r>
            <a:r>
              <a:rPr lang="en-US" b="0" dirty="0" smtClean="0"/>
              <a:t>	(</a:t>
            </a:r>
            <a:r>
              <a:rPr lang="en-US" b="0" dirty="0" err="1"/>
              <a:t>ActionExecutedContext</a:t>
            </a:r>
            <a:r>
              <a:rPr lang="en-US" b="0" dirty="0"/>
              <a:t> </a:t>
            </a:r>
            <a:r>
              <a:rPr lang="en-US" b="0" dirty="0" err="1"/>
              <a:t>filterContext</a:t>
            </a:r>
            <a:r>
              <a:rPr lang="en-US" b="0" dirty="0"/>
              <a:t>) { </a:t>
            </a:r>
            <a:r>
              <a:rPr lang="en-US" b="0" dirty="0">
                <a:solidFill>
                  <a:schemeClr val="accent2">
                    <a:lumMod val="75000"/>
                  </a:schemeClr>
                </a:solidFill>
              </a:rPr>
              <a:t>/* */ </a:t>
            </a:r>
            <a:r>
              <a:rPr lang="en-US" b="0" dirty="0" smtClean="0"/>
              <a:t>}</a:t>
            </a:r>
          </a:p>
          <a:p>
            <a:endParaRPr lang="en-US" b="0" dirty="0"/>
          </a:p>
          <a:p>
            <a:r>
              <a:rPr lang="en-US" b="0" dirty="0" smtClean="0"/>
              <a:t>   public </a:t>
            </a:r>
            <a:r>
              <a:rPr lang="en-US" b="0" dirty="0"/>
              <a:t>override void </a:t>
            </a:r>
            <a:r>
              <a:rPr lang="en-US" b="0" dirty="0" err="1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OnResultExecuting</a:t>
            </a:r>
            <a:r>
              <a:rPr lang="en-US" b="0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 </a:t>
            </a:r>
            <a:r>
              <a:rPr lang="en-US" b="0" dirty="0" smtClean="0"/>
              <a:t>	(</a:t>
            </a:r>
            <a:r>
              <a:rPr lang="en-US" b="0" dirty="0" err="1"/>
              <a:t>ResultExecutingContext</a:t>
            </a:r>
            <a:r>
              <a:rPr lang="en-US" b="0" dirty="0"/>
              <a:t> </a:t>
            </a:r>
            <a:r>
              <a:rPr lang="en-US" b="0" dirty="0" err="1"/>
              <a:t>filterContext</a:t>
            </a:r>
            <a:r>
              <a:rPr lang="en-US" b="0" dirty="0"/>
              <a:t>) { </a:t>
            </a:r>
            <a:r>
              <a:rPr lang="en-US" b="0" dirty="0">
                <a:solidFill>
                  <a:schemeClr val="accent2">
                    <a:lumMod val="75000"/>
                  </a:schemeClr>
                </a:solidFill>
              </a:rPr>
              <a:t>/* */ </a:t>
            </a:r>
            <a:r>
              <a:rPr lang="en-US" b="0" dirty="0" smtClean="0"/>
              <a:t>}</a:t>
            </a:r>
          </a:p>
          <a:p>
            <a:endParaRPr lang="en-US" b="0" dirty="0"/>
          </a:p>
          <a:p>
            <a:r>
              <a:rPr lang="en-US" b="0" dirty="0" smtClean="0"/>
              <a:t>   public </a:t>
            </a:r>
            <a:r>
              <a:rPr lang="en-US" b="0" dirty="0"/>
              <a:t>override void </a:t>
            </a:r>
            <a:r>
              <a:rPr lang="en-US" b="0" dirty="0" err="1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OnResultExecuted</a:t>
            </a:r>
            <a:r>
              <a:rPr lang="en-US" b="0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 </a:t>
            </a:r>
            <a:r>
              <a:rPr lang="en-US" b="0" dirty="0" smtClean="0"/>
              <a:t>	(</a:t>
            </a:r>
            <a:r>
              <a:rPr lang="en-US" b="0" dirty="0" err="1"/>
              <a:t>ResultExecutedContext</a:t>
            </a:r>
            <a:r>
              <a:rPr lang="en-US" b="0" dirty="0"/>
              <a:t> </a:t>
            </a:r>
            <a:r>
              <a:rPr lang="en-US" b="0" dirty="0" err="1"/>
              <a:t>filterContext</a:t>
            </a:r>
            <a:r>
              <a:rPr lang="en-US" b="0" dirty="0"/>
              <a:t>) { </a:t>
            </a:r>
            <a:r>
              <a:rPr lang="en-US" b="0" dirty="0">
                <a:solidFill>
                  <a:schemeClr val="accent2">
                    <a:lumMod val="75000"/>
                  </a:schemeClr>
                </a:solidFill>
              </a:rPr>
              <a:t>/* */ </a:t>
            </a:r>
            <a:r>
              <a:rPr lang="en-US" b="0" dirty="0" smtClean="0"/>
              <a:t>}</a:t>
            </a:r>
          </a:p>
          <a:p>
            <a:r>
              <a:rPr lang="en-US" b="0" dirty="0" smtClean="0"/>
              <a:t>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sp>
        <p:nvSpPr>
          <p:cNvPr id="8" name="Text Placeholder 6"/>
          <p:cNvSpPr txBox="1">
            <a:spLocks/>
          </p:cNvSpPr>
          <p:nvPr/>
        </p:nvSpPr>
        <p:spPr>
          <a:xfrm>
            <a:off x="1676400" y="5537537"/>
            <a:ext cx="6781800" cy="101566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marL="0" indent="0" algn="l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000" b="1" kern="120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ea typeface="+mn-ea"/>
                <a:cs typeface="Consolas" pitchFamily="49" charset="0"/>
              </a:defRPr>
            </a:lvl1pPr>
            <a:lvl2pPr marL="63023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>
                  <a:lumMod val="60000"/>
                  <a:lumOff val="40000"/>
                </a:schemeClr>
              </a:buClr>
              <a:buFont typeface="Wingdings 2" pitchFamily="18" charset="2"/>
              <a:buChar char=""/>
              <a:defRPr sz="30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2233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>
                  <a:lumMod val="50000"/>
                </a:schemeClr>
              </a:buClr>
              <a:buFont typeface="Wingdings 2" pitchFamily="18" charset="2"/>
              <a:buChar char=""/>
              <a:defRPr sz="28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874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8BD52"/>
              </a:buClr>
              <a:buFont typeface="Wingdings 2" pitchFamily="18" charset="2"/>
              <a:buChar char=""/>
              <a:defRPr sz="26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6A6BD"/>
              </a:buClr>
              <a:buFont typeface="Wingdings 2" pitchFamily="18" charset="2"/>
              <a:buChar char=""/>
              <a:defRPr sz="24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673352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11096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1408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22576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[</a:t>
            </a:r>
            <a:r>
              <a:rPr lang="en-US" b="0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Log]</a:t>
            </a:r>
          </a:p>
          <a:p>
            <a:r>
              <a:rPr lang="en-US" b="0" dirty="0" smtClean="0"/>
              <a:t>public </a:t>
            </a:r>
            <a:r>
              <a:rPr lang="en-US" b="0" dirty="0"/>
              <a:t>class </a:t>
            </a:r>
            <a:r>
              <a:rPr lang="en-US" b="0" dirty="0" err="1"/>
              <a:t>DepartmentController</a:t>
            </a:r>
            <a:r>
              <a:rPr lang="en-US" b="0" dirty="0"/>
              <a:t> : Controller { </a:t>
            </a:r>
            <a:r>
              <a:rPr lang="en-US" b="0" dirty="0">
                <a:solidFill>
                  <a:schemeClr val="accent2">
                    <a:lumMod val="75000"/>
                  </a:schemeClr>
                </a:solidFill>
              </a:rPr>
              <a:t>// ...</a:t>
            </a:r>
            <a:r>
              <a:rPr lang="en-US" b="0" dirty="0"/>
              <a:t> }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780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143000"/>
            <a:ext cx="7924800" cy="685800"/>
          </a:xfrm>
        </p:spPr>
        <p:txBody>
          <a:bodyPr/>
          <a:lstStyle/>
          <a:p>
            <a:r>
              <a:rPr lang="en-US" dirty="0" smtClean="0"/>
              <a:t>Razor Views</a:t>
            </a:r>
            <a:endParaRPr lang="en-US" dirty="0"/>
          </a:p>
        </p:txBody>
      </p:sp>
      <p:pic>
        <p:nvPicPr>
          <p:cNvPr id="2050" name="Picture 2" descr="http://www.dotnetspider.com/attachments/Forums/285038-26239-phot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4687" y="2209800"/>
            <a:ext cx="5254625" cy="392345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6049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Views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HTML </a:t>
            </a:r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templates</a:t>
            </a:r>
            <a:r>
              <a:rPr lang="en-US" dirty="0" smtClean="0"/>
              <a:t> of the application</a:t>
            </a:r>
          </a:p>
          <a:p>
            <a:r>
              <a:rPr lang="en-US" dirty="0" smtClean="0"/>
              <a:t>A lot of </a:t>
            </a:r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view engines </a:t>
            </a:r>
            <a:r>
              <a:rPr lang="en-US" dirty="0" smtClean="0"/>
              <a:t>available</a:t>
            </a:r>
          </a:p>
          <a:p>
            <a:pPr lvl="1"/>
            <a:r>
              <a:rPr lang="en-US" dirty="0" smtClean="0"/>
              <a:t>View engines execute code and provide HTML</a:t>
            </a:r>
          </a:p>
          <a:p>
            <a:pPr lvl="1"/>
            <a:r>
              <a:rPr lang="en-US" dirty="0" smtClean="0"/>
              <a:t>Provide a lot of helpers to easily generate HTML</a:t>
            </a:r>
          </a:p>
          <a:p>
            <a:pPr lvl="1"/>
            <a:r>
              <a:rPr lang="en-US" dirty="0"/>
              <a:t>The most popular is 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Razor</a:t>
            </a:r>
            <a:r>
              <a:rPr lang="en-US" dirty="0"/>
              <a:t> and </a:t>
            </a:r>
            <a:r>
              <a:rPr lang="en-US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WebForms</a:t>
            </a:r>
            <a:endParaRPr lang="en-US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r>
              <a:rPr lang="en-US" dirty="0" smtClean="0"/>
              <a:t>We can pass data to views through </a:t>
            </a:r>
            <a:r>
              <a:rPr lang="en-US" dirty="0" err="1" smtClean="0"/>
              <a:t>ViewBag</a:t>
            </a:r>
            <a:r>
              <a:rPr lang="en-US" dirty="0" smtClean="0"/>
              <a:t>, </a:t>
            </a:r>
            <a:r>
              <a:rPr lang="en-US" dirty="0" err="1" smtClean="0"/>
              <a:t>ViewData</a:t>
            </a:r>
            <a:r>
              <a:rPr lang="en-US" dirty="0"/>
              <a:t> </a:t>
            </a:r>
            <a:r>
              <a:rPr lang="en-US" dirty="0" smtClean="0"/>
              <a:t>and Model (strongly-typed views)</a:t>
            </a:r>
          </a:p>
          <a:p>
            <a:r>
              <a:rPr lang="en-US" dirty="0" smtClean="0"/>
              <a:t>Views support master pages (layout views)</a:t>
            </a:r>
          </a:p>
          <a:p>
            <a:r>
              <a:rPr lang="en-US" dirty="0" smtClean="0"/>
              <a:t>Other views can be rendered (partial views)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461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Razor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791200"/>
          </a:xfrm>
        </p:spPr>
        <p:txBody>
          <a:bodyPr/>
          <a:lstStyle/>
          <a:p>
            <a:r>
              <a:rPr lang="en-US" dirty="0" smtClean="0"/>
              <a:t>Template markup syntax</a:t>
            </a:r>
          </a:p>
          <a:p>
            <a:r>
              <a:rPr lang="en-US" dirty="0"/>
              <a:t>Simple-syntax view engine</a:t>
            </a:r>
          </a:p>
          <a:p>
            <a:r>
              <a:rPr lang="en-US" dirty="0" smtClean="0"/>
              <a:t>Based </a:t>
            </a:r>
            <a:r>
              <a:rPr lang="en-US" dirty="0"/>
              <a:t>on the C# programming </a:t>
            </a:r>
            <a:r>
              <a:rPr lang="en-US" dirty="0" smtClean="0"/>
              <a:t>language</a:t>
            </a:r>
          </a:p>
          <a:p>
            <a:r>
              <a:rPr lang="en-US" dirty="0" smtClean="0"/>
              <a:t>Enables the programmer to use an HTML construction workflow</a:t>
            </a:r>
          </a:p>
          <a:p>
            <a:r>
              <a:rPr lang="en-US" dirty="0" smtClean="0"/>
              <a:t>Code-focused </a:t>
            </a:r>
            <a:r>
              <a:rPr lang="en-US" dirty="0"/>
              <a:t>templating approach, with minimal transition </a:t>
            </a:r>
            <a:r>
              <a:rPr lang="en-US" dirty="0" smtClean="0"/>
              <a:t>between </a:t>
            </a:r>
            <a:r>
              <a:rPr lang="en-US" dirty="0"/>
              <a:t>HTML and </a:t>
            </a:r>
            <a:r>
              <a:rPr lang="en-US" dirty="0" smtClean="0"/>
              <a:t>code</a:t>
            </a:r>
          </a:p>
          <a:p>
            <a:pPr lvl="1"/>
            <a:r>
              <a:rPr lang="en-US" dirty="0"/>
              <a:t>Razor syntax starts code blocks with a @ character and does not require explicit closing of the code-block</a:t>
            </a:r>
            <a:endParaRPr lang="en-US" dirty="0" smtClean="0"/>
          </a:p>
        </p:txBody>
      </p:sp>
      <p:pic>
        <p:nvPicPr>
          <p:cNvPr id="1026" name="Picture 2" descr="http://4.bp.blogspot.com/-a6YTA0JT92s/UCsiVEUT02I/AAAAAAAABgs/ZW9FTY2Ea7Q/s1600/razo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5736" y="864078"/>
            <a:ext cx="2180204" cy="1295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0538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Goals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791200"/>
          </a:xfrm>
        </p:spPr>
        <p:txBody>
          <a:bodyPr/>
          <a:lstStyle/>
          <a:p>
            <a:r>
              <a:rPr lang="en-US" dirty="0"/>
              <a:t>Compact, Expressive, and </a:t>
            </a:r>
            <a:r>
              <a:rPr lang="en-US" dirty="0" smtClean="0"/>
              <a:t>Fluid</a:t>
            </a:r>
          </a:p>
          <a:p>
            <a:pPr lvl="1"/>
            <a:r>
              <a:rPr lang="en-US" dirty="0" smtClean="0"/>
              <a:t>Smart </a:t>
            </a:r>
            <a:r>
              <a:rPr lang="en-US" dirty="0"/>
              <a:t>enough to </a:t>
            </a:r>
            <a:r>
              <a:rPr lang="en-US" dirty="0" smtClean="0"/>
              <a:t>differ HTML from code</a:t>
            </a:r>
          </a:p>
          <a:p>
            <a:r>
              <a:rPr lang="en-US" dirty="0"/>
              <a:t>Easy to </a:t>
            </a:r>
            <a:r>
              <a:rPr lang="en-US" dirty="0" smtClean="0"/>
              <a:t>Learn</a:t>
            </a:r>
          </a:p>
          <a:p>
            <a:r>
              <a:rPr lang="en-US" dirty="0"/>
              <a:t>Is not a new </a:t>
            </a:r>
            <a:r>
              <a:rPr lang="en-US" dirty="0" smtClean="0"/>
              <a:t>language</a:t>
            </a:r>
          </a:p>
          <a:p>
            <a:r>
              <a:rPr lang="en-US" dirty="0"/>
              <a:t>Works with any Text </a:t>
            </a:r>
            <a:r>
              <a:rPr lang="en-US" dirty="0" smtClean="0"/>
              <a:t>Editor</a:t>
            </a:r>
          </a:p>
          <a:p>
            <a:r>
              <a:rPr lang="en-US" dirty="0"/>
              <a:t>Has great </a:t>
            </a:r>
            <a:r>
              <a:rPr lang="en-US" dirty="0" err="1" smtClean="0"/>
              <a:t>Intellisense</a:t>
            </a:r>
            <a:endParaRPr lang="en-US" dirty="0" smtClean="0"/>
          </a:p>
          <a:p>
            <a:pPr lvl="1"/>
            <a:r>
              <a:rPr lang="en-US" dirty="0" smtClean="0"/>
              <a:t>Built in Visual Studio</a:t>
            </a:r>
          </a:p>
          <a:p>
            <a:r>
              <a:rPr lang="en-US" dirty="0"/>
              <a:t>Unit </a:t>
            </a:r>
            <a:r>
              <a:rPr lang="en-US" dirty="0" smtClean="0"/>
              <a:t>Testable</a:t>
            </a:r>
          </a:p>
          <a:p>
            <a:pPr lvl="1"/>
            <a:r>
              <a:rPr lang="en-US" dirty="0"/>
              <a:t>W</a:t>
            </a:r>
            <a:r>
              <a:rPr lang="en-US" dirty="0" smtClean="0"/>
              <a:t>ithout </a:t>
            </a:r>
            <a:r>
              <a:rPr lang="en-US" dirty="0"/>
              <a:t>requiring a controller or web-server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82418" y="2286000"/>
            <a:ext cx="1866182" cy="838200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Template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5982418" y="3702889"/>
            <a:ext cx="1866182" cy="838200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Data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5982418" y="5119778"/>
            <a:ext cx="1866182" cy="838200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Generated Output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620396" y="2853904"/>
            <a:ext cx="590226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+</a:t>
            </a:r>
            <a:endParaRPr lang="en-US" sz="6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620396" y="4259389"/>
            <a:ext cx="590226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=</a:t>
            </a:r>
            <a:endParaRPr lang="en-US" sz="6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62653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CFF33"/>
                </a:solidFill>
              </a:rPr>
              <a:t>Pass Data to a 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</a:t>
            </a:r>
            <a:r>
              <a:rPr lang="en-US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ViewBag</a:t>
            </a:r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n-US" dirty="0"/>
              <a:t>(dynamic type):</a:t>
            </a:r>
          </a:p>
          <a:p>
            <a:pPr lvl="1"/>
            <a:r>
              <a:rPr lang="en-US" dirty="0"/>
              <a:t>Action: </a:t>
            </a:r>
            <a:r>
              <a:rPr lang="en-US" dirty="0" err="1"/>
              <a:t>ViewBag.Message</a:t>
            </a:r>
            <a:r>
              <a:rPr lang="en-US" dirty="0"/>
              <a:t> = "Hello World!";</a:t>
            </a:r>
          </a:p>
          <a:p>
            <a:pPr lvl="1"/>
            <a:r>
              <a:rPr lang="en-US" dirty="0"/>
              <a:t>View: @</a:t>
            </a:r>
            <a:r>
              <a:rPr lang="en-US" dirty="0" err="1"/>
              <a:t>ViewBag.Message</a:t>
            </a:r>
            <a:r>
              <a:rPr lang="en-US" dirty="0"/>
              <a:t> </a:t>
            </a:r>
          </a:p>
          <a:p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Strongly-typed </a:t>
            </a:r>
            <a:r>
              <a:rPr lang="en-US" dirty="0" smtClean="0"/>
              <a:t>views:</a:t>
            </a:r>
          </a:p>
          <a:p>
            <a:pPr lvl="1"/>
            <a:r>
              <a:rPr lang="en-US" dirty="0"/>
              <a:t>Action: return View(model);</a:t>
            </a:r>
          </a:p>
          <a:p>
            <a:pPr lvl="1"/>
            <a:r>
              <a:rPr lang="en-US" dirty="0"/>
              <a:t>View: @model </a:t>
            </a:r>
            <a:r>
              <a:rPr lang="en-US" dirty="0" err="1"/>
              <a:t>ModelDataType</a:t>
            </a:r>
            <a:r>
              <a:rPr lang="en-US" dirty="0"/>
              <a:t>;</a:t>
            </a:r>
          </a:p>
          <a:p>
            <a:r>
              <a:rPr lang="en-US" dirty="0"/>
              <a:t>With </a:t>
            </a:r>
            <a:r>
              <a:rPr lang="en-US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ViewData</a:t>
            </a:r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n-US" dirty="0"/>
              <a:t>(dictionary)</a:t>
            </a:r>
          </a:p>
          <a:p>
            <a:pPr lvl="1"/>
            <a:r>
              <a:rPr lang="en-US" dirty="0" err="1"/>
              <a:t>ViewData</a:t>
            </a:r>
            <a:r>
              <a:rPr lang="en-US" dirty="0"/>
              <a:t>["message"] = "Hello World</a:t>
            </a:r>
            <a:r>
              <a:rPr lang="en-US" dirty="0" smtClean="0"/>
              <a:t>!";</a:t>
            </a:r>
          </a:p>
          <a:p>
            <a:pPr lvl="1"/>
            <a:r>
              <a:rPr lang="en-US" dirty="0" smtClean="0"/>
              <a:t>View: @</a:t>
            </a:r>
            <a:r>
              <a:rPr lang="en-US" dirty="0" err="1" smtClean="0"/>
              <a:t>ViewData</a:t>
            </a:r>
            <a:r>
              <a:rPr lang="en-US" dirty="0" smtClean="0"/>
              <a:t>["message"]</a:t>
            </a:r>
            <a:endParaRPr lang="en-US" dirty="0"/>
          </a:p>
          <a:p>
            <a:pPr lvl="1"/>
            <a:endParaRPr lang="en-US" dirty="0">
              <a:solidFill>
                <a:srgbClr val="F5FFE0"/>
              </a:solidFill>
              <a:latin typeface="Corbel" panose="020B0503020204020204" pitchFamily="34" charset="0"/>
            </a:endParaRPr>
          </a:p>
          <a:p>
            <a:pPr lvl="2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438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it works?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700883" y="2617191"/>
            <a:ext cx="2137606" cy="1015663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Template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3577916" y="2617191"/>
            <a:ext cx="2137606" cy="1015663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Data</a:t>
            </a:r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6456387" y="2618842"/>
            <a:ext cx="2137607" cy="1014012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Generated Output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2914689" y="2591626"/>
            <a:ext cx="590226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+</a:t>
            </a:r>
            <a:endParaRPr lang="en-US" sz="6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791722" y="2617191"/>
            <a:ext cx="590226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=</a:t>
            </a:r>
            <a:endParaRPr lang="en-US" sz="6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955" y="3868901"/>
            <a:ext cx="3986541" cy="217516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355" y="1295400"/>
            <a:ext cx="3657600" cy="111162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142" y="4942106"/>
            <a:ext cx="2880233" cy="100518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5308" y="1395744"/>
            <a:ext cx="2311492" cy="9109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6" name="Left Arrow 15"/>
          <p:cNvSpPr/>
          <p:nvPr/>
        </p:nvSpPr>
        <p:spPr>
          <a:xfrm rot="1302713">
            <a:off x="5030318" y="4594017"/>
            <a:ext cx="1370409" cy="224085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Left Arrow 16"/>
          <p:cNvSpPr/>
          <p:nvPr/>
        </p:nvSpPr>
        <p:spPr>
          <a:xfrm rot="14450474">
            <a:off x="2892711" y="4951596"/>
            <a:ext cx="1370409" cy="224085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Left Arrow 17"/>
          <p:cNvSpPr/>
          <p:nvPr/>
        </p:nvSpPr>
        <p:spPr>
          <a:xfrm rot="4084614">
            <a:off x="1938419" y="3886682"/>
            <a:ext cx="3435242" cy="224085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2057400" y="956846"/>
            <a:ext cx="2042555" cy="3385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1" dirty="0" err="1" smtClean="0">
                <a:solidFill>
                  <a:schemeClr val="bg1"/>
                </a:solidFill>
              </a:rPr>
              <a:t>ByUsername.cshtml</a:t>
            </a:r>
            <a:endParaRPr lang="en-US" sz="1600" b="1" dirty="0" smtClean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92259" y="3532505"/>
            <a:ext cx="1781716" cy="3385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1" dirty="0" err="1" smtClean="0">
                <a:solidFill>
                  <a:schemeClr val="bg1"/>
                </a:solidFill>
              </a:rPr>
              <a:t>UsersController.cs</a:t>
            </a:r>
            <a:endParaRPr lang="en-US" sz="1600" b="1" dirty="0" smtClean="0"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97345" y="4597107"/>
            <a:ext cx="1412029" cy="3385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1" dirty="0" err="1" smtClean="0">
                <a:solidFill>
                  <a:schemeClr val="bg1"/>
                </a:solidFill>
              </a:rPr>
              <a:t>UserModel.cs</a:t>
            </a:r>
            <a:endParaRPr lang="en-US" sz="1600" b="1" dirty="0" smtClean="0">
              <a:solidFill>
                <a:schemeClr val="bg1"/>
              </a:solidFill>
            </a:endParaRPr>
          </a:p>
        </p:txBody>
      </p:sp>
      <p:sp>
        <p:nvSpPr>
          <p:cNvPr id="19" name="Left Arrow 18"/>
          <p:cNvSpPr/>
          <p:nvPr/>
        </p:nvSpPr>
        <p:spPr>
          <a:xfrm rot="13831493">
            <a:off x="3067386" y="3099664"/>
            <a:ext cx="4487213" cy="224085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7274771" y="1050745"/>
            <a:ext cx="1412029" cy="3385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bg1"/>
                </a:solidFill>
              </a:rPr>
              <a:t>HTML Output</a:t>
            </a:r>
          </a:p>
        </p:txBody>
      </p:sp>
    </p:spTree>
    <p:extLst>
      <p:ext uri="{BB962C8B-B14F-4D97-AF65-F5344CB8AC3E}">
        <p14:creationId xmlns:p14="http://schemas.microsoft.com/office/powerpoint/2010/main" val="2336656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/>
      <p:bldP spid="11" grpId="0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19" grpId="0" animBg="1"/>
      <p:bldP spid="2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Razor Syntax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839200" cy="5791200"/>
          </a:xfrm>
        </p:spPr>
        <p:txBody>
          <a:bodyPr/>
          <a:lstStyle/>
          <a:p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@</a:t>
            </a:r>
            <a:r>
              <a:rPr lang="en-US" dirty="0" smtClean="0"/>
              <a:t> </a:t>
            </a:r>
            <a:r>
              <a:rPr lang="en-US" dirty="0"/>
              <a:t>–</a:t>
            </a:r>
            <a:r>
              <a:rPr lang="en-US" dirty="0" smtClean="0"/>
              <a:t> For </a:t>
            </a:r>
            <a:r>
              <a:rPr lang="en-US" dirty="0"/>
              <a:t>values (HTML </a:t>
            </a:r>
            <a:r>
              <a:rPr lang="en-US" dirty="0" smtClean="0"/>
              <a:t>encoded)</a:t>
            </a:r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@{ 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… </a:t>
            </a:r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}</a:t>
            </a:r>
            <a:r>
              <a:rPr lang="en-US" dirty="0" smtClean="0"/>
              <a:t> – For </a:t>
            </a:r>
            <a:r>
              <a:rPr lang="en-US" dirty="0"/>
              <a:t>code </a:t>
            </a:r>
            <a:r>
              <a:rPr lang="en-US" dirty="0" smtClean="0"/>
              <a:t>blocks (keep the view simple!)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82925" y="1541252"/>
            <a:ext cx="7086600" cy="1143000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&lt;p&gt;</a:t>
            </a:r>
          </a:p>
          <a:p>
            <a:r>
              <a:rPr lang="en-US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</a:t>
            </a:r>
            <a:r>
              <a:rPr lang="en-US" sz="160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Current </a:t>
            </a:r>
            <a:r>
              <a:rPr lang="en-US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time is: </a:t>
            </a:r>
            <a:r>
              <a:rPr lang="en-US" sz="1600" dirty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@</a:t>
            </a:r>
            <a:r>
              <a:rPr lang="en-US" sz="1600" dirty="0" err="1" smtClean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DateTime.Now</a:t>
            </a:r>
            <a:r>
              <a:rPr lang="en-US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!!!</a:t>
            </a:r>
          </a:p>
          <a:p>
            <a:r>
              <a:rPr lang="en-US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Not HTML encoded value: </a:t>
            </a:r>
            <a:r>
              <a:rPr lang="en-US" sz="1600" dirty="0" smtClean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@</a:t>
            </a:r>
            <a:r>
              <a:rPr lang="en-US" sz="1600" dirty="0" err="1" smtClean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Html.Raw</a:t>
            </a:r>
            <a:r>
              <a:rPr lang="en-US" sz="1600" dirty="0" smtClean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</a:t>
            </a:r>
            <a:r>
              <a:rPr lang="en-US" sz="1600" dirty="0" err="1" smtClean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someVar</a:t>
            </a:r>
            <a:r>
              <a:rPr lang="en-US" sz="1600" dirty="0" smtClean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</a:p>
          <a:p>
            <a:r>
              <a:rPr lang="en-US" sz="160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&lt;/</a:t>
            </a:r>
            <a:r>
              <a:rPr lang="en-US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682925" y="3581400"/>
            <a:ext cx="7086600" cy="2971800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@{</a:t>
            </a:r>
          </a:p>
          <a:p>
            <a:r>
              <a:rPr lang="en-US" sz="1600" dirty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</a:t>
            </a:r>
            <a:r>
              <a:rPr lang="en-US" sz="1600" dirty="0" err="1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var</a:t>
            </a:r>
            <a:r>
              <a:rPr lang="en-US" sz="1600" dirty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1600" dirty="0" err="1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productName</a:t>
            </a:r>
            <a:r>
              <a:rPr lang="en-US" sz="1600" dirty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"Energy drink";</a:t>
            </a:r>
          </a:p>
          <a:p>
            <a:r>
              <a:rPr lang="en-US" sz="1600" dirty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if (Model != null)</a:t>
            </a:r>
          </a:p>
          <a:p>
            <a:r>
              <a:rPr lang="en-US" sz="1600" dirty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{</a:t>
            </a:r>
          </a:p>
          <a:p>
            <a:r>
              <a:rPr lang="en-US" sz="1600" dirty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</a:t>
            </a:r>
            <a:r>
              <a:rPr lang="en-US" sz="1600" dirty="0" err="1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productName</a:t>
            </a:r>
            <a:r>
              <a:rPr lang="en-US" sz="1600" dirty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</a:t>
            </a:r>
            <a:r>
              <a:rPr lang="en-US" sz="1600" dirty="0" err="1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Model.ProductName</a:t>
            </a:r>
            <a:r>
              <a:rPr lang="en-US" sz="1600" dirty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;</a:t>
            </a:r>
          </a:p>
          <a:p>
            <a:r>
              <a:rPr lang="en-US" sz="1600" dirty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}</a:t>
            </a:r>
          </a:p>
          <a:p>
            <a:r>
              <a:rPr lang="en-US" sz="1600" dirty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else if (</a:t>
            </a:r>
            <a:r>
              <a:rPr lang="en-US" sz="1600" dirty="0" err="1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ViewBag.ProductName</a:t>
            </a:r>
            <a:r>
              <a:rPr lang="en-US" sz="1600" dirty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!= null)</a:t>
            </a:r>
          </a:p>
          <a:p>
            <a:r>
              <a:rPr lang="en-US" sz="1600" dirty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{</a:t>
            </a:r>
          </a:p>
          <a:p>
            <a:r>
              <a:rPr lang="en-US" sz="1600" dirty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</a:t>
            </a:r>
            <a:r>
              <a:rPr lang="en-US" sz="1600" dirty="0" err="1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productName</a:t>
            </a:r>
            <a:r>
              <a:rPr lang="en-US" sz="1600" dirty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</a:t>
            </a:r>
            <a:r>
              <a:rPr lang="en-US" sz="1600" dirty="0" err="1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ViewBag.ProductName</a:t>
            </a:r>
            <a:r>
              <a:rPr lang="en-US" sz="1600" dirty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;</a:t>
            </a:r>
          </a:p>
          <a:p>
            <a:r>
              <a:rPr lang="en-US" sz="1600" dirty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}</a:t>
            </a:r>
          </a:p>
          <a:p>
            <a:r>
              <a:rPr lang="en-US" sz="1600" dirty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} </a:t>
            </a:r>
          </a:p>
          <a:p>
            <a:r>
              <a:rPr lang="en-US" sz="160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&lt;p&gt;Product "</a:t>
            </a:r>
            <a:r>
              <a:rPr lang="en-US" sz="1600" dirty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@</a:t>
            </a:r>
            <a:r>
              <a:rPr lang="en-US" sz="1600" dirty="0" err="1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productName</a:t>
            </a:r>
            <a:r>
              <a:rPr lang="en-US" sz="160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" has been added in your shopping cart&lt;/p&gt;</a:t>
            </a:r>
            <a:endParaRPr lang="en-US" sz="16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7617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Razor Syntax 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791200"/>
          </a:xfrm>
        </p:spPr>
        <p:txBody>
          <a:bodyPr/>
          <a:lstStyle/>
          <a:p>
            <a:r>
              <a:rPr lang="en-US" dirty="0" smtClean="0"/>
              <a:t>If, else, for, </a:t>
            </a:r>
            <a:r>
              <a:rPr lang="en-US" dirty="0" err="1" smtClean="0"/>
              <a:t>foreach</a:t>
            </a:r>
            <a:r>
              <a:rPr lang="en-US" dirty="0" smtClean="0"/>
              <a:t>, etc. C# statements</a:t>
            </a:r>
          </a:p>
          <a:p>
            <a:pPr lvl="1"/>
            <a:r>
              <a:rPr lang="en-US" dirty="0"/>
              <a:t>HTML markup lines can be included at any </a:t>
            </a:r>
            <a:r>
              <a:rPr lang="en-US" dirty="0" smtClean="0"/>
              <a:t>part</a:t>
            </a:r>
          </a:p>
          <a:p>
            <a:pPr lvl="1"/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@:</a:t>
            </a:r>
            <a:r>
              <a:rPr lang="en-US" dirty="0"/>
              <a:t> – For plain text </a:t>
            </a:r>
            <a:r>
              <a:rPr lang="en-US" dirty="0" smtClean="0"/>
              <a:t>line to </a:t>
            </a:r>
            <a:r>
              <a:rPr lang="en-US" dirty="0"/>
              <a:t>be </a:t>
            </a:r>
            <a:r>
              <a:rPr lang="en-US" dirty="0" smtClean="0"/>
              <a:t>rendered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028700" y="2819400"/>
            <a:ext cx="7086600" cy="3657600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&lt;div class="products-list"&gt;</a:t>
            </a:r>
          </a:p>
          <a:p>
            <a:r>
              <a:rPr lang="en-US" sz="1600" dirty="0" smtClean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@</a:t>
            </a:r>
            <a:r>
              <a:rPr lang="en-US" sz="1600" dirty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if (</a:t>
            </a:r>
            <a:r>
              <a:rPr lang="en-US" sz="1600" dirty="0" err="1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Model.Products.Count</a:t>
            </a:r>
            <a:r>
              <a:rPr lang="en-US" sz="1600" dirty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() == 0)</a:t>
            </a:r>
          </a:p>
          <a:p>
            <a:r>
              <a:rPr lang="en-US" sz="1600" dirty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</a:t>
            </a:r>
          </a:p>
          <a:p>
            <a:r>
              <a:rPr lang="en-US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160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&lt;p&gt;Sorry, no products found!&lt;/p&gt;</a:t>
            </a:r>
          </a:p>
          <a:p>
            <a:r>
              <a:rPr lang="en-US" sz="1600" dirty="0" smtClean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}</a:t>
            </a:r>
          </a:p>
          <a:p>
            <a:r>
              <a:rPr lang="en-US" sz="1600" dirty="0" smtClean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else</a:t>
            </a:r>
          </a:p>
          <a:p>
            <a:r>
              <a:rPr lang="en-US" sz="1600" dirty="0" smtClean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</a:t>
            </a:r>
          </a:p>
          <a:p>
            <a:r>
              <a:rPr lang="en-US" sz="1600" dirty="0" smtClean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</a:t>
            </a:r>
            <a:r>
              <a:rPr lang="en-US" sz="160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@:List of the products found:</a:t>
            </a:r>
            <a:endParaRPr lang="en-US" sz="16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sz="1600" dirty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</a:t>
            </a:r>
            <a:r>
              <a:rPr lang="en-US" sz="1600" dirty="0" err="1" smtClean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foreach</a:t>
            </a:r>
            <a:r>
              <a:rPr lang="en-US" sz="1600" dirty="0" smtClean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</a:t>
            </a:r>
            <a:r>
              <a:rPr lang="en-US" sz="1600" dirty="0" err="1" smtClean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var</a:t>
            </a:r>
            <a:r>
              <a:rPr lang="en-US" sz="1600" dirty="0" smtClean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1600" dirty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product in </a:t>
            </a:r>
            <a:r>
              <a:rPr lang="en-US" sz="1600" dirty="0" err="1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Model.Products</a:t>
            </a:r>
            <a:r>
              <a:rPr lang="en-US" sz="1600" dirty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</a:p>
          <a:p>
            <a:r>
              <a:rPr lang="en-US" sz="1600" dirty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{</a:t>
            </a:r>
          </a:p>
          <a:p>
            <a:r>
              <a:rPr lang="en-US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160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&lt;b&gt;</a:t>
            </a:r>
            <a:r>
              <a:rPr lang="en-US" sz="1600" dirty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@</a:t>
            </a:r>
            <a:r>
              <a:rPr lang="en-US" sz="1600" dirty="0" err="1" smtClean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product.Name</a:t>
            </a:r>
            <a:r>
              <a:rPr lang="en-US" sz="160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</a:t>
            </a:r>
            <a:r>
              <a:rPr lang="en-US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&lt;/b&gt;</a:t>
            </a:r>
          </a:p>
          <a:p>
            <a:r>
              <a:rPr lang="en-US" sz="1600" dirty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</a:t>
            </a:r>
            <a:r>
              <a:rPr lang="en-US" sz="1600" dirty="0" smtClean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}</a:t>
            </a:r>
          </a:p>
          <a:p>
            <a:r>
              <a:rPr lang="en-US" sz="1600" dirty="0" smtClean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}</a:t>
            </a:r>
          </a:p>
          <a:p>
            <a:r>
              <a:rPr lang="en-US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&lt;/div&gt;</a:t>
            </a:r>
          </a:p>
        </p:txBody>
      </p:sp>
    </p:spTree>
    <p:extLst>
      <p:ext uri="{BB962C8B-B14F-4D97-AF65-F5344CB8AC3E}">
        <p14:creationId xmlns:p14="http://schemas.microsoft.com/office/powerpoint/2010/main" val="3096898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Razor Syntax </a:t>
            </a:r>
            <a:r>
              <a:rPr lang="en-US" dirty="0" smtClean="0"/>
              <a:t>(3)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791200"/>
          </a:xfrm>
        </p:spPr>
        <p:txBody>
          <a:bodyPr/>
          <a:lstStyle/>
          <a:p>
            <a:r>
              <a:rPr lang="en-US" dirty="0" smtClean="0"/>
              <a:t>Comments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r>
              <a:rPr lang="en-US" dirty="0" smtClean="0"/>
              <a:t>What about "@" and emails?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85800" y="1447800"/>
            <a:ext cx="7086600" cy="2590800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@*</a:t>
            </a:r>
          </a:p>
          <a:p>
            <a:r>
              <a:rPr lang="en-US" sz="1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A Razor Comment</a:t>
            </a:r>
          </a:p>
          <a:p>
            <a:r>
              <a:rPr lang="en-US" sz="1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*@</a:t>
            </a:r>
          </a:p>
          <a:p>
            <a:r>
              <a:rPr lang="en-US" sz="1600" dirty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@{</a:t>
            </a:r>
          </a:p>
          <a:p>
            <a:r>
              <a:rPr lang="en-US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</a:t>
            </a:r>
            <a:r>
              <a:rPr lang="en-US" sz="1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//A C# </a:t>
            </a:r>
            <a:r>
              <a:rPr lang="en-US" sz="16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comment</a:t>
            </a:r>
          </a:p>
          <a:p>
            <a:endParaRPr lang="en-US" sz="16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</a:t>
            </a:r>
            <a:r>
              <a:rPr lang="en-US" sz="1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/* A Multi</a:t>
            </a:r>
          </a:p>
          <a:p>
            <a:r>
              <a:rPr lang="en-US" sz="1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line C# comment</a:t>
            </a:r>
          </a:p>
          <a:p>
            <a:r>
              <a:rPr lang="en-US" sz="1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*/</a:t>
            </a:r>
          </a:p>
          <a:p>
            <a:r>
              <a:rPr lang="en-US" sz="1600" dirty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91100"/>
            <a:ext cx="7086600" cy="1257300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&lt;p&gt;</a:t>
            </a:r>
          </a:p>
          <a:p>
            <a:r>
              <a:rPr lang="en-US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160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This </a:t>
            </a:r>
            <a:r>
              <a:rPr lang="en-US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 the sign that separates email names from domains: </a:t>
            </a:r>
            <a:r>
              <a:rPr lang="en-US" sz="160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@@&lt;</a:t>
            </a:r>
            <a:r>
              <a:rPr lang="en-US" sz="1600" dirty="0" err="1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br</a:t>
            </a:r>
            <a:r>
              <a:rPr lang="en-US" sz="160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/&gt;</a:t>
            </a:r>
          </a:p>
          <a:p>
            <a:r>
              <a:rPr lang="en-US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And this is how smart Razor is: spam_me@gmail.com</a:t>
            </a:r>
          </a:p>
          <a:p>
            <a:r>
              <a:rPr lang="en-US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&lt;/p&gt;</a:t>
            </a:r>
          </a:p>
        </p:txBody>
      </p:sp>
    </p:spTree>
    <p:extLst>
      <p:ext uri="{BB962C8B-B14F-4D97-AF65-F5344CB8AC3E}">
        <p14:creationId xmlns:p14="http://schemas.microsoft.com/office/powerpoint/2010/main" val="1324963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Razor Syntax </a:t>
            </a:r>
            <a:r>
              <a:rPr lang="en-US" dirty="0" smtClean="0"/>
              <a:t>(4)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@(…)</a:t>
            </a:r>
            <a:r>
              <a:rPr lang="en-US" dirty="0" smtClean="0"/>
              <a:t> </a:t>
            </a:r>
            <a:r>
              <a:rPr lang="en-US" dirty="0"/>
              <a:t>–</a:t>
            </a:r>
            <a:r>
              <a:rPr lang="en-US" dirty="0" smtClean="0"/>
              <a:t> Explicit code expression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@using </a:t>
            </a:r>
            <a:r>
              <a:rPr lang="en-US" dirty="0"/>
              <a:t>– </a:t>
            </a:r>
            <a:r>
              <a:rPr lang="en-US" dirty="0" smtClean="0"/>
              <a:t>for </a:t>
            </a:r>
            <a:r>
              <a:rPr lang="en-US" dirty="0"/>
              <a:t>including namespace into view</a:t>
            </a:r>
          </a:p>
          <a:p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@model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n-US" dirty="0"/>
              <a:t>– for </a:t>
            </a:r>
            <a:r>
              <a:rPr lang="en-US" dirty="0" smtClean="0"/>
              <a:t>defining the model for the view</a:t>
            </a:r>
            <a:endParaRPr lang="en-US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82924" y="1676400"/>
            <a:ext cx="7622875" cy="1735348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&lt;p&gt;</a:t>
            </a:r>
          </a:p>
          <a:p>
            <a:r>
              <a:rPr lang="en-US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</a:t>
            </a:r>
            <a:r>
              <a:rPr lang="en-US" sz="160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Current rating(0-10): </a:t>
            </a:r>
            <a:r>
              <a:rPr lang="en-US" sz="1600" dirty="0" smtClean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@</a:t>
            </a:r>
            <a:r>
              <a:rPr lang="en-US" sz="1600" dirty="0" err="1" smtClean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Model.Rating</a:t>
            </a:r>
            <a:r>
              <a:rPr lang="en-US" sz="160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/ 10.0        </a:t>
            </a:r>
            <a:r>
              <a:rPr lang="en-US" sz="16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@* 6 </a:t>
            </a:r>
            <a:r>
              <a:rPr lang="en-US" sz="1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/ 10.0 *@</a:t>
            </a:r>
          </a:p>
          <a:p>
            <a:r>
              <a:rPr lang="en-US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</a:t>
            </a:r>
            <a:r>
              <a:rPr lang="en-US" sz="160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Current rating(0-1): </a:t>
            </a:r>
            <a:r>
              <a:rPr lang="en-US" sz="1600" dirty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@(</a:t>
            </a:r>
            <a:r>
              <a:rPr lang="en-US" sz="1600" dirty="0" err="1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Model.Rating</a:t>
            </a:r>
            <a:r>
              <a:rPr lang="en-US" sz="1600" dirty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/ 10.0</a:t>
            </a:r>
            <a:r>
              <a:rPr lang="en-US" sz="1600" dirty="0" smtClean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       </a:t>
            </a:r>
            <a:r>
              <a:rPr lang="en-US" sz="16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@* </a:t>
            </a:r>
            <a:r>
              <a:rPr lang="en-US" sz="1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0.6 </a:t>
            </a:r>
            <a:r>
              <a:rPr lang="en-US" sz="16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*@</a:t>
            </a:r>
          </a:p>
          <a:p>
            <a:r>
              <a:rPr lang="en-US" sz="160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</a:t>
            </a:r>
            <a:r>
              <a:rPr lang="en-US" sz="16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spam_me@Model.Rating</a:t>
            </a:r>
            <a:r>
              <a:rPr lang="en-US" sz="16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                              @* </a:t>
            </a:r>
            <a:r>
              <a:rPr lang="en-US" sz="1600" dirty="0" err="1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spam_me@Model.Rating</a:t>
            </a:r>
            <a:r>
              <a:rPr lang="en-US" sz="16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*@</a:t>
            </a:r>
            <a:r>
              <a:rPr lang="en-US" sz="160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</a:t>
            </a:r>
          </a:p>
          <a:p>
            <a:r>
              <a:rPr lang="en-US" sz="160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</a:t>
            </a:r>
            <a:r>
              <a:rPr lang="en-US" sz="1600" dirty="0" err="1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spam_me</a:t>
            </a:r>
            <a:r>
              <a:rPr lang="en-US" sz="1600" dirty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@(</a:t>
            </a:r>
            <a:r>
              <a:rPr lang="en-US" sz="1600" dirty="0" err="1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Model.Rating</a:t>
            </a:r>
            <a:r>
              <a:rPr lang="en-US" sz="1600" dirty="0" smtClean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  <a:r>
              <a:rPr lang="en-US" sz="1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16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                          @* spam_me6 *@</a:t>
            </a:r>
            <a:endParaRPr lang="en-US" sz="1600" dirty="0">
              <a:ln w="0">
                <a:solidFill>
                  <a:srgbClr val="002060"/>
                </a:solidFill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sz="160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&lt;/</a:t>
            </a:r>
            <a:r>
              <a:rPr lang="en-US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p&gt;</a:t>
            </a:r>
          </a:p>
        </p:txBody>
      </p:sp>
      <p:sp>
        <p:nvSpPr>
          <p:cNvPr id="6" name="Rectangle 5"/>
          <p:cNvSpPr/>
          <p:nvPr/>
        </p:nvSpPr>
        <p:spPr>
          <a:xfrm>
            <a:off x="682923" y="5029200"/>
            <a:ext cx="7622875" cy="1066800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@using </a:t>
            </a:r>
            <a:r>
              <a:rPr lang="en-US" sz="1600" dirty="0" err="1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MyFirstMvcApplication.Models</a:t>
            </a:r>
            <a:r>
              <a:rPr lang="en-US" sz="1600" dirty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;</a:t>
            </a:r>
          </a:p>
          <a:p>
            <a:r>
              <a:rPr lang="en-US" sz="1600" dirty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@model </a:t>
            </a:r>
            <a:r>
              <a:rPr lang="en-US" sz="1600" dirty="0" err="1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UserModel</a:t>
            </a:r>
            <a:endParaRPr lang="en-US" sz="1600" dirty="0">
              <a:ln w="0">
                <a:solidFill>
                  <a:srgbClr val="002060"/>
                </a:solidFill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&lt;p&gt;</a:t>
            </a:r>
            <a:r>
              <a:rPr lang="en-US" sz="1600" dirty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@</a:t>
            </a:r>
            <a:r>
              <a:rPr lang="en-US" sz="1600" dirty="0" err="1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Model.Username</a:t>
            </a:r>
            <a:r>
              <a:rPr lang="en-US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&lt;/p&gt;</a:t>
            </a:r>
          </a:p>
        </p:txBody>
      </p:sp>
    </p:spTree>
    <p:extLst>
      <p:ext uri="{BB962C8B-B14F-4D97-AF65-F5344CB8AC3E}">
        <p14:creationId xmlns:p14="http://schemas.microsoft.com/office/powerpoint/2010/main" val="3583815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Layout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686800" cy="5791200"/>
          </a:xfrm>
        </p:spPr>
        <p:txBody>
          <a:bodyPr/>
          <a:lstStyle/>
          <a:p>
            <a:r>
              <a:rPr lang="en-US" dirty="0" smtClean="0"/>
              <a:t>Define </a:t>
            </a:r>
            <a:r>
              <a:rPr lang="en-US" dirty="0"/>
              <a:t>a common site </a:t>
            </a:r>
            <a:r>
              <a:rPr lang="en-US" dirty="0" smtClean="0"/>
              <a:t>template</a:t>
            </a:r>
          </a:p>
          <a:p>
            <a:r>
              <a:rPr lang="en-US" dirty="0"/>
              <a:t>Similar to ASP.NET master pages (but better!)</a:t>
            </a:r>
          </a:p>
          <a:p>
            <a:r>
              <a:rPr lang="en-US" dirty="0" smtClean="0"/>
              <a:t>Razor view engine renders content inside-out</a:t>
            </a:r>
          </a:p>
          <a:p>
            <a:pPr lvl="1"/>
            <a:r>
              <a:rPr lang="en-US" dirty="0" smtClean="0"/>
              <a:t>First view is </a:t>
            </a:r>
            <a:r>
              <a:rPr lang="en-US" dirty="0" err="1" smtClean="0"/>
              <a:t>redered</a:t>
            </a:r>
            <a:r>
              <a:rPr lang="en-US" dirty="0" smtClean="0"/>
              <a:t>, then layout</a:t>
            </a:r>
          </a:p>
          <a:p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@</a:t>
            </a:r>
            <a:r>
              <a:rPr lang="en-US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RenderBody</a:t>
            </a:r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()</a:t>
            </a:r>
            <a:r>
              <a:rPr lang="en-US" dirty="0" smtClean="0"/>
              <a:t> –</a:t>
            </a:r>
            <a:br>
              <a:rPr lang="en-US" dirty="0" smtClean="0"/>
            </a:br>
            <a:r>
              <a:rPr lang="en-US" dirty="0" smtClean="0"/>
              <a:t>indicate where </a:t>
            </a:r>
            <a:r>
              <a:rPr lang="en-US" dirty="0"/>
              <a:t>we </a:t>
            </a:r>
            <a:r>
              <a:rPr lang="en-US" dirty="0" smtClean="0"/>
              <a:t>want</a:t>
            </a:r>
            <a:br>
              <a:rPr lang="en-US" dirty="0" smtClean="0"/>
            </a:br>
            <a:r>
              <a:rPr lang="en-US" dirty="0" smtClean="0"/>
              <a:t>the views based </a:t>
            </a:r>
            <a:r>
              <a:rPr lang="en-US" dirty="0"/>
              <a:t>on </a:t>
            </a:r>
            <a:r>
              <a:rPr lang="en-US" dirty="0" smtClean="0"/>
              <a:t>this</a:t>
            </a:r>
            <a:br>
              <a:rPr lang="en-US" dirty="0" smtClean="0"/>
            </a:br>
            <a:r>
              <a:rPr lang="en-US" dirty="0" smtClean="0"/>
              <a:t>layout to “fill </a:t>
            </a:r>
            <a:r>
              <a:rPr lang="en-US" dirty="0"/>
              <a:t>in” </a:t>
            </a:r>
            <a:r>
              <a:rPr lang="en-US" dirty="0" smtClean="0"/>
              <a:t>their</a:t>
            </a:r>
            <a:br>
              <a:rPr lang="en-US" dirty="0" smtClean="0"/>
            </a:br>
            <a:r>
              <a:rPr lang="en-US" dirty="0" smtClean="0"/>
              <a:t>core content at that</a:t>
            </a:r>
            <a:br>
              <a:rPr lang="en-US" dirty="0" smtClean="0"/>
            </a:br>
            <a:r>
              <a:rPr lang="en-US" dirty="0" smtClean="0"/>
              <a:t>location </a:t>
            </a:r>
            <a:r>
              <a:rPr lang="en-US" dirty="0"/>
              <a:t>in the </a:t>
            </a:r>
            <a:r>
              <a:rPr lang="en-US" dirty="0" smtClean="0"/>
              <a:t>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429000"/>
            <a:ext cx="3780621" cy="301722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9273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Views and Layouts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 smtClean="0"/>
              <a:t>Views don't need to specify layout since their default layout is set in their _</a:t>
            </a:r>
            <a:r>
              <a:rPr lang="en-US" dirty="0" err="1" smtClean="0"/>
              <a:t>ViewStart</a:t>
            </a:r>
            <a:r>
              <a:rPr lang="en-US" dirty="0" smtClean="0"/>
              <a:t> file: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~/Views/_</a:t>
            </a:r>
            <a:r>
              <a:rPr lang="en-US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ViewStart.cshtml</a:t>
            </a:r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n-US" dirty="0" smtClean="0"/>
              <a:t>(code for all views)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 smtClean="0"/>
              <a:t>Each view can specify custom layout pages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US" dirty="0"/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US" dirty="0" smtClean="0"/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 smtClean="0"/>
              <a:t>Views without layout: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09600" y="3229155"/>
            <a:ext cx="7622875" cy="1066800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@{</a:t>
            </a:r>
          </a:p>
          <a:p>
            <a:r>
              <a:rPr lang="en-US" sz="1600" dirty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1600" dirty="0" smtClean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Layout = "~/Views/Shared/_</a:t>
            </a:r>
            <a:r>
              <a:rPr lang="en-US" sz="1600" dirty="0" err="1" smtClean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UncommonLayout.cshtml</a:t>
            </a:r>
            <a:r>
              <a:rPr lang="en-US" sz="1600" dirty="0" smtClean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";</a:t>
            </a:r>
          </a:p>
          <a:p>
            <a:r>
              <a:rPr lang="en-US" sz="1600" dirty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}</a:t>
            </a:r>
            <a:endParaRPr lang="en-US" sz="16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9599" y="5029200"/>
            <a:ext cx="7622875" cy="1066800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@{</a:t>
            </a:r>
          </a:p>
          <a:p>
            <a:r>
              <a:rPr lang="en-US" sz="1600" dirty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1600" dirty="0" smtClean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Layout = null;</a:t>
            </a:r>
          </a:p>
          <a:p>
            <a:r>
              <a:rPr lang="en-US" sz="1600" dirty="0">
                <a:ln w="0">
                  <a:solidFill>
                    <a:srgbClr val="00206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}</a:t>
            </a:r>
            <a:endParaRPr lang="en-US" sz="16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72810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You can have one or more "sections" (optional)</a:t>
            </a:r>
          </a:p>
          <a:p>
            <a:r>
              <a:rPr lang="en-US" dirty="0" smtClean="0"/>
              <a:t>They are defined in the views:</a:t>
            </a:r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And may be rendered anywhere in the layout page using the method </a:t>
            </a:r>
            <a:r>
              <a:rPr lang="en-US" dirty="0" err="1" smtClean="0"/>
              <a:t>RenderSection</a:t>
            </a:r>
            <a:r>
              <a:rPr lang="en-US" dirty="0" smtClean="0"/>
              <a:t>()</a:t>
            </a:r>
          </a:p>
          <a:p>
            <a:pPr lvl="1"/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@</a:t>
            </a:r>
            <a:r>
              <a:rPr lang="en-US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RenderSection</a:t>
            </a:r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(string name, </a:t>
            </a:r>
            <a:r>
              <a:rPr lang="en-US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bool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required</a:t>
            </a:r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)</a:t>
            </a:r>
          </a:p>
          <a:p>
            <a:pPr lvl="1"/>
            <a:r>
              <a:rPr lang="en-US" dirty="0">
                <a:solidFill>
                  <a:srgbClr val="EBFFD2"/>
                </a:solidFill>
              </a:rPr>
              <a:t>If the section is required and not </a:t>
            </a:r>
            <a:r>
              <a:rPr lang="en-US" dirty="0" smtClean="0">
                <a:solidFill>
                  <a:srgbClr val="EBFFD2"/>
                </a:solidFill>
              </a:rPr>
              <a:t>defined, </a:t>
            </a:r>
            <a:r>
              <a:rPr lang="en-US" dirty="0">
                <a:solidFill>
                  <a:srgbClr val="EBFFD2"/>
                </a:solidFill>
              </a:rPr>
              <a:t>an exception will be thrown (</a:t>
            </a:r>
            <a:r>
              <a:rPr lang="en-US" dirty="0" err="1" smtClean="0">
                <a:solidFill>
                  <a:srgbClr val="EBFFD2"/>
                </a:solidFill>
              </a:rPr>
              <a:t>IsSectionDefined</a:t>
            </a:r>
            <a:r>
              <a:rPr lang="en-US" dirty="0" smtClean="0">
                <a:solidFill>
                  <a:srgbClr val="EBFFD2"/>
                </a:solidFill>
              </a:rPr>
              <a:t>())</a:t>
            </a:r>
            <a:endParaRPr lang="en-US" dirty="0">
              <a:solidFill>
                <a:srgbClr val="EBFFD2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663" y="2286000"/>
            <a:ext cx="3114675" cy="12477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59404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View Helpers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Each view </a:t>
            </a:r>
            <a:r>
              <a:rPr lang="en-US" dirty="0"/>
              <a:t>inherits </a:t>
            </a:r>
            <a:r>
              <a:rPr lang="en-US" dirty="0" err="1" smtClean="0"/>
              <a:t>WebViewPage</a:t>
            </a:r>
            <a:endParaRPr lang="en-US" dirty="0" smtClean="0"/>
          </a:p>
          <a:p>
            <a:pPr lvl="1"/>
            <a:r>
              <a:rPr lang="en-US" dirty="0" err="1" smtClean="0"/>
              <a:t>ViewPage</a:t>
            </a:r>
            <a:r>
              <a:rPr lang="en-US" dirty="0" smtClean="0"/>
              <a:t> has a property named Html</a:t>
            </a:r>
          </a:p>
          <a:p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Html</a:t>
            </a:r>
            <a:r>
              <a:rPr lang="en-US" dirty="0" smtClean="0"/>
              <a:t> property has methods that return string and can be used to generate HTML</a:t>
            </a:r>
          </a:p>
          <a:p>
            <a:pPr lvl="1"/>
            <a:r>
              <a:rPr lang="en-US" dirty="0"/>
              <a:t>Create inputs</a:t>
            </a:r>
          </a:p>
          <a:p>
            <a:pPr lvl="1"/>
            <a:r>
              <a:rPr lang="en-US" dirty="0"/>
              <a:t>Create links</a:t>
            </a:r>
          </a:p>
          <a:p>
            <a:pPr lvl="1"/>
            <a:r>
              <a:rPr lang="en-US" dirty="0"/>
              <a:t>Create </a:t>
            </a:r>
            <a:r>
              <a:rPr lang="en-US" dirty="0" smtClean="0"/>
              <a:t>forms</a:t>
            </a:r>
          </a:p>
          <a:p>
            <a:r>
              <a:rPr lang="en-US" dirty="0" smtClean="0"/>
              <a:t>Other helper properties are also available</a:t>
            </a:r>
          </a:p>
          <a:p>
            <a:pPr lvl="1"/>
            <a:r>
              <a:rPr lang="en-US" dirty="0" smtClean="0"/>
              <a:t>Ajax, </a:t>
            </a:r>
            <a:r>
              <a:rPr lang="en-US" dirty="0" err="1" smtClean="0"/>
              <a:t>Url</a:t>
            </a:r>
            <a:r>
              <a:rPr lang="en-US" dirty="0" smtClean="0"/>
              <a:t>, custom helpers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0" y="3429000"/>
            <a:ext cx="4371975" cy="17621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58228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 Helpers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9250295"/>
              </p:ext>
            </p:extLst>
          </p:nvPr>
        </p:nvGraphicFramePr>
        <p:xfrm>
          <a:off x="533401" y="904240"/>
          <a:ext cx="8077199" cy="5496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99166"/>
                <a:gridCol w="1068318"/>
                <a:gridCol w="4609715"/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Method</a:t>
                      </a:r>
                      <a:endParaRPr lang="en-US" sz="1800" b="1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1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BeginForm</a:t>
                      </a:r>
                      <a:r>
                        <a:rPr lang="en-US" sz="1800" b="0" i="1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r>
                        <a:rPr lang="en-US" sz="1800" b="0" i="1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BeginRouteForm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Form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Returns an internal object that represents an HTML form that the system uses to render the </a:t>
                      </a:r>
                      <a:r>
                        <a:rPr lang="en-US" sz="1800" b="0" i="1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&lt;form&gt; </a:t>
                      </a: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tag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1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EndForm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Form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void method, closes the pending </a:t>
                      </a:r>
                      <a:r>
                        <a:rPr lang="en-US" sz="1800" b="0" i="1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&lt;/form&gt; </a:t>
                      </a: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tag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1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CheckBox</a:t>
                      </a:r>
                      <a:r>
                        <a:rPr lang="en-US" sz="1800" b="0" i="1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b="0" i="1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CheckBoxFor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Input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Returns the HTML string for a check box input element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1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Hidden, </a:t>
                      </a:r>
                      <a:r>
                        <a:rPr lang="en-US" sz="1800" b="0" i="1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HiddenFor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Input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Returns the HTML string for a hidden input element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1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Password, </a:t>
                      </a:r>
                      <a:r>
                        <a:rPr lang="en-US" sz="1800" b="0" i="1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PasswordFor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Input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Returns the HTML string for a password input element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1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RadioButton</a:t>
                      </a:r>
                      <a:r>
                        <a:rPr lang="en-US" sz="1800" b="0" i="1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r>
                        <a:rPr lang="en-US" sz="1800" b="0" i="1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RadioButtonFor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Input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Returns the HTML string for a radio button input element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1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TextBox</a:t>
                      </a:r>
                      <a:r>
                        <a:rPr lang="en-US" sz="1800" b="0" i="1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b="0" i="1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TextBoxFor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Input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Returns the HTML string for a text input element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1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Label, </a:t>
                      </a:r>
                      <a:r>
                        <a:rPr lang="en-US" sz="1800" b="0" i="1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LabelFor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Label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Returns the HTML string for an HTML label element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906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 Helpers (2)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2821565"/>
              </p:ext>
            </p:extLst>
          </p:nvPr>
        </p:nvGraphicFramePr>
        <p:xfrm>
          <a:off x="800101" y="1021080"/>
          <a:ext cx="7543799" cy="52273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240731"/>
                <a:gridCol w="1344440"/>
                <a:gridCol w="3958628"/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Method</a:t>
                      </a:r>
                      <a:endParaRPr lang="en-US" sz="1800" b="1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1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ActionLink</a:t>
                      </a:r>
                      <a:r>
                        <a:rPr lang="en-US" sz="1800" b="0" i="1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b="0" i="1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RouteLink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Link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Returns the HTML string for an HTML link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1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DropDownList</a:t>
                      </a:r>
                      <a:r>
                        <a:rPr lang="en-US" sz="1800" b="0" i="1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r>
                        <a:rPr lang="en-US" sz="1800" b="0" i="1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DropDownListFor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Returns the HTML string for a drop-down list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1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ListBox</a:t>
                      </a:r>
                      <a:r>
                        <a:rPr lang="en-US" sz="1800" b="0" i="1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b="0" i="1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ListBoxFor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Returns the HTML string for a list box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1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TextArea</a:t>
                      </a:r>
                      <a:r>
                        <a:rPr lang="en-US" sz="1800" b="0" i="1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b="0" i="1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TextAreaFor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TextArea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Returns the HTML string for a text area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1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Partial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Partial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Returns the HTML string incorporated in the specified user control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1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RenderPartial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Partial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Writes the HTML string incorporated in the specified user control to the</a:t>
                      </a:r>
                    </a:p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output stream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1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ValidationMessage</a:t>
                      </a:r>
                      <a:r>
                        <a:rPr lang="en-US" sz="1800" b="0" i="1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r>
                        <a:rPr lang="en-US" sz="1800" b="0" i="1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ValidationMessageFor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Validation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Returns the HTML string for a validation message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1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ValidationSummary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Validation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Returns the HTML string for a validation summary message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7438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Custom Helpers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Write </a:t>
            </a:r>
            <a:r>
              <a:rPr lang="en-US" dirty="0"/>
              <a:t>extension methods for the </a:t>
            </a:r>
            <a:r>
              <a:rPr lang="en-US" dirty="0" err="1" smtClean="0"/>
              <a:t>HtmlHelper</a:t>
            </a:r>
            <a:endParaRPr lang="en-US" dirty="0" smtClean="0"/>
          </a:p>
          <a:p>
            <a:pPr lvl="1"/>
            <a:r>
              <a:rPr lang="en-US" dirty="0">
                <a:solidFill>
                  <a:srgbClr val="EBFFD2"/>
                </a:solidFill>
              </a:rPr>
              <a:t>Return string or override </a:t>
            </a:r>
            <a:r>
              <a:rPr lang="en-US" dirty="0" err="1">
                <a:solidFill>
                  <a:srgbClr val="EBFFD2"/>
                </a:solidFill>
              </a:rPr>
              <a:t>ToString</a:t>
            </a:r>
            <a:r>
              <a:rPr lang="en-US" dirty="0">
                <a:solidFill>
                  <a:srgbClr val="EBFFD2"/>
                </a:solidFill>
              </a:rPr>
              <a:t> </a:t>
            </a:r>
            <a:r>
              <a:rPr lang="en-US" dirty="0" smtClean="0">
                <a:solidFill>
                  <a:srgbClr val="EBFFD2"/>
                </a:solidFill>
              </a:rPr>
              <a:t>method</a:t>
            </a:r>
          </a:p>
          <a:p>
            <a:pPr lvl="1"/>
            <a:r>
              <a:rPr lang="en-US" dirty="0" err="1">
                <a:solidFill>
                  <a:srgbClr val="EBFFD2"/>
                </a:solidFill>
              </a:rPr>
              <a:t>TagBuilder</a:t>
            </a:r>
            <a:r>
              <a:rPr lang="en-US" dirty="0">
                <a:solidFill>
                  <a:srgbClr val="EBFFD2"/>
                </a:solidFill>
              </a:rPr>
              <a:t> manages closing tags and </a:t>
            </a:r>
            <a:r>
              <a:rPr lang="en-US" dirty="0" smtClean="0">
                <a:solidFill>
                  <a:srgbClr val="EBFFD2"/>
                </a:solidFill>
              </a:rPr>
              <a:t>attributes</a:t>
            </a:r>
          </a:p>
          <a:p>
            <a:pPr lvl="1"/>
            <a:r>
              <a:rPr lang="en-US" dirty="0">
                <a:solidFill>
                  <a:srgbClr val="EBFFD2"/>
                </a:solidFill>
              </a:rPr>
              <a:t>Add namespace in </a:t>
            </a:r>
            <a:r>
              <a:rPr lang="en-US" dirty="0" err="1" smtClean="0">
                <a:solidFill>
                  <a:srgbClr val="EBFFD2"/>
                </a:solidFill>
              </a:rPr>
              <a:t>web.config</a:t>
            </a:r>
            <a:r>
              <a:rPr lang="en-US" dirty="0" smtClean="0">
                <a:solidFill>
                  <a:srgbClr val="EBFFD2"/>
                </a:solidFill>
              </a:rPr>
              <a:t> (if needed)</a:t>
            </a:r>
          </a:p>
          <a:p>
            <a:endParaRPr lang="en-US" dirty="0">
              <a:solidFill>
                <a:srgbClr val="EBFFD2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581400"/>
            <a:ext cx="6629400" cy="26860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475" y="5671419"/>
            <a:ext cx="4276725" cy="4476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26790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Custom Helpers 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839200" cy="5791200"/>
          </a:xfrm>
        </p:spPr>
        <p:txBody>
          <a:bodyPr/>
          <a:lstStyle/>
          <a:p>
            <a:r>
              <a:rPr lang="en-US" dirty="0" smtClean="0"/>
              <a:t>Another way to write helpers:</a:t>
            </a:r>
          </a:p>
          <a:p>
            <a:pPr lvl="1"/>
            <a:r>
              <a:rPr lang="en-US" dirty="0" smtClean="0">
                <a:solidFill>
                  <a:srgbClr val="EBFFD2"/>
                </a:solidFill>
              </a:rPr>
              <a:t>Create folder /</a:t>
            </a:r>
            <a:r>
              <a:rPr lang="en-US" dirty="0" err="1" smtClean="0">
                <a:solidFill>
                  <a:srgbClr val="EBFFD2"/>
                </a:solidFill>
              </a:rPr>
              <a:t>App_Code</a:t>
            </a:r>
            <a:r>
              <a:rPr lang="en-US" dirty="0" smtClean="0">
                <a:solidFill>
                  <a:srgbClr val="EBFFD2"/>
                </a:solidFill>
              </a:rPr>
              <a:t>/</a:t>
            </a:r>
          </a:p>
          <a:p>
            <a:pPr lvl="1"/>
            <a:r>
              <a:rPr lang="en-US" dirty="0" smtClean="0">
                <a:solidFill>
                  <a:srgbClr val="EBFFD2"/>
                </a:solidFill>
              </a:rPr>
              <a:t>Create a view in it (for example </a:t>
            </a:r>
            <a:r>
              <a:rPr lang="en-US" dirty="0" err="1" smtClean="0">
                <a:solidFill>
                  <a:srgbClr val="EBFFD2"/>
                </a:solidFill>
              </a:rPr>
              <a:t>Helpers.cshtml</a:t>
            </a:r>
            <a:r>
              <a:rPr lang="en-US" dirty="0" smtClean="0">
                <a:solidFill>
                  <a:srgbClr val="EBFFD2"/>
                </a:solidFill>
              </a:rPr>
              <a:t>)</a:t>
            </a:r>
          </a:p>
          <a:p>
            <a:pPr lvl="1"/>
            <a:r>
              <a:rPr lang="en-US" dirty="0" smtClean="0">
                <a:solidFill>
                  <a:srgbClr val="EBFFD2"/>
                </a:solidFill>
              </a:rPr>
              <a:t>Write a helper in it using @helper</a:t>
            </a:r>
          </a:p>
          <a:p>
            <a:endParaRPr lang="en-US" dirty="0">
              <a:solidFill>
                <a:srgbClr val="EBFFD2"/>
              </a:solidFill>
            </a:endParaRPr>
          </a:p>
          <a:p>
            <a:endParaRPr lang="en-US" dirty="0" smtClean="0"/>
          </a:p>
          <a:p>
            <a:r>
              <a:rPr lang="en-US" dirty="0" smtClean="0"/>
              <a:t>You can use the helper in any view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US" dirty="0"/>
          </a:p>
          <a:p>
            <a:r>
              <a:rPr lang="en-US" dirty="0"/>
              <a:t>Y</a:t>
            </a:r>
            <a:r>
              <a:rPr lang="en-US" dirty="0" smtClean="0"/>
              <a:t>ou have a lot of code in views? =&gt; write helpers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45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3505200"/>
            <a:ext cx="3657600" cy="12096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8512" y="5553075"/>
            <a:ext cx="2466975" cy="2952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Left Arrow 9"/>
          <p:cNvSpPr/>
          <p:nvPr/>
        </p:nvSpPr>
        <p:spPr>
          <a:xfrm rot="7855519">
            <a:off x="3196860" y="4027396"/>
            <a:ext cx="3769360" cy="224085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 Arrow 10"/>
          <p:cNvSpPr/>
          <p:nvPr/>
        </p:nvSpPr>
        <p:spPr>
          <a:xfrm rot="3977025">
            <a:off x="3640086" y="4576379"/>
            <a:ext cx="1882310" cy="224085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797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Partial Views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Partial views render portions of a </a:t>
            </a:r>
            <a:r>
              <a:rPr lang="en-US" dirty="0" smtClean="0"/>
              <a:t>page</a:t>
            </a:r>
          </a:p>
          <a:p>
            <a:pPr lvl="1"/>
            <a:r>
              <a:rPr lang="en-US" dirty="0"/>
              <a:t>Reuse pieces of a </a:t>
            </a:r>
            <a:r>
              <a:rPr lang="en-US" dirty="0" smtClean="0"/>
              <a:t>view</a:t>
            </a:r>
          </a:p>
          <a:p>
            <a:pPr lvl="1"/>
            <a:r>
              <a:rPr lang="en-US" dirty="0"/>
              <a:t>Html helpers – </a:t>
            </a:r>
            <a:r>
              <a:rPr lang="en-US" dirty="0" smtClean="0"/>
              <a:t>Partial, </a:t>
            </a:r>
            <a:r>
              <a:rPr lang="en-US" dirty="0" err="1" smtClean="0"/>
              <a:t>RenderPartial</a:t>
            </a:r>
            <a:r>
              <a:rPr lang="en-US" dirty="0" smtClean="0"/>
              <a:t> </a:t>
            </a:r>
            <a:r>
              <a:rPr lang="en-US" dirty="0"/>
              <a:t>and </a:t>
            </a:r>
            <a:r>
              <a:rPr lang="en-US" dirty="0" smtClean="0"/>
              <a:t>Action</a:t>
            </a:r>
          </a:p>
          <a:p>
            <a:r>
              <a:rPr lang="en-US" dirty="0"/>
              <a:t>Razor partial views are still .</a:t>
            </a:r>
            <a:r>
              <a:rPr lang="en-US" dirty="0" err="1"/>
              <a:t>cshtml</a:t>
            </a:r>
            <a:r>
              <a:rPr lang="en-US" dirty="0"/>
              <a:t> files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46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549231"/>
            <a:ext cx="4257675" cy="17526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5105400"/>
            <a:ext cx="4895850" cy="12858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8" name="Elbow Connector 7"/>
          <p:cNvCxnSpPr>
            <a:endCxn id="6" idx="1"/>
          </p:cNvCxnSpPr>
          <p:nvPr/>
        </p:nvCxnSpPr>
        <p:spPr>
          <a:xfrm rot="16200000" flipH="1">
            <a:off x="3106393" y="5044731"/>
            <a:ext cx="727764" cy="679449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4600755" y="5020573"/>
            <a:ext cx="345057" cy="39317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4105814"/>
            <a:ext cx="3876675" cy="3429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7506" y="3616535"/>
            <a:ext cx="3876675" cy="3429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7" name="Left Arrow 26"/>
          <p:cNvSpPr/>
          <p:nvPr/>
        </p:nvSpPr>
        <p:spPr>
          <a:xfrm rot="16200000">
            <a:off x="6247676" y="4620995"/>
            <a:ext cx="744724" cy="224085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Left Arrow 27"/>
          <p:cNvSpPr/>
          <p:nvPr/>
        </p:nvSpPr>
        <p:spPr>
          <a:xfrm rot="16200000">
            <a:off x="6684678" y="4403756"/>
            <a:ext cx="1179201" cy="224085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914400" y="5921544"/>
            <a:ext cx="2895601" cy="5847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bg1"/>
                </a:solidFill>
              </a:rPr>
              <a:t>Located in the same folder as other views or in Shared folder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9936" y="1676400"/>
            <a:ext cx="1324155" cy="3385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bg1"/>
                </a:solidFill>
              </a:rPr>
              <a:t>Sub-request</a:t>
            </a:r>
          </a:p>
        </p:txBody>
      </p:sp>
      <p:sp>
        <p:nvSpPr>
          <p:cNvPr id="31" name="Left Arrow 30"/>
          <p:cNvSpPr/>
          <p:nvPr/>
        </p:nvSpPr>
        <p:spPr>
          <a:xfrm rot="5400000">
            <a:off x="8160751" y="2038436"/>
            <a:ext cx="271047" cy="224085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742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143000"/>
            <a:ext cx="7924800" cy="685800"/>
          </a:xfrm>
        </p:spPr>
        <p:txBody>
          <a:bodyPr/>
          <a:lstStyle/>
          <a:p>
            <a:r>
              <a:rPr lang="en-US" dirty="0" smtClean="0"/>
              <a:t>Areas</a:t>
            </a:r>
            <a:endParaRPr lang="en-US" dirty="0"/>
          </a:p>
        </p:txBody>
      </p:sp>
      <p:pic>
        <p:nvPicPr>
          <p:cNvPr id="4098" name="Picture 2" descr="http://www.kansas-aa.org/images/area25%20color%20map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212" y="2362200"/>
            <a:ext cx="6505575" cy="35528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7583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Areas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791200"/>
          </a:xfrm>
        </p:spPr>
        <p:txBody>
          <a:bodyPr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 smtClean="0"/>
              <a:t>Some </a:t>
            </a:r>
            <a:r>
              <a:rPr lang="en-US" dirty="0"/>
              <a:t>applications can have a large number of </a:t>
            </a:r>
            <a:r>
              <a:rPr lang="en-US" dirty="0" smtClean="0"/>
              <a:t>controllers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ASP.NET MVC lets </a:t>
            </a:r>
            <a:r>
              <a:rPr lang="en-US" dirty="0" smtClean="0"/>
              <a:t>us partition </a:t>
            </a:r>
            <a:r>
              <a:rPr lang="en-US" dirty="0"/>
              <a:t>Web applications into smaller units </a:t>
            </a:r>
            <a:r>
              <a:rPr lang="en-US" dirty="0" smtClean="0"/>
              <a:t>(areas)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An area is effectively an MVC structure inside an </a:t>
            </a:r>
            <a:r>
              <a:rPr lang="en-US" dirty="0" smtClean="0"/>
              <a:t>application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 smtClean="0"/>
              <a:t>Example: large e-commerce application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 smtClean="0"/>
              <a:t>Main store, users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 smtClean="0"/>
              <a:t>Blog, forum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 smtClean="0"/>
              <a:t>Administration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48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953000"/>
            <a:ext cx="1905000" cy="138774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45649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09600" y="4953001"/>
            <a:ext cx="7924800" cy="685800"/>
          </a:xfrm>
        </p:spPr>
        <p:txBody>
          <a:bodyPr/>
          <a:lstStyle/>
          <a:p>
            <a:r>
              <a:rPr lang="en-US" dirty="0"/>
              <a:t>Demo</a:t>
            </a:r>
            <a:r>
              <a:rPr lang="en-US" dirty="0" smtClean="0"/>
              <a:t>: Areas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1790700" y="5715000"/>
            <a:ext cx="5562600" cy="457200"/>
          </a:xfrm>
        </p:spPr>
        <p:txBody>
          <a:bodyPr/>
          <a:lstStyle/>
          <a:p>
            <a:r>
              <a:rPr lang="en-US" dirty="0" smtClean="0"/>
              <a:t>ASP.NET MVC structures (areas)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412" y="1143000"/>
            <a:ext cx="6353175" cy="35909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7991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Routes maps URLs to controllers and actions</a:t>
            </a:r>
          </a:p>
          <a:p>
            <a:r>
              <a:rPr lang="en-US" dirty="0" smtClean="0"/>
              <a:t>Controllers are the brain of our application</a:t>
            </a:r>
          </a:p>
          <a:p>
            <a:r>
              <a:rPr lang="en-US" dirty="0"/>
              <a:t>Actions are the ultimate request destination</a:t>
            </a:r>
          </a:p>
          <a:p>
            <a:r>
              <a:rPr lang="en-US" dirty="0" smtClean="0"/>
              <a:t>Razor is a powerful engine for combining models and templates into HTML code</a:t>
            </a:r>
          </a:p>
          <a:p>
            <a:pPr lvl="1"/>
            <a:r>
              <a:rPr lang="en-US" dirty="0" smtClean="0"/>
              <a:t>Layout, sections, partials views and helpers help us to divide our views into pieces</a:t>
            </a:r>
          </a:p>
          <a:p>
            <a:r>
              <a:rPr lang="en-US" dirty="0" smtClean="0"/>
              <a:t>Our project can be divided into smaller parts containing controllers (areas)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180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76200"/>
            <a:ext cx="7086600" cy="838200"/>
          </a:xfrm>
        </p:spPr>
        <p:txBody>
          <a:bodyPr/>
          <a:lstStyle/>
          <a:p>
            <a:r>
              <a:rPr lang="en-US" dirty="0"/>
              <a:t>ASP.NET MVC Essentials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473176" y="6400800"/>
            <a:ext cx="3552511" cy="369332"/>
          </a:xfrm>
        </p:spPr>
        <p:txBody>
          <a:bodyPr/>
          <a:lstStyle/>
          <a:p>
            <a:r>
              <a:rPr lang="en-US" dirty="0">
                <a:hlinkClick r:id="rId3"/>
              </a:rPr>
              <a:t>http</a:t>
            </a:r>
            <a:r>
              <a:rPr lang="en-US" dirty="0" smtClean="0">
                <a:hlinkClick r:id="rId3"/>
              </a:rPr>
              <a:t>://schoolacademy.telerik.com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162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Homework</a:t>
            </a:r>
            <a:endParaRPr lang="bg-BG" dirty="0"/>
          </a:p>
        </p:txBody>
      </p:sp>
      <p:sp>
        <p:nvSpPr>
          <p:cNvPr id="54477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722012"/>
            <a:ext cx="8686800" cy="5983588"/>
          </a:xfrm>
        </p:spPr>
        <p:txBody>
          <a:bodyPr/>
          <a:lstStyle/>
          <a:p>
            <a:pPr marL="446088" indent="-446088">
              <a:lnSpc>
                <a:spcPts val="3700"/>
              </a:lnSpc>
              <a:spcBef>
                <a:spcPts val="300"/>
              </a:spcBef>
              <a:spcAft>
                <a:spcPts val="300"/>
              </a:spcAft>
              <a:buFontTx/>
              <a:buAutoNum type="arabicPeriod"/>
              <a:tabLst/>
            </a:pPr>
            <a:r>
              <a:rPr lang="en-US" sz="2800" dirty="0"/>
              <a:t>Write down </a:t>
            </a:r>
            <a:r>
              <a:rPr lang="en-US" sz="2800" dirty="0" smtClean="0"/>
              <a:t>in a text file all </a:t>
            </a:r>
            <a:r>
              <a:rPr lang="en-US" sz="2800" dirty="0"/>
              <a:t>the major </a:t>
            </a:r>
            <a:r>
              <a:rPr lang="en-US" sz="2800" dirty="0" smtClean="0"/>
              <a:t>similarities and </a:t>
            </a:r>
            <a:r>
              <a:rPr lang="en-US" sz="2800" dirty="0"/>
              <a:t>differences </a:t>
            </a:r>
            <a:r>
              <a:rPr lang="en-US" sz="2800" dirty="0"/>
              <a:t>you can find </a:t>
            </a:r>
            <a:r>
              <a:rPr lang="en-US" sz="2800" dirty="0" smtClean="0"/>
              <a:t>between ASP.NET </a:t>
            </a:r>
            <a:r>
              <a:rPr lang="en-US" sz="2800" dirty="0"/>
              <a:t>Web Forms and ASP.NET MVC</a:t>
            </a:r>
          </a:p>
          <a:p>
            <a:pPr marL="446088" indent="-446088">
              <a:lnSpc>
                <a:spcPts val="3700"/>
              </a:lnSpc>
              <a:spcBef>
                <a:spcPts val="300"/>
              </a:spcBef>
              <a:spcAft>
                <a:spcPts val="300"/>
              </a:spcAft>
              <a:buFontTx/>
              <a:buAutoNum type="arabicPeriod"/>
              <a:tabLst/>
            </a:pPr>
            <a:r>
              <a:rPr lang="en-US" sz="2800" dirty="0" smtClean="0"/>
              <a:t>Using ASP.NET MVC write </a:t>
            </a:r>
            <a:r>
              <a:rPr lang="en-US" sz="2800" dirty="0"/>
              <a:t>t</a:t>
            </a:r>
            <a:r>
              <a:rPr lang="en-US" sz="2800" dirty="0" smtClean="0"/>
              <a:t>he </a:t>
            </a:r>
            <a:r>
              <a:rPr lang="en-US" sz="2800" dirty="0"/>
              <a:t>same web </a:t>
            </a:r>
            <a:r>
              <a:rPr lang="en-US" sz="2800" dirty="0" smtClean="0"/>
              <a:t>calculator as: </a:t>
            </a:r>
            <a:r>
              <a:rPr lang="en-US" sz="2800" dirty="0" smtClean="0">
                <a:hlinkClick r:id="rId3"/>
              </a:rPr>
              <a:t>http</a:t>
            </a:r>
            <a:r>
              <a:rPr lang="en-US" sz="2800" dirty="0">
                <a:hlinkClick r:id="rId3"/>
              </a:rPr>
              <a:t>://</a:t>
            </a:r>
            <a:r>
              <a:rPr lang="en-US" sz="2800" dirty="0" smtClean="0">
                <a:hlinkClick r:id="rId3"/>
              </a:rPr>
              <a:t>www.gwebtools.com/bit-calculator</a:t>
            </a:r>
            <a:endParaRPr lang="en-US" sz="2800" dirty="0" smtClean="0"/>
          </a:p>
          <a:p>
            <a:pPr marL="446088" indent="-446088">
              <a:lnSpc>
                <a:spcPts val="3700"/>
              </a:lnSpc>
              <a:spcBef>
                <a:spcPts val="300"/>
              </a:spcBef>
              <a:spcAft>
                <a:spcPts val="300"/>
              </a:spcAft>
              <a:buFontTx/>
              <a:buAutoNum type="arabicPeriod"/>
              <a:tabLst/>
            </a:pPr>
            <a:r>
              <a:rPr lang="en-US" sz="2800" dirty="0" smtClean="0"/>
              <a:t>Create a simple informational ASP.NET MVC application by your choice with at least </a:t>
            </a:r>
            <a:r>
              <a:rPr lang="en-US" sz="2800" dirty="0" smtClean="0"/>
              <a:t>3 </a:t>
            </a:r>
            <a:r>
              <a:rPr lang="en-US" sz="2800" dirty="0" smtClean="0"/>
              <a:t>controllers, 1 </a:t>
            </a:r>
            <a:r>
              <a:rPr lang="en-US" sz="2800" dirty="0" smtClean="0"/>
              <a:t>area, 1 custom route, 5 </a:t>
            </a:r>
            <a:r>
              <a:rPr lang="en-US" sz="2800" dirty="0"/>
              <a:t>views (at least 1 </a:t>
            </a:r>
            <a:r>
              <a:rPr lang="en-US" sz="2800" dirty="0" smtClean="0"/>
              <a:t>partial view and 1 section). </a:t>
            </a:r>
            <a:r>
              <a:rPr lang="en-US" sz="2800" dirty="0" smtClean="0"/>
              <a:t>Using data is not required.</a:t>
            </a:r>
          </a:p>
          <a:p>
            <a:pPr marL="446088" indent="-446088">
              <a:lnSpc>
                <a:spcPts val="3700"/>
              </a:lnSpc>
              <a:spcBef>
                <a:spcPts val="300"/>
              </a:spcBef>
              <a:spcAft>
                <a:spcPts val="300"/>
              </a:spcAft>
              <a:buFontTx/>
              <a:buAutoNum type="arabicPeriod"/>
              <a:tabLst/>
            </a:pPr>
            <a:r>
              <a:rPr lang="en-US" sz="2800" dirty="0" smtClean="0"/>
              <a:t>* Create a custom route constraint that allows requests only if the controller name start</a:t>
            </a:r>
            <a:r>
              <a:rPr lang="en-US" sz="2800" dirty="0"/>
              <a:t>s</a:t>
            </a:r>
            <a:r>
              <a:rPr lang="en-US" sz="2800" dirty="0" smtClean="0"/>
              <a:t> with the string "Admin</a:t>
            </a:r>
            <a:r>
              <a:rPr lang="en-US" sz="2800" dirty="0" smtClean="0"/>
              <a:t>"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24113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Free Trainings @ Telerik Academy</a:t>
            </a:r>
            <a:endParaRPr lang="en-US" sz="36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5638800"/>
          </a:xfrm>
        </p:spPr>
        <p:txBody>
          <a:bodyPr/>
          <a:lstStyle/>
          <a:p>
            <a:r>
              <a:rPr lang="en-US" dirty="0" smtClean="0"/>
              <a:t>“C# Programming @ Telerik Academy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>
                <a:hlinkClick r:id="rId2"/>
              </a:rPr>
              <a:t>csharpfundamentals.telerik.com</a:t>
            </a:r>
            <a:endParaRPr lang="en-US" noProof="1"/>
          </a:p>
          <a:p>
            <a:pPr marL="282575" lvl="1" indent="-282575">
              <a:spcBef>
                <a:spcPts val="18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dirty="0" smtClean="0"/>
              <a:t>Telerik Software Academy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 smtClean="0">
                <a:hlinkClick r:id="rId3" tooltip="Telerik Software Academy - Free Programming Courses"/>
              </a:rPr>
              <a:t>academy.telerik.com</a:t>
            </a:r>
            <a:endParaRPr lang="en-US" noProof="1" smtClean="0"/>
          </a:p>
          <a:p>
            <a:pPr marL="282575" lvl="1" indent="-282575">
              <a:spcBef>
                <a:spcPts val="18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dirty="0" smtClean="0"/>
              <a:t>Telerik Academy @ Facebook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 smtClean="0">
                <a:hlinkClick r:id="rId4" tooltip="Telerik Softyware Academy @ Facebook"/>
              </a:rPr>
              <a:t>facebook.com/TelerikAcademy</a:t>
            </a:r>
            <a:endParaRPr lang="en-US" noProof="1" smtClean="0"/>
          </a:p>
          <a:p>
            <a:pPr marL="282575" lvl="1" indent="-282575">
              <a:spcBef>
                <a:spcPts val="18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dirty="0" smtClean="0"/>
              <a:t>Telerik Software Academy Forums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 smtClean="0">
                <a:hlinkClick r:id="rId5" tooltip="Telerik Software Academy Forums - Community for Programmers"/>
              </a:rPr>
              <a:t>forums.academy.telerik.com</a:t>
            </a:r>
            <a:endParaRPr lang="en-US" noProof="1"/>
          </a:p>
        </p:txBody>
      </p:sp>
      <p:pic>
        <p:nvPicPr>
          <p:cNvPr id="5" name="Picture 5">
            <a:hlinkClick r:id="rId5" tooltip="Telerik Software Academy Forums - Discussion Board for Developers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3898" y="5218092"/>
            <a:ext cx="1162902" cy="12686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>
            <a:hlinkClick r:id="rId3" tooltip="Telerik Software Academy"/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8941" y="2667000"/>
            <a:ext cx="3137859" cy="918234"/>
          </a:xfrm>
          <a:prstGeom prst="rect">
            <a:avLst/>
          </a:prstGeom>
          <a:noFill/>
          <a:ln>
            <a:solidFill>
              <a:srgbClr val="9BCC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>
            <a:hlinkClick r:id="rId8" tooltip="Telerik Academy @ Facebook"/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8587" y="4003901"/>
            <a:ext cx="938213" cy="938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1">
            <a:hlinkClick r:id="rId2"/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2025" y="1123558"/>
            <a:ext cx="1124775" cy="1124775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5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891dbb5ef1eec16f96b550c792a3c169f6d68"/>
</p:tagLst>
</file>

<file path=ppt/theme/theme1.xml><?xml version="1.0" encoding="utf-8"?>
<a:theme xmlns:a="http://schemas.openxmlformats.org/drawingml/2006/main" name="Telerik Academy">
  <a:themeElements>
    <a:clrScheme name="Telerik Colors Theme">
      <a:dk1>
        <a:sysClr val="windowText" lastClr="000000"/>
      </a:dk1>
      <a:lt1>
        <a:srgbClr val="CCFF66"/>
      </a:lt1>
      <a:dk2>
        <a:srgbClr val="30356E"/>
      </a:dk2>
      <a:lt2>
        <a:srgbClr val="CCFF33"/>
      </a:lt2>
      <a:accent1>
        <a:srgbClr val="CC4757"/>
      </a:accent1>
      <a:accent2>
        <a:srgbClr val="FF6F61"/>
      </a:accent2>
      <a:accent3>
        <a:srgbClr val="FF953E"/>
      </a:accent3>
      <a:accent4>
        <a:srgbClr val="F8BD52"/>
      </a:accent4>
      <a:accent5>
        <a:srgbClr val="46A6BD"/>
      </a:accent5>
      <a:accent6>
        <a:srgbClr val="5488BC"/>
      </a:accent6>
      <a:hlink>
        <a:srgbClr val="76B200"/>
      </a:hlink>
      <a:folHlink>
        <a:srgbClr val="FFCF3E"/>
      </a:folHlink>
    </a:clrScheme>
    <a:fontScheme name="Deluxe">
      <a:majorFont>
        <a:latin typeface="Corbel"/>
        <a:ea typeface=""/>
        <a:cs typeface=""/>
        <a:font script="Jpan" typeface="HGｺﾞｼｯｸM"/>
        <a:font script="Hang" typeface="HY엽서L"/>
        <a:font script="Hans" typeface="华文新魏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新魏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Deluxe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280000"/>
              </a:schemeClr>
            </a:gs>
            <a:gs pos="14000">
              <a:schemeClr val="phClr">
                <a:tint val="37000"/>
                <a:satMod val="250000"/>
              </a:schemeClr>
            </a:gs>
            <a:gs pos="45000">
              <a:schemeClr val="phClr">
                <a:tint val="53000"/>
                <a:satMod val="220000"/>
              </a:schemeClr>
            </a:gs>
            <a:gs pos="65000">
              <a:schemeClr val="phClr">
                <a:tint val="53000"/>
                <a:satMod val="220000"/>
              </a:schemeClr>
            </a:gs>
            <a:gs pos="86000">
              <a:schemeClr val="phClr">
                <a:tint val="42000"/>
                <a:satMod val="240000"/>
              </a:schemeClr>
            </a:gs>
            <a:gs pos="100000">
              <a:schemeClr val="phClr">
                <a:tint val="20000"/>
                <a:satMod val="23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0000">
              <a:schemeClr val="phClr">
                <a:satMod val="150000"/>
              </a:schemeClr>
            </a:gs>
            <a:gs pos="100000">
              <a:schemeClr val="phClr">
                <a:tint val="75000"/>
                <a:satMod val="20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atMod val="14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52400"/>
            <a:contourClr>
              <a:schemeClr val="phClr"/>
            </a:contourClr>
          </a:sp3d>
        </a:effectStyle>
        <a:effectStyle>
          <a:effectLst>
            <a:reflection blurRad="12700" stA="26000" endPos="28000" dist="38100" dir="5400000" sy="-100000"/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90500" h="1016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3000"/>
                <a:satMod val="1550000"/>
              </a:schemeClr>
            </a:gs>
            <a:gs pos="1000">
              <a:schemeClr val="phClr">
                <a:tint val="48000"/>
                <a:satMod val="155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r="210000" b="300000"/>
          </a:path>
        </a:gradFill>
        <a:gradFill rotWithShape="1">
          <a:gsLst>
            <a:gs pos="5000">
              <a:schemeClr val="phClr">
                <a:tint val="38000"/>
                <a:satMod val="1800000"/>
              </a:schemeClr>
            </a:gs>
            <a:gs pos="5000">
              <a:schemeClr val="phClr">
                <a:tint val="40000"/>
                <a:satMod val="180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l="20000" t="30000" r="135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Deluxe</Template>
  <TotalTime>7209</TotalTime>
  <Words>2292</Words>
  <Application>Microsoft Office PowerPoint</Application>
  <PresentationFormat>On-screen Show (4:3)</PresentationFormat>
  <Paragraphs>545</Paragraphs>
  <Slides>53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9" baseType="lpstr">
      <vt:lpstr>Calibri</vt:lpstr>
      <vt:lpstr>Cambria</vt:lpstr>
      <vt:lpstr>Consolas</vt:lpstr>
      <vt:lpstr>Corbel</vt:lpstr>
      <vt:lpstr>Wingdings 2</vt:lpstr>
      <vt:lpstr>Telerik Academy</vt:lpstr>
      <vt:lpstr>ASP.NET MVC Essentials</vt:lpstr>
      <vt:lpstr>Table of Contents</vt:lpstr>
      <vt:lpstr>ASP.NET MVC Routing</vt:lpstr>
      <vt:lpstr>ASP.NET MVC Routing</vt:lpstr>
      <vt:lpstr>Register routes</vt:lpstr>
      <vt:lpstr>Routing Examples</vt:lpstr>
      <vt:lpstr>Routing Examples (2)</vt:lpstr>
      <vt:lpstr>Routing Examples (3)</vt:lpstr>
      <vt:lpstr>Routing Examples (4)</vt:lpstr>
      <vt:lpstr>Custom Route</vt:lpstr>
      <vt:lpstr>Custom Route (2)</vt:lpstr>
      <vt:lpstr>Custom Route (3)</vt:lpstr>
      <vt:lpstr>Route Constraints</vt:lpstr>
      <vt:lpstr>Custom Route Constraint</vt:lpstr>
      <vt:lpstr>Debugging Routes</vt:lpstr>
      <vt:lpstr>Demo: Routes</vt:lpstr>
      <vt:lpstr>Controllers and Actions</vt:lpstr>
      <vt:lpstr>Controllers</vt:lpstr>
      <vt:lpstr>Actions</vt:lpstr>
      <vt:lpstr>ASP.NET MVC Request</vt:lpstr>
      <vt:lpstr>Action Results</vt:lpstr>
      <vt:lpstr>Action Results (2)</vt:lpstr>
      <vt:lpstr>Action Parameters</vt:lpstr>
      <vt:lpstr>Action Selectors</vt:lpstr>
      <vt:lpstr>Action Filters</vt:lpstr>
      <vt:lpstr>Custom Action Filter</vt:lpstr>
      <vt:lpstr>Custom Action Filter (2)</vt:lpstr>
      <vt:lpstr>Razor Views</vt:lpstr>
      <vt:lpstr>Views</vt:lpstr>
      <vt:lpstr>Razor</vt:lpstr>
      <vt:lpstr>Design Goals</vt:lpstr>
      <vt:lpstr>Pass Data to a View</vt:lpstr>
      <vt:lpstr>How it works?</vt:lpstr>
      <vt:lpstr>Razor Syntax</vt:lpstr>
      <vt:lpstr>Razor Syntax (2)</vt:lpstr>
      <vt:lpstr>Razor Syntax (3)</vt:lpstr>
      <vt:lpstr>Razor Syntax (4)</vt:lpstr>
      <vt:lpstr>Layout</vt:lpstr>
      <vt:lpstr>Views and Layouts</vt:lpstr>
      <vt:lpstr>Sections</vt:lpstr>
      <vt:lpstr>View Helpers</vt:lpstr>
      <vt:lpstr>HTML Helpers</vt:lpstr>
      <vt:lpstr>HTML Helpers (2)</vt:lpstr>
      <vt:lpstr>Custom Helpers</vt:lpstr>
      <vt:lpstr>Custom Helpers (2)</vt:lpstr>
      <vt:lpstr>Partial Views</vt:lpstr>
      <vt:lpstr>Areas</vt:lpstr>
      <vt:lpstr>Areas</vt:lpstr>
      <vt:lpstr>Demo: Areas</vt:lpstr>
      <vt:lpstr>Summary</vt:lpstr>
      <vt:lpstr>ASP.NET MVC Essentials</vt:lpstr>
      <vt:lpstr>Homework</vt:lpstr>
      <vt:lpstr>Free Trainings @ Telerik Academy</vt:lpstr>
    </vt:vector>
  </TitlesOfParts>
  <Company>Telerik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Telerik Software Academy</dc:title>
  <dc:subject>Telerik Software Academy</dc:subject>
  <dc:creator>Nikolay.IT</dc:creator>
  <cp:keywords>telerik software academy, free courses for developers</cp:keywords>
  <cp:lastModifiedBy>Nikolay Kostov</cp:lastModifiedBy>
  <cp:revision>884</cp:revision>
  <dcterms:created xsi:type="dcterms:W3CDTF">2007-12-08T16:03:35Z</dcterms:created>
  <dcterms:modified xsi:type="dcterms:W3CDTF">2013-09-22T15:48:52Z</dcterms:modified>
  <cp:category>software engineering</cp:category>
</cp:coreProperties>
</file>