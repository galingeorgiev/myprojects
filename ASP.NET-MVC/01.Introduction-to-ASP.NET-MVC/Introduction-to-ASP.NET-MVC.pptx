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53"/>
  </p:notesMasterIdLst>
  <p:handoutMasterIdLst>
    <p:handoutMasterId r:id="rId54"/>
  </p:handoutMasterIdLst>
  <p:sldIdLst>
    <p:sldId id="338" r:id="rId2"/>
    <p:sldId id="335" r:id="rId3"/>
    <p:sldId id="450" r:id="rId4"/>
    <p:sldId id="451" r:id="rId5"/>
    <p:sldId id="452" r:id="rId6"/>
    <p:sldId id="453" r:id="rId7"/>
    <p:sldId id="449" r:id="rId8"/>
    <p:sldId id="454" r:id="rId9"/>
    <p:sldId id="455" r:id="rId10"/>
    <p:sldId id="364" r:id="rId11"/>
    <p:sldId id="350" r:id="rId12"/>
    <p:sldId id="360" r:id="rId13"/>
    <p:sldId id="361" r:id="rId14"/>
    <p:sldId id="362" r:id="rId15"/>
    <p:sldId id="377" r:id="rId16"/>
    <p:sldId id="349" r:id="rId17"/>
    <p:sldId id="371" r:id="rId18"/>
    <p:sldId id="363" r:id="rId19"/>
    <p:sldId id="376" r:id="rId20"/>
    <p:sldId id="356" r:id="rId21"/>
    <p:sldId id="440" r:id="rId22"/>
    <p:sldId id="441" r:id="rId23"/>
    <p:sldId id="354" r:id="rId24"/>
    <p:sldId id="415" r:id="rId25"/>
    <p:sldId id="434" r:id="rId26"/>
    <p:sldId id="381" r:id="rId27"/>
    <p:sldId id="382" r:id="rId28"/>
    <p:sldId id="379" r:id="rId29"/>
    <p:sldId id="442" r:id="rId30"/>
    <p:sldId id="366" r:id="rId31"/>
    <p:sldId id="365" r:id="rId32"/>
    <p:sldId id="339" r:id="rId33"/>
    <p:sldId id="345" r:id="rId34"/>
    <p:sldId id="347" r:id="rId35"/>
    <p:sldId id="346" r:id="rId36"/>
    <p:sldId id="438" r:id="rId37"/>
    <p:sldId id="439" r:id="rId38"/>
    <p:sldId id="348" r:id="rId39"/>
    <p:sldId id="369" r:id="rId40"/>
    <p:sldId id="447" r:id="rId41"/>
    <p:sldId id="372" r:id="rId42"/>
    <p:sldId id="435" r:id="rId43"/>
    <p:sldId id="383" r:id="rId44"/>
    <p:sldId id="446" r:id="rId45"/>
    <p:sldId id="437" r:id="rId46"/>
    <p:sldId id="443" r:id="rId47"/>
    <p:sldId id="445" r:id="rId48"/>
    <p:sldId id="444" r:id="rId49"/>
    <p:sldId id="370" r:id="rId50"/>
    <p:sldId id="334" r:id="rId51"/>
    <p:sldId id="403" r:id="rId52"/>
  </p:sldIdLst>
  <p:sldSz cx="9144000" cy="6858000" type="screen4x3"/>
  <p:notesSz cx="6881813" cy="9296400"/>
  <p:custDataLst>
    <p:tags r:id="rId55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5pPr>
    <a:lvl6pPr marL="2286000" algn="l" defTabSz="914400" rtl="0" eaLnBrk="1" latinLnBrk="0" hangingPunct="1"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6pPr>
    <a:lvl7pPr marL="2743200" algn="l" defTabSz="914400" rtl="0" eaLnBrk="1" latinLnBrk="0" hangingPunct="1"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7pPr>
    <a:lvl8pPr marL="3200400" algn="l" defTabSz="914400" rtl="0" eaLnBrk="1" latinLnBrk="0" hangingPunct="1"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8pPr>
    <a:lvl9pPr marL="3657600" algn="l" defTabSz="914400" rtl="0" eaLnBrk="1" latinLnBrk="0" hangingPunct="1"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 and Table of Contents" id="{7722B103-20C1-4AB7-8C42-B6F3F26CF256}">
          <p14:sldIdLst>
            <p14:sldId id="338"/>
            <p14:sldId id="335"/>
          </p14:sldIdLst>
        </p14:section>
        <p14:section name="The HTTP Protocol" id="{54F51BD7-9AD2-4B8E-8AA5-A47EB3FBBA1A}">
          <p14:sldIdLst>
            <p14:sldId id="450"/>
            <p14:sldId id="451"/>
            <p14:sldId id="452"/>
            <p14:sldId id="453"/>
            <p14:sldId id="449"/>
            <p14:sldId id="454"/>
            <p14:sldId id="455"/>
          </p14:sldIdLst>
        </p14:section>
        <p14:section name="The MVC Pattern" id="{8CF34BE0-F434-4137-A7FF-4BA785BCEE54}">
          <p14:sldIdLst>
            <p14:sldId id="364"/>
            <p14:sldId id="350"/>
            <p14:sldId id="360"/>
            <p14:sldId id="361"/>
            <p14:sldId id="362"/>
            <p14:sldId id="377"/>
            <p14:sldId id="349"/>
            <p14:sldId id="371"/>
          </p14:sldIdLst>
        </p14:section>
        <p14:section name="ASP.NET MVC" id="{110850A9-C3B2-493A-8735-BCF19E5CC402}">
          <p14:sldIdLst>
            <p14:sldId id="363"/>
            <p14:sldId id="376"/>
            <p14:sldId id="356"/>
            <p14:sldId id="440"/>
            <p14:sldId id="441"/>
            <p14:sldId id="354"/>
            <p14:sldId id="415"/>
            <p14:sldId id="434"/>
            <p14:sldId id="381"/>
            <p14:sldId id="382"/>
            <p14:sldId id="379"/>
            <p14:sldId id="442"/>
            <p14:sldId id="366"/>
          </p14:sldIdLst>
        </p14:section>
        <p14:section name="Creating ASP.NET MVC Project" id="{C1D15716-48AA-499B-9313-0183838F7B1E}">
          <p14:sldIdLst>
            <p14:sldId id="365"/>
            <p14:sldId id="339"/>
            <p14:sldId id="345"/>
            <p14:sldId id="347"/>
            <p14:sldId id="346"/>
            <p14:sldId id="438"/>
            <p14:sldId id="439"/>
            <p14:sldId id="348"/>
            <p14:sldId id="369"/>
          </p14:sldIdLst>
        </p14:section>
        <p14:section name="NuGet Package Management" id="{8FF2DE43-510E-467D-A0FD-3112C602D486}">
          <p14:sldIdLst>
            <p14:sldId id="447"/>
            <p14:sldId id="372"/>
            <p14:sldId id="435"/>
            <p14:sldId id="383"/>
          </p14:sldIdLst>
        </p14:section>
        <p14:section name="Glimpse" id="{4A66DA90-D85C-4A0A-9907-1C26D4F851A0}">
          <p14:sldIdLst>
            <p14:sldId id="446"/>
            <p14:sldId id="437"/>
            <p14:sldId id="443"/>
            <p14:sldId id="445"/>
            <p14:sldId id="444"/>
          </p14:sldIdLst>
        </p14:section>
        <p14:section name="Summary, Questions, Homework" id="{5346AD75-CFEF-4826-8EDA-D95E01706B79}">
          <p14:sldIdLst>
            <p14:sldId id="370"/>
            <p14:sldId id="334"/>
            <p14:sldId id="40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16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9BCC00"/>
    <a:srgbClr val="9ED000"/>
    <a:srgbClr val="F4FCD8"/>
    <a:srgbClr val="E8FFC8"/>
    <a:srgbClr val="FAF7C8"/>
    <a:srgbClr val="FAF8C8"/>
    <a:srgbClr val="F5FFC2"/>
    <a:srgbClr val="EBFFD2"/>
    <a:srgbClr val="EBFF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00" autoAdjust="0"/>
    <p:restoredTop sz="94468" autoAdjust="0"/>
  </p:normalViewPr>
  <p:slideViewPr>
    <p:cSldViewPr>
      <p:cViewPr varScale="1">
        <p:scale>
          <a:sx n="106" d="100"/>
          <a:sy n="106" d="100"/>
        </p:scale>
        <p:origin x="1032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7" d="100"/>
          <a:sy n="67" d="100"/>
        </p:scale>
        <p:origin x="-2778" y="-96"/>
      </p:cViewPr>
      <p:guideLst>
        <p:guide orient="horz" pos="2928"/>
        <p:guide pos="216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829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t" anchorCtr="0" compatLnSpc="1">
            <a:prstTxWarp prst="textNoShape">
              <a:avLst/>
            </a:prstTxWarp>
          </a:bodyPr>
          <a:lstStyle>
            <a:lvl1pPr defTabSz="923925">
              <a:defRPr sz="1200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 bwMode="auto">
          <a:xfrm>
            <a:off x="3897313" y="0"/>
            <a:ext cx="2982912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t" anchorCtr="0" compatLnSpc="1">
            <a:prstTxWarp prst="textNoShape">
              <a:avLst/>
            </a:prstTxWarp>
          </a:bodyPr>
          <a:lstStyle>
            <a:lvl1pPr algn="r" defTabSz="923925">
              <a:defRPr sz="1200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fld id="{3BF7C7B5-275F-4D1F-9AB4-9255447DBC73}" type="datetimeFigureOut">
              <a:rPr lang="en-US"/>
              <a:pPr/>
              <a:t>9/22/2013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 bwMode="auto">
          <a:xfrm>
            <a:off x="0" y="8829675"/>
            <a:ext cx="29829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b" anchorCtr="0" compatLnSpc="1">
            <a:prstTxWarp prst="textNoShape">
              <a:avLst/>
            </a:prstTxWarp>
          </a:bodyPr>
          <a:lstStyle>
            <a:lvl1pPr defTabSz="923925">
              <a:defRPr sz="1200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 bwMode="auto">
          <a:xfrm>
            <a:off x="3897313" y="8829675"/>
            <a:ext cx="2982912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b" anchorCtr="0" compatLnSpc="1">
            <a:prstTxWarp prst="textNoShape">
              <a:avLst/>
            </a:prstTxWarp>
          </a:bodyPr>
          <a:lstStyle>
            <a:lvl1pPr algn="r" defTabSz="923925">
              <a:defRPr sz="1200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fld id="{3DADE544-1278-4EDA-8870-0A169B9A6D6D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32406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829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t" anchorCtr="0" compatLnSpc="1">
            <a:prstTxWarp prst="textNoShape">
              <a:avLst/>
            </a:prstTxWarp>
          </a:bodyPr>
          <a:lstStyle>
            <a:lvl1pPr defTabSz="923925">
              <a:defRPr sz="1200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97313" y="0"/>
            <a:ext cx="2982912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t" anchorCtr="0" compatLnSpc="1">
            <a:prstTxWarp prst="textNoShape">
              <a:avLst/>
            </a:prstTxWarp>
          </a:bodyPr>
          <a:lstStyle>
            <a:lvl1pPr algn="r" defTabSz="923925">
              <a:defRPr sz="1200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fld id="{9B46F231-FB2B-4655-A644-E2477325E686}" type="datetimeFigureOut">
              <a:rPr lang="en-US"/>
              <a:pPr/>
              <a:t>9/22/2013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176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7388" y="4416425"/>
            <a:ext cx="5507037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829675"/>
            <a:ext cx="29829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b" anchorCtr="0" compatLnSpc="1">
            <a:prstTxWarp prst="textNoShape">
              <a:avLst/>
            </a:prstTxWarp>
          </a:bodyPr>
          <a:lstStyle>
            <a:lvl1pPr defTabSz="923925">
              <a:defRPr sz="1200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97313" y="8829675"/>
            <a:ext cx="2982912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b" anchorCtr="0" compatLnSpc="1">
            <a:prstTxWarp prst="textNoShape">
              <a:avLst/>
            </a:prstTxWarp>
          </a:bodyPr>
          <a:lstStyle>
            <a:lvl1pPr algn="r" defTabSz="923925">
              <a:defRPr sz="1200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fld id="{6FB4F6EA-423E-42DF-9292-215E7D886C4E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520194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4F6EA-423E-42DF-9292-215E7D886C4E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57995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dirty="0"/>
              <a:t>*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 dirty="0"/>
              <a:t>07/16/96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dirty="0"/>
              <a:t>(c) 2007 National Academy for Software Development - http://academy.devbg.org. All rights reserved. Unauthorized copying or re-distribution is strictly prohibited.*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ACF989F-2540-4A1F-95BB-19F8DB837FED}" type="slidenum">
              <a:rPr lang="en-US"/>
              <a:pPr/>
              <a:t>3</a:t>
            </a:fld>
            <a:r>
              <a:rPr lang="en-US" dirty="0"/>
              <a:t>##</a:t>
            </a:r>
          </a:p>
        </p:txBody>
      </p:sp>
      <p:sp>
        <p:nvSpPr>
          <p:cNvPr id="475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5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2198179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4F6EA-423E-42DF-9292-215E7D886C4E}" type="slidenum">
              <a:rPr lang="en-US" smtClean="0"/>
              <a:pPr/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79316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hyperlink" Target="http://mvccourse.telerik.com/" TargetMode="External"/><Relationship Id="rId13" Type="http://schemas.openxmlformats.org/officeDocument/2006/relationships/hyperlink" Target="http://algoacademy.telerik.com/" TargetMode="External"/><Relationship Id="rId18" Type="http://schemas.openxmlformats.org/officeDocument/2006/relationships/hyperlink" Target="http://www.minkov.it/" TargetMode="External"/><Relationship Id="rId3" Type="http://schemas.openxmlformats.org/officeDocument/2006/relationships/hyperlink" Target="http://kursove-uroci-knigi-obuchenie-programirane-web-design-csharp.info/" TargetMode="External"/><Relationship Id="rId7" Type="http://schemas.openxmlformats.org/officeDocument/2006/relationships/hyperlink" Target="http://schoolacademy.telerik.com/" TargetMode="External"/><Relationship Id="rId12" Type="http://schemas.openxmlformats.org/officeDocument/2006/relationships/hyperlink" Target="http://codecourse.telerik.com/" TargetMode="External"/><Relationship Id="rId17" Type="http://schemas.openxmlformats.org/officeDocument/2006/relationships/hyperlink" Target="http://www.introprogramming.info/" TargetMode="External"/><Relationship Id="rId2" Type="http://schemas.openxmlformats.org/officeDocument/2006/relationships/hyperlink" Target="http://forums.academy.telerik.com/" TargetMode="External"/><Relationship Id="rId16" Type="http://schemas.openxmlformats.org/officeDocument/2006/relationships/hyperlink" Target="http://mobiledevcourse.telerik.com/" TargetMode="External"/><Relationship Id="rId20" Type="http://schemas.openxmlformats.org/officeDocument/2006/relationships/hyperlink" Target="http://csharpfundamentals.telerik.com/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html5course.telerik.com/" TargetMode="External"/><Relationship Id="rId11" Type="http://schemas.openxmlformats.org/officeDocument/2006/relationships/hyperlink" Target="http://www.nakov.com/" TargetMode="External"/><Relationship Id="rId5" Type="http://schemas.openxmlformats.org/officeDocument/2006/relationships/hyperlink" Target="http://seocourse.telerik.com/" TargetMode="External"/><Relationship Id="rId15" Type="http://schemas.openxmlformats.org/officeDocument/2006/relationships/hyperlink" Target="http://academy.telerik.com/" TargetMode="External"/><Relationship Id="rId10" Type="http://schemas.openxmlformats.org/officeDocument/2006/relationships/hyperlink" Target="http://www.bgcoder.com/" TargetMode="External"/><Relationship Id="rId19" Type="http://schemas.openxmlformats.org/officeDocument/2006/relationships/hyperlink" Target="http://www.nikolay.it/" TargetMode="External"/><Relationship Id="rId4" Type="http://schemas.openxmlformats.org/officeDocument/2006/relationships/hyperlink" Target="http://www.telerik-kids.com/" TargetMode="External"/><Relationship Id="rId9" Type="http://schemas.openxmlformats.org/officeDocument/2006/relationships/hyperlink" Target="http://clouddevcourse.telerik.com/" TargetMode="External"/><Relationship Id="rId14" Type="http://schemas.openxmlformats.org/officeDocument/2006/relationships/hyperlink" Target="http://aspnetcourse.telerik.com/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8"/>
          <p:cNvSpPr>
            <a:spLocks noGrp="1"/>
          </p:cNvSpPr>
          <p:nvPr>
            <p:ph type="ctrTitle" hasCustomPrompt="1"/>
          </p:nvPr>
        </p:nvSpPr>
        <p:spPr>
          <a:xfrm>
            <a:off x="457200" y="1524000"/>
            <a:ext cx="8229600" cy="1524000"/>
          </a:xfrm>
          <a:prstGeom prst="rect">
            <a:avLst/>
          </a:prstGeom>
        </p:spPr>
        <p:txBody>
          <a:bodyPr tIns="0" bIns="0" anchor="b" anchorCtr="0"/>
          <a:lstStyle>
            <a:lvl1pPr algn="r">
              <a:lnSpc>
                <a:spcPts val="5600"/>
              </a:lnSpc>
              <a:defRPr sz="5400" cap="none" baseline="0">
                <a:solidFill>
                  <a:srgbClr val="D4FF5B"/>
                </a:solidFill>
                <a:effectLst>
                  <a:outerShdw blurRad="30000" dist="30000" dir="2700000" algn="tl" rotWithShape="0">
                    <a:schemeClr val="bg2">
                      <a:shade val="45000"/>
                      <a:satMod val="150000"/>
                      <a:alpha val="90000"/>
                    </a:schemeClr>
                  </a:outerShdw>
                  <a:reflection blurRad="12000" stA="20000" endPos="50000" dist="12700" dir="5400000" sy="-100000" algn="bl" rotWithShape="0"/>
                </a:effectLst>
              </a:defRPr>
            </a:lvl1pPr>
          </a:lstStyle>
          <a:p>
            <a:r>
              <a:rPr lang="en-US" dirty="0" smtClean="0"/>
              <a:t>Presentation Title</a:t>
            </a:r>
            <a:endParaRPr lang="en-US" dirty="0"/>
          </a:p>
        </p:txBody>
      </p:sp>
      <p:sp>
        <p:nvSpPr>
          <p:cNvPr id="7" name="Subtitle 16"/>
          <p:cNvSpPr>
            <a:spLocks noGrp="1"/>
          </p:cNvSpPr>
          <p:nvPr>
            <p:ph type="subTitle" idx="1" hasCustomPrompt="1"/>
          </p:nvPr>
        </p:nvSpPr>
        <p:spPr>
          <a:xfrm>
            <a:off x="457200" y="3240880"/>
            <a:ext cx="8229600" cy="569120"/>
          </a:xfrm>
          <a:prstGeom prst="rect">
            <a:avLst/>
          </a:prstGeom>
        </p:spPr>
        <p:txBody>
          <a:bodyPr lIns="90000" tIns="0" rIns="90000" bIns="0" anchor="ctr" anchorCtr="0"/>
          <a:lstStyle>
            <a:lvl1pPr marL="0" indent="0" algn="r">
              <a:buNone/>
              <a:defRPr sz="2800">
                <a:solidFill>
                  <a:srgbClr val="FAF8C8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dirty="0" smtClean="0"/>
              <a:t>Presentation Subtitle</a:t>
            </a:r>
            <a:endParaRPr lang="en-US" dirty="0"/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2667000" y="4114800"/>
            <a:ext cx="6248400" cy="0"/>
          </a:xfrm>
          <a:prstGeom prst="line">
            <a:avLst/>
          </a:prstGeom>
          <a:ln w="38100" cap="rnd">
            <a:solidFill>
              <a:schemeClr val="accent5">
                <a:lumMod val="20000"/>
                <a:lumOff val="80000"/>
                <a:alpha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444500" y="4572000"/>
            <a:ext cx="3352800" cy="533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buNone/>
              <a:defRPr lang="en-US" sz="2800" b="1" kern="1200" dirty="0" smtClean="0">
                <a:solidFill>
                  <a:srgbClr val="DEFF9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Author Name</a:t>
            </a:r>
            <a:endParaRPr lang="en-US" dirty="0"/>
          </a:p>
        </p:txBody>
      </p:sp>
      <p:sp>
        <p:nvSpPr>
          <p:cNvPr id="15" name="Text Placeholder 13"/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5833646"/>
            <a:ext cx="335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 algn="l" rtl="0" fontAlgn="base">
              <a:spcBef>
                <a:spcPct val="0"/>
              </a:spcBef>
              <a:spcAft>
                <a:spcPct val="0"/>
              </a:spcAft>
              <a:buNone/>
              <a:defRPr lang="en-US" sz="1800" b="1" kern="1200" dirty="0">
                <a:solidFill>
                  <a:schemeClr val="tx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itchFamily="34" charset="0"/>
                <a:ea typeface="+mn-ea"/>
                <a:cs typeface="+mn-cs"/>
              </a:defRPr>
            </a:lvl1pPr>
          </a:lstStyle>
          <a:p>
            <a:pPr marL="319088" lvl="0" indent="-319088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</a:pPr>
            <a:r>
              <a:rPr lang="en-US" sz="1800" b="1" dirty="0" smtClean="0">
                <a:solidFill>
                  <a:srgbClr val="0EFE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Company Name</a:t>
            </a:r>
            <a:endParaRPr lang="en-US" sz="1800" b="1" dirty="0">
              <a:solidFill>
                <a:srgbClr val="0EFE5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Text Placeholder 13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6138446"/>
            <a:ext cx="3352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buNone/>
              <a:defRPr lang="en-US" sz="1600" b="1" kern="1200" dirty="0" smtClean="0">
                <a:solidFill>
                  <a:srgbClr val="0EFE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itchFamily="34" charset="0"/>
                <a:ea typeface="+mn-ea"/>
                <a:cs typeface="+mn-cs"/>
              </a:defRPr>
            </a:lvl1pPr>
          </a:lstStyle>
          <a:p>
            <a:pPr algn="l"/>
            <a:r>
              <a:rPr lang="en-US" sz="1600" b="1" dirty="0" smtClean="0"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Company Web Site</a:t>
            </a:r>
            <a:endParaRPr lang="en-US" sz="1600" b="1" dirty="0">
              <a:solidFill>
                <a:schemeClr val="tx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 Placehold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5029200"/>
            <a:ext cx="3352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buNone/>
              <a:defRPr lang="en-US" sz="2300" b="1" kern="1200" dirty="0" smtClean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Position</a:t>
            </a:r>
            <a:endParaRPr lang="en-US" dirty="0"/>
          </a:p>
        </p:txBody>
      </p:sp>
      <p:sp>
        <p:nvSpPr>
          <p:cNvPr id="9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5405735"/>
            <a:ext cx="3352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buNone/>
              <a:defRPr lang="en-US" sz="2000" b="1" kern="1200" dirty="0" smtClean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smtClean="0"/>
              <a:t>Web Site</a:t>
            </a:r>
            <a:endParaRPr lang="en-US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4267200" y="4572000"/>
            <a:ext cx="4419600" cy="1905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 smtClean="0"/>
              <a:t>Insert a Picture Here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828800" y="76200"/>
            <a:ext cx="7086600" cy="8382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r" rtl="0" eaLnBrk="0" fontAlgn="base" hangingPunct="0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lang="en-US" sz="4000" b="1" kern="1200" baseline="0" dirty="0">
                <a:ln w="500"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12700" stA="20000" endPos="50000" dist="127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Slide Title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28600" y="914400"/>
            <a:ext cx="8686800" cy="5791200"/>
          </a:xfrm>
          <a:prstGeom prst="rect">
            <a:avLst/>
          </a:prstGeom>
        </p:spPr>
        <p:txBody>
          <a:bodyPr/>
          <a:lstStyle>
            <a:lvl1pPr marL="282575" indent="-282575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tabLst>
                <a:tab pos="282575" algn="l"/>
              </a:tabLst>
              <a:defRPr sz="3200">
                <a:solidFill>
                  <a:srgbClr val="EBFFD2"/>
                </a:solidFill>
              </a:defRPr>
            </a:lvl1pPr>
            <a:lvl2pPr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8FD600"/>
              </a:buClr>
              <a:defRPr sz="3000">
                <a:solidFill>
                  <a:schemeClr val="tx1">
                    <a:lumMod val="40000"/>
                    <a:lumOff val="60000"/>
                  </a:schemeClr>
                </a:solidFill>
              </a:defRPr>
            </a:lvl2pPr>
            <a:lvl3pPr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FFAD9F"/>
              </a:buClr>
              <a:defRPr sz="2800">
                <a:solidFill>
                  <a:srgbClr val="F5FFC2"/>
                </a:solidFill>
              </a:defRPr>
            </a:lvl3pPr>
            <a:lvl4pPr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FACF82"/>
              </a:buClr>
              <a:defRPr sz="2600">
                <a:solidFill>
                  <a:schemeClr val="tx1">
                    <a:lumMod val="40000"/>
                    <a:lumOff val="60000"/>
                  </a:schemeClr>
                </a:solidFill>
              </a:defRPr>
            </a:lvl4pPr>
            <a:lvl5pPr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defRPr sz="2400">
                <a:solidFill>
                  <a:schemeClr val="tx1">
                    <a:lumMod val="40000"/>
                    <a:lumOff val="60000"/>
                  </a:schemeClr>
                </a:solidFill>
              </a:defRPr>
            </a:lvl5pPr>
          </a:lstStyle>
          <a:p>
            <a:pPr lvl="0"/>
            <a:r>
              <a:rPr lang="en-US" dirty="0" smtClean="0"/>
              <a:t>First Level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8610600" y="6553200"/>
            <a:ext cx="457200" cy="228600"/>
          </a:xfrm>
          <a:prstGeom prst="rect">
            <a:avLst/>
          </a:prstGeom>
        </p:spPr>
        <p:txBody>
          <a:bodyPr anchor="ctr" anchorCtr="0"/>
          <a:lstStyle>
            <a:lvl1pPr algn="r">
              <a:defRPr sz="1100"/>
            </a:lvl1pPr>
          </a:lstStyle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1828800" y="76200"/>
            <a:ext cx="7086600" cy="8382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lnSpc>
                <a:spcPts val="4000"/>
              </a:lnSpc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12700" stA="20000" endPos="50000" dist="12700" dir="5400000" sy="-100000" algn="bl" rotWithShape="0"/>
                </a:effectLst>
              </a:defRPr>
            </a:lvl1pPr>
          </a:lstStyle>
          <a:p>
            <a:r>
              <a:rPr lang="en-US" dirty="0" smtClean="0"/>
              <a:t>Slide Title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" hasCustomPrompt="1"/>
          </p:nvPr>
        </p:nvSpPr>
        <p:spPr>
          <a:xfrm>
            <a:off x="228600" y="990600"/>
            <a:ext cx="8686800" cy="579646"/>
          </a:xfrm>
          <a:prstGeom prst="rect">
            <a:avLst/>
          </a:prstGeom>
        </p:spPr>
        <p:txBody>
          <a:bodyPr>
            <a:spAutoFit/>
          </a:bodyPr>
          <a:lstStyle>
            <a:lvl1pPr marL="319088" marR="0" indent="-319088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46A6BD">
                  <a:lumMod val="40000"/>
                  <a:lumOff val="60000"/>
                </a:srgbClr>
              </a:buClr>
              <a:buSzPct val="70000"/>
              <a:buFont typeface="Wingdings 2" pitchFamily="18" charset="2"/>
              <a:buChar char=""/>
              <a:tabLst/>
              <a:defRPr sz="3000" baseline="0"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  <a:lvl2pPr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8FD600"/>
              </a:buClr>
              <a:defRPr sz="3000">
                <a:solidFill>
                  <a:schemeClr val="tx1">
                    <a:lumMod val="40000"/>
                    <a:lumOff val="60000"/>
                  </a:schemeClr>
                </a:solidFill>
              </a:defRPr>
            </a:lvl2pPr>
            <a:lvl3pPr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FFAD9F"/>
              </a:buClr>
              <a:defRPr sz="2800">
                <a:solidFill>
                  <a:schemeClr val="tx1">
                    <a:lumMod val="40000"/>
                    <a:lumOff val="60000"/>
                  </a:schemeClr>
                </a:solidFill>
              </a:defRPr>
            </a:lvl3pPr>
            <a:lvl4pPr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FACF82"/>
              </a:buClr>
              <a:defRPr sz="2600">
                <a:solidFill>
                  <a:schemeClr val="tx1">
                    <a:lumMod val="40000"/>
                    <a:lumOff val="60000"/>
                  </a:schemeClr>
                </a:solidFill>
              </a:defRPr>
            </a:lvl4pPr>
            <a:lvl5pPr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defRPr sz="2400">
                <a:solidFill>
                  <a:schemeClr val="tx1">
                    <a:lumMod val="40000"/>
                    <a:lumOff val="60000"/>
                  </a:schemeClr>
                </a:solidFill>
              </a:defRPr>
            </a:lvl5pPr>
          </a:lstStyle>
          <a:p>
            <a:pPr marL="319088" marR="0" lvl="0" indent="-319088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46A6BD">
                  <a:lumMod val="40000"/>
                  <a:lumOff val="60000"/>
                </a:srgbClr>
              </a:buClr>
              <a:buSzPct val="70000"/>
              <a:buFont typeface="Wingdings 2" pitchFamily="18" charset="2"/>
              <a:buChar char=""/>
              <a:tabLst/>
              <a:defRPr/>
            </a:pP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CFF66">
                    <a:lumMod val="20000"/>
                    <a:lumOff val="8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First Level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533400" y="1752600"/>
            <a:ext cx="8077200" cy="4708981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lang="en-US" sz="2000" smtClean="0">
                <a:solidFill>
                  <a:srgbClr val="8CF4F2"/>
                </a:solidFill>
                <a:latin typeface="Consolas" pitchFamily="49" charset="0"/>
                <a:cs typeface="Consolas" pitchFamily="49" charset="0"/>
              </a:defRPr>
            </a:lvl1pPr>
          </a:lstStyle>
          <a:p>
            <a:pPr lvl="0"/>
            <a:r>
              <a:rPr lang="en-US" noProof="1" smtClean="0"/>
              <a:t>Enter source code here</a:t>
            </a:r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8610600" y="6553200"/>
            <a:ext cx="457200" cy="228600"/>
          </a:xfrm>
          <a:prstGeom prst="rect">
            <a:avLst/>
          </a:prstGeom>
        </p:spPr>
        <p:txBody>
          <a:bodyPr anchor="ctr" anchorCtr="0"/>
          <a:lstStyle>
            <a:lvl1pPr algn="r">
              <a:defRPr sz="1100"/>
            </a:lvl1pPr>
          </a:lstStyle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16855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 hasCustomPrompt="1"/>
          </p:nvPr>
        </p:nvSpPr>
        <p:spPr>
          <a:xfrm>
            <a:off x="609600" y="2743201"/>
            <a:ext cx="7924800" cy="685800"/>
          </a:xfrm>
          <a:prstGeom prst="rect">
            <a:avLst/>
          </a:prstGeom>
        </p:spPr>
        <p:txBody>
          <a:bodyPr tIns="0" bIns="0" anchor="ctr" anchorCtr="0"/>
          <a:lstStyle>
            <a:lvl1pPr algn="ctr">
              <a:lnSpc>
                <a:spcPts val="5600"/>
              </a:lnSpc>
              <a:defRPr sz="5000" cap="none" baseline="0">
                <a:effectLst>
                  <a:outerShdw blurRad="30000" dist="30000" dir="2700000" algn="tl" rotWithShape="0">
                    <a:schemeClr val="bg2">
                      <a:shade val="45000"/>
                      <a:satMod val="150000"/>
                      <a:alpha val="90000"/>
                    </a:schemeClr>
                  </a:outerShdw>
                  <a:reflection blurRad="12000" stA="20000" endPos="50000" dist="12700" dir="5400000" sy="-100000" algn="bl" rotWithShape="0"/>
                </a:effectLst>
              </a:defRPr>
            </a:lvl1pPr>
          </a:lstStyle>
          <a:p>
            <a:r>
              <a:rPr lang="en-US" dirty="0" smtClean="0"/>
              <a:t>Section Title</a:t>
            </a:r>
            <a:endParaRPr lang="en-US" dirty="0"/>
          </a:p>
        </p:txBody>
      </p:sp>
      <p:sp>
        <p:nvSpPr>
          <p:cNvPr id="17" name="Subtitle 16"/>
          <p:cNvSpPr>
            <a:spLocks noGrp="1"/>
          </p:cNvSpPr>
          <p:nvPr>
            <p:ph type="subTitle" idx="1" hasCustomPrompt="1"/>
          </p:nvPr>
        </p:nvSpPr>
        <p:spPr>
          <a:xfrm>
            <a:off x="609600" y="3469480"/>
            <a:ext cx="7924800" cy="56912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  <a:defRPr lang="en-US" sz="2800" b="1" kern="1200" baseline="0" dirty="0">
                <a:solidFill>
                  <a:srgbClr val="FAF7C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dirty="0" smtClean="0"/>
              <a:t>Section Subtitle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/>
          <p:cNvGrpSpPr/>
          <p:nvPr userDrawn="1"/>
        </p:nvGrpSpPr>
        <p:grpSpPr>
          <a:xfrm>
            <a:off x="130434" y="6373882"/>
            <a:ext cx="1816798" cy="331718"/>
            <a:chOff x="1236228" y="1523999"/>
            <a:chExt cx="4351212" cy="3261410"/>
          </a:xfrm>
          <a:noFill/>
        </p:grpSpPr>
        <p:sp>
          <p:nvSpPr>
            <p:cNvPr id="31" name="TextBox 30">
              <a:hlinkClick r:id="rId2" tooltip="Форум за програмиране и уеб дизайн - дискусии, съвети, въпроси и отговори @ Софтуерна академия на Телерик"/>
            </p:cNvPr>
            <p:cNvSpPr txBox="1"/>
            <p:nvPr userDrawn="1"/>
          </p:nvSpPr>
          <p:spPr>
            <a:xfrm flipH="1">
              <a:off x="3394420" y="1733044"/>
              <a:ext cx="1528760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форум програмиране, форум уеб дизайн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32" name="TextBox 31">
              <a:hlinkClick r:id="rId3" tooltip="Курсове и уроци по програмиране, уеб дизайн, разработка на софтуер и информационни технологии - лекции, видео уроци, обучения - безплатно"/>
            </p:cNvPr>
            <p:cNvSpPr txBox="1"/>
            <p:nvPr userDrawn="1"/>
          </p:nvSpPr>
          <p:spPr>
            <a:xfrm flipH="1">
              <a:off x="1350512" y="1528531"/>
              <a:ext cx="2008656" cy="1149887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курсове и уроци по програмиране, уеб дизайн – безплатно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33" name="TextBox 32">
              <a:hlinkClick r:id="rId4" tooltip="Програмиране за деца - безплатно в Телерик кидс академия"/>
            </p:cNvPr>
            <p:cNvSpPr txBox="1"/>
            <p:nvPr userDrawn="1"/>
          </p:nvSpPr>
          <p:spPr>
            <a:xfrm flipH="1">
              <a:off x="1538277" y="2175145"/>
              <a:ext cx="1816697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програмиране за деца – безплатни курсове и уроци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34" name="TextBox 33">
              <a:hlinkClick r:id="rId5" tooltip="Безплатен SEO курс - оптимизация за търсачки, уроци по SEO"/>
            </p:cNvPr>
            <p:cNvSpPr txBox="1"/>
            <p:nvPr userDrawn="1"/>
          </p:nvSpPr>
          <p:spPr>
            <a:xfrm flipH="1">
              <a:off x="1660733" y="2421354"/>
              <a:ext cx="1697683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 algn="l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безплатен SEO курс - оптимизация за търсачки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35" name="TextBox 34">
              <a:hlinkClick r:id="rId6" tooltip="Безплатен курс &quot;Уеб дизайн с HTML, CSS и JavaScript&quot; - уроци по правене на уеб сайтове, HTML, CSS, Photoshop, JavaScript и CMS системи"/>
            </p:cNvPr>
            <p:cNvSpPr txBox="1"/>
            <p:nvPr userDrawn="1"/>
          </p:nvSpPr>
          <p:spPr>
            <a:xfrm flipH="1">
              <a:off x="1448482" y="2878556"/>
              <a:ext cx="1908837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уроци по уеб дизайн, HTML, CSS, JavaScript, Photoshop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36" name="TextBox 35">
              <a:hlinkClick r:id="rId7" tooltip="Училищна софтуерна академия - безплатни уроци по програмиране и уеб дизайн"/>
            </p:cNvPr>
            <p:cNvSpPr txBox="1"/>
            <p:nvPr userDrawn="1"/>
          </p:nvSpPr>
          <p:spPr>
            <a:xfrm flipH="1">
              <a:off x="1636239" y="1946534"/>
              <a:ext cx="1747592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l"/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уроци по програмиране и уеб дизайн за ученици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37" name="TextBox 36">
              <a:hlinkClick r:id="rId8" tooltip="Безплатен курс &quot;Програмиране с ASP.NET MVC&quot; - уеб технологии, бази данни, C#, .NET, ASP.NET MVC"/>
            </p:cNvPr>
            <p:cNvSpPr txBox="1"/>
            <p:nvPr userDrawn="1"/>
          </p:nvSpPr>
          <p:spPr>
            <a:xfrm flipH="1">
              <a:off x="3402824" y="2230065"/>
              <a:ext cx="1939551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ASP.NET MVC курс – HTML, SQL, C#, .NET, ASP.NET MVC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38" name="TextBox 37">
              <a:hlinkClick r:id="rId9" tooltip="Безплатен курс &quot;Разработка на софтуер в Cloud среда&quot; - AppEngine, AWS, Azure"/>
            </p:cNvPr>
            <p:cNvSpPr txBox="1"/>
            <p:nvPr userDrawn="1"/>
          </p:nvSpPr>
          <p:spPr>
            <a:xfrm flipH="1">
              <a:off x="1440310" y="3574997"/>
              <a:ext cx="1881966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безплатен курс "Разработка на софтуер в cloud среда"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39" name="TextBox 38">
              <a:hlinkClick r:id="rId10" tooltip="BG Coder - онлайн състезателна система - тренировки за състезания по програмиране - online judge"/>
            </p:cNvPr>
            <p:cNvSpPr txBox="1"/>
            <p:nvPr userDrawn="1"/>
          </p:nvSpPr>
          <p:spPr>
            <a:xfrm flipH="1">
              <a:off x="3389110" y="1523999"/>
              <a:ext cx="1874287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BG Coder - онлайн състезателна система - online judge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40" name="TextBox 39">
              <a:hlinkClick r:id="rId11" tooltip="Светлин Наков - курсове и уроци по програмиране, уеб дизайн, книги, обучения - безплатно"/>
            </p:cNvPr>
            <p:cNvSpPr txBox="1"/>
            <p:nvPr userDrawn="1"/>
          </p:nvSpPr>
          <p:spPr>
            <a:xfrm flipH="1">
              <a:off x="1236228" y="2649965"/>
              <a:ext cx="2123831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курсове и уроци по програмиране, книги – безплатно от Наков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41" name="TextBox 40">
              <a:hlinkClick r:id="rId12" tooltip="Безплатен курс &quot;Качествен програмен код&quot;"/>
            </p:cNvPr>
            <p:cNvSpPr txBox="1"/>
            <p:nvPr userDrawn="1"/>
          </p:nvSpPr>
          <p:spPr>
            <a:xfrm flipH="1">
              <a:off x="1766855" y="3335748"/>
              <a:ext cx="1594026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безплатен курс "Качествен програмен код"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42" name="TextBox 41">
              <a:hlinkClick r:id="rId13" tooltip="Алго академия - Академия по алгоритмично програмиране - безплатни уроци по алгоритми и структури от данни, състезателно програмиране и състезания"/>
            </p:cNvPr>
            <p:cNvSpPr txBox="1"/>
            <p:nvPr userDrawn="1"/>
          </p:nvSpPr>
          <p:spPr>
            <a:xfrm flipH="1">
              <a:off x="3407676" y="2461282"/>
              <a:ext cx="1977943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алго академия – състезателно програмиране, състезания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43" name="TextBox 42">
              <a:hlinkClick r:id="rId14" tooltip="Безплатен ASP.NET курс - уеб програмиране, бази данни, C#, .NET, ASP.NET"/>
            </p:cNvPr>
            <p:cNvSpPr txBox="1"/>
            <p:nvPr userDrawn="1"/>
          </p:nvSpPr>
          <p:spPr>
            <a:xfrm flipH="1">
              <a:off x="3406019" y="1985429"/>
              <a:ext cx="2181421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ASP.NET курс - уеб програмиране, бази данни, C#, .NET, ASP.NET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44" name="TextBox 43">
              <a:hlinkClick r:id="rId15" tooltip="Софтуерна академия на Телерик - безплатни курсове и уроци по програмиране"/>
            </p:cNvPr>
            <p:cNvSpPr txBox="1"/>
            <p:nvPr userDrawn="1"/>
          </p:nvSpPr>
          <p:spPr>
            <a:xfrm flipH="1">
              <a:off x="1504800" y="1717933"/>
              <a:ext cx="1901159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200"/>
              </a:lvl1pPr>
            </a:lstStyle>
            <a:p>
              <a:pPr lvl="0" algn="l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курсове и уроци по </a:t>
              </a:r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програмиране – Телерик академия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45" name="TextBox 44">
              <a:hlinkClick r:id="rId16" tooltip="Безплатен курс &quot;Разработка на мобилни приложения&quot; - iPhone, Android, Windows Phone, PhoneGap, HTML5, jQuery, AJAX"/>
            </p:cNvPr>
            <p:cNvSpPr txBox="1"/>
            <p:nvPr userDrawn="1"/>
          </p:nvSpPr>
          <p:spPr>
            <a:xfrm flipH="1">
              <a:off x="3404043" y="2718405"/>
              <a:ext cx="2058568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курс мобилни приложения с iPhone, Android, WP7, PhoneGap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46" name="TextBox 45">
              <a:hlinkClick r:id="rId17" tooltip="Free C# Programming Book by Svetlin Nakov - безплатна C# книга от Светлин Наков, книга C#, книга Java, безплатна книга"/>
            </p:cNvPr>
            <p:cNvSpPr txBox="1"/>
            <p:nvPr userDrawn="1"/>
          </p:nvSpPr>
          <p:spPr>
            <a:xfrm flipH="1">
              <a:off x="1440317" y="3117785"/>
              <a:ext cx="1901159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free C# book, безплатна книга C#, книга Java, книга C#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47" name="TextBox 46">
              <a:hlinkClick r:id="rId18" tooltip="Дончо Минков - сайт за програмиране"/>
            </p:cNvPr>
            <p:cNvSpPr txBox="1"/>
            <p:nvPr userDrawn="1"/>
          </p:nvSpPr>
          <p:spPr>
            <a:xfrm flipH="1">
              <a:off x="3401370" y="2963513"/>
              <a:ext cx="1475012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600">
                  <a:ln w="0">
                    <a:solidFill>
                      <a:schemeClr val="tx1"/>
                    </a:solidFill>
                  </a:ln>
                  <a:effectLst/>
                </a:defRPr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</a:rPr>
                <a:t>Дончо Минков - сайт за програмиране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</a:endParaRPr>
            </a:p>
          </p:txBody>
        </p:sp>
        <p:sp>
          <p:nvSpPr>
            <p:cNvPr id="48" name="TextBox 47">
              <a:hlinkClick r:id="rId19" tooltip="Николай Костов - блог за програмиране"/>
            </p:cNvPr>
            <p:cNvSpPr txBox="1"/>
            <p:nvPr userDrawn="1"/>
          </p:nvSpPr>
          <p:spPr>
            <a:xfrm flipH="1">
              <a:off x="3401423" y="3217864"/>
              <a:ext cx="1513403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l"/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Николай Костов - блог за програмиране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49" name="TextBox 48">
              <a:hlinkClick r:id="rId20" tooltip="безплатен C# курс в софтуерната академия на Наков"/>
            </p:cNvPr>
            <p:cNvSpPr txBox="1"/>
            <p:nvPr userDrawn="1"/>
          </p:nvSpPr>
          <p:spPr>
            <a:xfrm flipH="1">
              <a:off x="3398079" y="3548402"/>
              <a:ext cx="1359837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600">
                  <a:ln w="0">
                    <a:solidFill>
                      <a:schemeClr val="tx1"/>
                    </a:solidFill>
                  </a:ln>
                  <a:effectLst/>
                </a:defRPr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</a:rPr>
                <a:t>C# курс, програмиране, безплатно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</a:endParaRPr>
            </a:p>
          </p:txBody>
        </p:sp>
      </p:grp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1828800" y="152400"/>
            <a:ext cx="7086600" cy="8382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r" rtl="0" eaLnBrk="0" fontAlgn="base" hangingPunct="0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lang="en-US" sz="4000" b="1" kern="1200" baseline="0" dirty="0">
                <a:ln w="500"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12700" stA="20000" endPos="50000" dist="127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Presentation Title</a:t>
            </a:r>
            <a:endParaRPr lang="en-US" dirty="0"/>
          </a:p>
        </p:txBody>
      </p:sp>
      <p:sp>
        <p:nvSpPr>
          <p:cNvPr id="9" name="TextBox 8">
            <a:hlinkClick r:id="rId2" tooltip="Форум за програмиране и уеб дизайн - дискусии, съвети, въпроси и отговори @ Софтуерна академия на Телерик"/>
          </p:cNvPr>
          <p:cNvSpPr txBox="1"/>
          <p:nvPr userDrawn="1"/>
        </p:nvSpPr>
        <p:spPr>
          <a:xfrm rot="12041701" flipH="1">
            <a:off x="7471619" y="3840481"/>
            <a:ext cx="890352" cy="15696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9600" b="1" dirty="0" smtClean="0">
                <a:solidFill>
                  <a:schemeClr val="tx1">
                    <a:lumMod val="75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9600" b="1" dirty="0">
              <a:solidFill>
                <a:schemeClr val="tx1">
                  <a:lumMod val="75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1" name="TextBox 10">
            <a:hlinkClick r:id="rId4" tooltip="Програмиране за деца - безплатно в Телерик кидс академия"/>
          </p:cNvPr>
          <p:cNvSpPr txBox="1"/>
          <p:nvPr userDrawn="1"/>
        </p:nvSpPr>
        <p:spPr>
          <a:xfrm rot="9535351" flipH="1">
            <a:off x="923386" y="1861198"/>
            <a:ext cx="673363" cy="144655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isometricOffAxis1Righ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8800" dirty="0" smtClean="0">
                <a:solidFill>
                  <a:schemeClr val="accent5">
                    <a:lumMod val="60000"/>
                    <a:lumOff val="4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8800" dirty="0">
              <a:solidFill>
                <a:schemeClr val="accent5">
                  <a:lumMod val="60000"/>
                  <a:lumOff val="4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2" name="TextBox 11">
            <a:hlinkClick r:id="rId5" tooltip="Безплатен SEO курс - оптимизация за търсачки, уроци по SEO"/>
          </p:cNvPr>
          <p:cNvSpPr txBox="1"/>
          <p:nvPr userDrawn="1"/>
        </p:nvSpPr>
        <p:spPr>
          <a:xfrm rot="16938170" flipH="1">
            <a:off x="4905823" y="966542"/>
            <a:ext cx="859648" cy="19928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11500" b="1" dirty="0" smtClean="0">
                <a:solidFill>
                  <a:srgbClr val="FF831D"/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11500" b="1" dirty="0">
              <a:solidFill>
                <a:srgbClr val="FF831D"/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3" name="TextBox 12">
            <a:hlinkClick r:id="rId6" tooltip="Безплатен курс &quot;Уеб дизайн с HTML, CSS и JavaScript&quot; - уроци по правене на уеб сайтове, HTML, CSS, Photoshop, JavaScript и CMS системи"/>
          </p:cNvPr>
          <p:cNvSpPr txBox="1"/>
          <p:nvPr userDrawn="1"/>
        </p:nvSpPr>
        <p:spPr>
          <a:xfrm rot="19836951" flipH="1">
            <a:off x="7379010" y="1495154"/>
            <a:ext cx="949687" cy="206210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en-US" sz="128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innerShdw blurRad="63500" dist="50800" dir="8100000">
                    <a:prstClr val="black">
                      <a:alpha val="50000"/>
                    </a:prstClr>
                  </a:innerShdw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12800" b="1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innerShdw blurRad="63500" dist="50800" dir="8100000">
                  <a:prstClr val="black">
                    <a:alpha val="50000"/>
                  </a:prstClr>
                </a:innerShdw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4" name="TextBox 13">
            <a:hlinkClick r:id="rId7" tooltip="Училищна софтуерна академия - безплатни уроци по програмиране и уеб дизайн"/>
          </p:cNvPr>
          <p:cNvSpPr txBox="1"/>
          <p:nvPr userDrawn="1"/>
        </p:nvSpPr>
        <p:spPr>
          <a:xfrm rot="2233443" flipH="1">
            <a:off x="2139218" y="940065"/>
            <a:ext cx="445351" cy="95410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perspectiveHeroicExtremeLeftFacing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5600" dirty="0" smtClean="0">
                <a:solidFill>
                  <a:schemeClr val="tx2">
                    <a:lumMod val="75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5600" dirty="0">
              <a:solidFill>
                <a:schemeClr val="tx2">
                  <a:lumMod val="75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5" name="TextBox 14">
            <a:hlinkClick r:id="rId8" tooltip="Безплатен курс &quot;Програмиране с ASP.NET MVC&quot; - уеб технологии, бази данни, C#, .NET, ASP.NET MVC"/>
          </p:cNvPr>
          <p:cNvSpPr txBox="1"/>
          <p:nvPr userDrawn="1"/>
        </p:nvSpPr>
        <p:spPr>
          <a:xfrm rot="8530737" flipH="1">
            <a:off x="4757100" y="4722613"/>
            <a:ext cx="643173" cy="15696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9600" dirty="0" smtClean="0">
                <a:solidFill>
                  <a:srgbClr val="FF4A37"/>
                </a:solidFill>
                <a:effectLst>
                  <a:reflection blurRad="6350" stA="60000" endA="900" endPos="60000" dist="29997" dir="5400000" sy="-100000" algn="bl" rotWithShape="0"/>
                </a:effectLst>
              </a:rPr>
              <a:t>?</a:t>
            </a:r>
            <a:endParaRPr lang="en-US" sz="9600" dirty="0">
              <a:solidFill>
                <a:srgbClr val="FF4A37"/>
              </a:solidFill>
              <a:effectLst>
                <a:reflection blurRad="6350" stA="60000" endA="900" endPos="60000" dist="29997" dir="5400000" sy="-100000" algn="bl" rotWithShape="0"/>
              </a:effectLst>
            </a:endParaRPr>
          </a:p>
        </p:txBody>
      </p:sp>
      <p:sp>
        <p:nvSpPr>
          <p:cNvPr id="16" name="TextBox 15">
            <a:hlinkClick r:id="rId9" tooltip="Безплатен курс &quot;Разработка на софтуер в Cloud среда&quot; - AppEngine, AWS, Azure"/>
          </p:cNvPr>
          <p:cNvSpPr txBox="1"/>
          <p:nvPr userDrawn="1"/>
        </p:nvSpPr>
        <p:spPr>
          <a:xfrm rot="12627025" flipH="1">
            <a:off x="2910497" y="4405707"/>
            <a:ext cx="386488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3600" dirty="0" smtClean="0">
                <a:solidFill>
                  <a:schemeClr val="tx2">
                    <a:lumMod val="40000"/>
                    <a:lumOff val="6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3600" dirty="0">
              <a:solidFill>
                <a:schemeClr val="tx2">
                  <a:lumMod val="40000"/>
                  <a:lumOff val="6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7" name="TextBox 16">
            <a:hlinkClick r:id="rId10" tooltip="BG Coder - онлайн състезателна система - тренировки за състезания по програмиране - online judge"/>
          </p:cNvPr>
          <p:cNvSpPr txBox="1"/>
          <p:nvPr userDrawn="1"/>
        </p:nvSpPr>
        <p:spPr>
          <a:xfrm rot="1186146" flipH="1">
            <a:off x="6185957" y="4125718"/>
            <a:ext cx="499379" cy="110799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</a:sp3d>
          </a:bodyPr>
          <a:lstStyle/>
          <a:p>
            <a:r>
              <a:rPr lang="en-US" sz="6600" dirty="0" smtClean="0">
                <a:solidFill>
                  <a:srgbClr val="9966FF"/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6600" dirty="0">
              <a:solidFill>
                <a:srgbClr val="9966FF"/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8" name="TextBox 17">
            <a:hlinkClick r:id="rId11" tooltip="Светлин Наков - курсове и уроци по програмиране, уеб дизайн, книги, обучения - безплатно"/>
          </p:cNvPr>
          <p:cNvSpPr txBox="1"/>
          <p:nvPr userDrawn="1"/>
        </p:nvSpPr>
        <p:spPr>
          <a:xfrm rot="19460650" flipH="1">
            <a:off x="3150206" y="1979501"/>
            <a:ext cx="489197" cy="769441"/>
          </a:xfrm>
          <a:prstGeom prst="rect">
            <a:avLst/>
          </a:prstGeom>
          <a:noFill/>
        </p:spPr>
        <p:txBody>
          <a:bodyPr wrap="square" rtlCol="0">
            <a:prstTxWarp prst="textInflate">
              <a:avLst/>
            </a:prstTxWarp>
            <a:spAutoFit/>
            <a:scene3d>
              <a:camera prst="perspectiveRelaxedModerately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4400" dirty="0" smtClean="0">
                <a:solidFill>
                  <a:srgbClr val="FF6699"/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4400" dirty="0">
              <a:solidFill>
                <a:srgbClr val="FF6699"/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9" name="TextBox 18">
            <a:hlinkClick r:id="rId12" tooltip="Безплатен курс &quot;Качествен програмен код&quot;"/>
          </p:cNvPr>
          <p:cNvSpPr txBox="1"/>
          <p:nvPr userDrawn="1"/>
        </p:nvSpPr>
        <p:spPr>
          <a:xfrm rot="18277140" flipH="1">
            <a:off x="405234" y="3272336"/>
            <a:ext cx="413607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3600" dirty="0" smtClean="0">
                <a:solidFill>
                  <a:schemeClr val="tx2">
                    <a:lumMod val="40000"/>
                    <a:lumOff val="6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3600" dirty="0">
              <a:solidFill>
                <a:schemeClr val="tx2">
                  <a:lumMod val="40000"/>
                  <a:lumOff val="6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20" name="TextBox 19">
            <a:hlinkClick r:id="rId13" tooltip="Алго академия - Академия по алгоритмично програмиране - безплатни уроци по алгоритми и структури от данни, състезателно програмиране и състезания"/>
          </p:cNvPr>
          <p:cNvSpPr txBox="1"/>
          <p:nvPr userDrawn="1"/>
        </p:nvSpPr>
        <p:spPr>
          <a:xfrm rot="18695734" flipH="1">
            <a:off x="3127407" y="5396299"/>
            <a:ext cx="5481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?</a:t>
            </a:r>
            <a:endParaRPr lang="en-US" sz="6000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21" name="TextBox 20">
            <a:hlinkClick r:id="rId14" tooltip="Безплатен ASP.NET курс - уеб програмиране, бази данни, C#, .NET, ASP.NET"/>
          </p:cNvPr>
          <p:cNvSpPr txBox="1"/>
          <p:nvPr userDrawn="1"/>
        </p:nvSpPr>
        <p:spPr>
          <a:xfrm rot="10134629" flipH="1">
            <a:off x="6730680" y="5522529"/>
            <a:ext cx="444390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4000" dirty="0" smtClean="0"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4000" dirty="0">
              <a:solidFill>
                <a:schemeClr val="accent4">
                  <a:lumMod val="60000"/>
                  <a:lumOff val="4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22" name="TextBox 21">
            <a:hlinkClick r:id="rId15" tooltip="Софтуерна академия на Телерик - безплатни курсове и уроци по програмиране"/>
          </p:cNvPr>
          <p:cNvSpPr txBox="1"/>
          <p:nvPr userDrawn="1"/>
        </p:nvSpPr>
        <p:spPr>
          <a:xfrm rot="12126217" flipH="1">
            <a:off x="559977" y="930479"/>
            <a:ext cx="387894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r>
              <a:rPr lang="en-US" sz="4000" b="1" spc="150" dirty="0" smtClean="0">
                <a:ln w="1143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</a:rPr>
              <a:t>?</a:t>
            </a:r>
            <a:endParaRPr lang="en-US" sz="4000" b="1" spc="150" dirty="0">
              <a:ln w="11430"/>
              <a:solidFill>
                <a:schemeClr val="accent4">
                  <a:lumMod val="60000"/>
                  <a:lumOff val="40000"/>
                </a:schemeClr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</a:endParaRPr>
          </a:p>
        </p:txBody>
      </p:sp>
      <p:sp>
        <p:nvSpPr>
          <p:cNvPr id="23" name="TextBox 22">
            <a:hlinkClick r:id="rId16" tooltip="Безплатен курс &quot;Разработка на мобилни приложения&quot; - iPhone, Android, Windows Phone, PhoneGap, HTML5, jQuery, AJAX"/>
          </p:cNvPr>
          <p:cNvSpPr txBox="1"/>
          <p:nvPr userDrawn="1"/>
        </p:nvSpPr>
        <p:spPr>
          <a:xfrm rot="20840689" flipH="1">
            <a:off x="8186733" y="5517701"/>
            <a:ext cx="3574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>
                <a:ln w="19050">
                  <a:solidFill>
                    <a:schemeClr val="accent4">
                      <a:lumMod val="75000"/>
                      <a:alpha val="50000"/>
                    </a:schemeClr>
                  </a:solidFill>
                  <a:prstDash val="solid"/>
                  <a:miter lim="800000"/>
                </a:ln>
                <a:solidFill>
                  <a:schemeClr val="accent4">
                    <a:lumMod val="20000"/>
                    <a:lumOff val="80000"/>
                    <a:alpha val="25000"/>
                  </a:schemeClr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?</a:t>
            </a:r>
            <a:endParaRPr lang="en-US" sz="4000" b="1" dirty="0">
              <a:ln w="19050">
                <a:solidFill>
                  <a:schemeClr val="accent4">
                    <a:lumMod val="75000"/>
                    <a:alpha val="50000"/>
                  </a:schemeClr>
                </a:solidFill>
                <a:prstDash val="solid"/>
                <a:miter lim="800000"/>
              </a:ln>
              <a:solidFill>
                <a:schemeClr val="accent4">
                  <a:lumMod val="20000"/>
                  <a:lumOff val="80000"/>
                  <a:alpha val="25000"/>
                </a:schemeClr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24" name="TextBox 23">
            <a:hlinkClick r:id="rId17" tooltip="Free C# Programming Book by Svetlin Nakov - безплатна C# книга от Светлин Наков, книга C#, книга Java, безплатна книга"/>
          </p:cNvPr>
          <p:cNvSpPr txBox="1"/>
          <p:nvPr userDrawn="1"/>
        </p:nvSpPr>
        <p:spPr>
          <a:xfrm rot="15426793" flipH="1">
            <a:off x="1145826" y="4072253"/>
            <a:ext cx="369652" cy="76944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4400" dirty="0" smtClean="0">
                <a:ln>
                  <a:solidFill>
                    <a:schemeClr val="accent2">
                      <a:lumMod val="40000"/>
                      <a:lumOff val="60000"/>
                    </a:schemeClr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4400" dirty="0"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25" name="TextBox 24">
            <a:hlinkClick r:id="rId18" tooltip="Дончо Минков - сайт за програмиране"/>
          </p:cNvPr>
          <p:cNvSpPr txBox="1"/>
          <p:nvPr userDrawn="1"/>
        </p:nvSpPr>
        <p:spPr>
          <a:xfrm rot="11071760" flipH="1">
            <a:off x="6518175" y="1140358"/>
            <a:ext cx="345408" cy="5232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2800" dirty="0" smtClean="0">
                <a:ln>
                  <a:solidFill>
                    <a:schemeClr val="tx1">
                      <a:lumMod val="75000"/>
                    </a:schemeClr>
                  </a:solidFill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2800" dirty="0">
              <a:ln>
                <a:solidFill>
                  <a:schemeClr val="tx1">
                    <a:lumMod val="75000"/>
                  </a:schemeClr>
                </a:solidFill>
              </a:ln>
              <a:solidFill>
                <a:schemeClr val="accent4">
                  <a:lumMod val="60000"/>
                  <a:lumOff val="4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26" name="TextBox 25">
            <a:hlinkClick r:id="rId19" tooltip="Николай Костов - блог за програмиране"/>
          </p:cNvPr>
          <p:cNvSpPr txBox="1"/>
          <p:nvPr userDrawn="1"/>
        </p:nvSpPr>
        <p:spPr>
          <a:xfrm rot="300526" flipH="1">
            <a:off x="3902297" y="1278821"/>
            <a:ext cx="345408" cy="5232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2800" b="1" dirty="0" smtClean="0">
                <a:ln w="31550" cmpd="sng">
                  <a:solidFill>
                    <a:schemeClr val="tx2">
                      <a:lumMod val="20000"/>
                      <a:lumOff val="80000"/>
                    </a:schemeClr>
                  </a:solidFill>
                  <a:prstDash val="solid"/>
                </a:ln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50800" dist="40000" dir="5400000" algn="tl" rotWithShape="0">
                    <a:srgbClr val="000000">
                      <a:shade val="5000"/>
                      <a:satMod val="120000"/>
                      <a:alpha val="33000"/>
                    </a:srgbClr>
                  </a:outerShdw>
                </a:effectLst>
              </a:rPr>
              <a:t>?</a:t>
            </a:r>
            <a:endParaRPr lang="en-US" sz="2800" dirty="0">
              <a:ln w="31550" cmpd="sng">
                <a:solidFill>
                  <a:schemeClr val="tx2">
                    <a:lumMod val="20000"/>
                    <a:lumOff val="80000"/>
                  </a:schemeClr>
                </a:solidFill>
                <a:prstDash val="solid"/>
              </a:ln>
              <a:solidFill>
                <a:schemeClr val="tx1">
                  <a:lumMod val="20000"/>
                  <a:lumOff val="8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27" name="TextBox 26">
            <a:hlinkClick r:id="rId20" tooltip="C# курс - програмиране, уроци, видео, лекции от Наков"/>
          </p:cNvPr>
          <p:cNvSpPr txBox="1"/>
          <p:nvPr userDrawn="1"/>
        </p:nvSpPr>
        <p:spPr>
          <a:xfrm rot="2086872" flipH="1">
            <a:off x="8330354" y="1359227"/>
            <a:ext cx="444390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3200" dirty="0" smtClean="0">
                <a:ln>
                  <a:solidFill>
                    <a:schemeClr val="accent1">
                      <a:lumMod val="40000"/>
                      <a:lumOff val="60000"/>
                    </a:schemeClr>
                  </a:solidFill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3200" dirty="0"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  <a:solidFill>
                <a:schemeClr val="accent4">
                  <a:lumMod val="60000"/>
                  <a:lumOff val="4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28" name="Rectangle 27"/>
          <p:cNvSpPr/>
          <p:nvPr userDrawn="1"/>
        </p:nvSpPr>
        <p:spPr>
          <a:xfrm>
            <a:off x="1828800" y="2903716"/>
            <a:ext cx="5486400" cy="1261884"/>
          </a:xfrm>
          <a:prstGeom prst="rect">
            <a:avLst/>
          </a:prstGeom>
        </p:spPr>
        <p:txBody>
          <a:bodyPr wrap="none" lIns="0" tIns="0" rIns="0" bIns="0" anchor="ctr" anchorCtr="0">
            <a:no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marL="0" lvl="0" indent="0" algn="ctr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</a:pPr>
            <a:r>
              <a:rPr lang="en-US" sz="7600" b="1" spc="150" noProof="0" dirty="0" smtClean="0">
                <a:ln w="11430"/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rPr>
              <a:t>Questions?</a:t>
            </a:r>
            <a:endParaRPr lang="en-US" sz="7600" b="1" spc="150" dirty="0">
              <a:ln w="11430"/>
              <a:solidFill>
                <a:schemeClr val="tx1">
                  <a:lumMod val="40000"/>
                  <a:lumOff val="60000"/>
                </a:schemeClr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+mn-lt"/>
            </a:endParaRPr>
          </a:p>
        </p:txBody>
      </p:sp>
      <p:sp>
        <p:nvSpPr>
          <p:cNvPr id="29" name="Text Placeholder 29"/>
          <p:cNvSpPr>
            <a:spLocks noGrp="1"/>
          </p:cNvSpPr>
          <p:nvPr>
            <p:ph type="body" sz="quarter" idx="10" hasCustomPrompt="1"/>
          </p:nvPr>
        </p:nvSpPr>
        <p:spPr>
          <a:xfrm>
            <a:off x="6807131" y="6400800"/>
            <a:ext cx="2218556" cy="369332"/>
          </a:xfrm>
          <a:prstGeom prst="rect">
            <a:avLst/>
          </a:prstGeom>
        </p:spPr>
        <p:txBody>
          <a:bodyPr wrap="none">
            <a:spAutoFit/>
          </a:bodyPr>
          <a:lstStyle>
            <a:lvl1pPr marL="0" indent="0" algn="r">
              <a:buNone/>
              <a:defRPr sz="1800"/>
            </a:lvl1pPr>
          </a:lstStyle>
          <a:p>
            <a:pPr lvl="0"/>
            <a:r>
              <a:rPr lang="en-US" dirty="0" smtClean="0"/>
              <a:t>Course web site URL</a:t>
            </a:r>
            <a:endParaRPr lang="en-US" dirty="0"/>
          </a:p>
        </p:txBody>
      </p:sp>
      <p:sp>
        <p:nvSpPr>
          <p:cNvPr id="10" name="TextBox 9">
            <a:hlinkClick r:id="rId3" tooltip="Курсове и уроци по програмиране, уеб дизайн, разработка на софтуер и информационни технологии - лекции, видео уроци, обучения - безплатно"/>
          </p:cNvPr>
          <p:cNvSpPr txBox="1"/>
          <p:nvPr userDrawn="1"/>
        </p:nvSpPr>
        <p:spPr>
          <a:xfrm rot="2456848" flipH="1">
            <a:off x="968763" y="4970087"/>
            <a:ext cx="859648" cy="15696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pPr>
              <a:lnSpc>
                <a:spcPct val="80000"/>
              </a:lnSpc>
            </a:pPr>
            <a:r>
              <a:rPr lang="en-US" sz="12000" b="1" dirty="0" smtClean="0">
                <a:solidFill>
                  <a:srgbClr val="FFBF8B"/>
                </a:solidFill>
                <a:effectLst>
                  <a:reflection blurRad="6350" stA="55000" endA="300" endPos="45500" dir="5400000" sy="-100000" algn="bl" rotWithShape="0"/>
                </a:effectLst>
                <a:latin typeface="Cambria" pitchFamily="18" charset="0"/>
              </a:rPr>
              <a:t>?</a:t>
            </a:r>
            <a:endParaRPr lang="en-US" sz="12000" b="1" dirty="0">
              <a:solidFill>
                <a:srgbClr val="FFBF8B"/>
              </a:solidFill>
              <a:effectLst>
                <a:reflection blurRad="6350" stA="55000" endA="300" endPos="45500" dir="5400000" sy="-100000" algn="bl" rotWithShape="0"/>
              </a:effectLst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microsoft.com/office/2007/relationships/hdphoto" Target="../media/hdphoto1.wdp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399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3"/>
          <p:cNvPicPr>
            <a:picLocks noChangeAspect="1" noChangeArrowheads="1"/>
          </p:cNvPicPr>
          <p:nvPr userDrawn="1"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00"/>
            <a:ext cx="9144000" cy="5907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9" name="Picture 2"/>
          <p:cNvPicPr>
            <a:picLocks noChangeAspect="1" noChangeArrowheads="1"/>
          </p:cNvPicPr>
          <p:nvPr userDrawn="1"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247650"/>
            <a:ext cx="9144000" cy="4833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6" name="Picture 2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152400" y="228600"/>
            <a:ext cx="1714500" cy="428625"/>
          </a:xfrm>
          <a:prstGeom prst="rect">
            <a:avLst/>
          </a:prstGeom>
          <a:noFill/>
          <a:effectLst>
            <a:outerShdw blurRad="127000" sx="101000" sy="101000" algn="ctr" rotWithShape="0">
              <a:schemeClr val="tx1">
                <a:lumMod val="20000"/>
                <a:lumOff val="80000"/>
                <a:alpha val="75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701" r:id="rId1"/>
    <p:sldLayoutId id="2147483688" r:id="rId2"/>
    <p:sldLayoutId id="2147483704" r:id="rId3"/>
    <p:sldLayoutId id="2147483689" r:id="rId4"/>
    <p:sldLayoutId id="2147483703" r:id="rId5"/>
  </p:sldLayoutIdLst>
  <p:timing>
    <p:tnLst>
      <p:par>
        <p:cTn id="1" dur="indefinite" restart="never" nodeType="tmRoot"/>
      </p:par>
    </p:tnLst>
  </p:timing>
  <p:hf hdr="0" ftr="0" dt="0"/>
  <p:txStyles>
    <p:titleStyle>
      <a:lvl1pPr algn="r" rtl="0" eaLnBrk="0" fontAlgn="base" hangingPunct="0">
        <a:lnSpc>
          <a:spcPts val="4400"/>
        </a:lnSpc>
        <a:spcBef>
          <a:spcPct val="0"/>
        </a:spcBef>
        <a:spcAft>
          <a:spcPct val="0"/>
        </a:spcAft>
        <a:defRPr sz="4400" b="1" kern="1200" baseline="0">
          <a:ln w="500">
            <a:noFill/>
          </a:ln>
          <a:solidFill>
            <a:schemeClr val="tx2"/>
          </a:solidFill>
          <a:effectLst>
            <a:outerShdw blurRad="38100" dist="38100" dir="2700000" algn="tl">
              <a:srgbClr val="000000">
                <a:alpha val="43137"/>
              </a:srgbClr>
            </a:outerShdw>
            <a:reflection blurRad="6350" stA="55000" endA="300" endPos="45500" dir="5400000" sy="-100000" algn="bl" rotWithShape="0"/>
          </a:effectLst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5pPr>
      <a:lvl6pPr marL="457200" algn="r" rtl="0" fontAlgn="base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9pPr>
    </p:titleStyle>
    <p:bodyStyle>
      <a:lvl1pPr marL="319088" indent="-319088" algn="l" rtl="0" eaLnBrk="0" fontAlgn="base" hangingPunct="0">
        <a:spcBef>
          <a:spcPct val="20000"/>
        </a:spcBef>
        <a:spcAft>
          <a:spcPct val="0"/>
        </a:spcAft>
        <a:buClr>
          <a:schemeClr val="accent5">
            <a:lumMod val="40000"/>
            <a:lumOff val="60000"/>
          </a:schemeClr>
        </a:buClr>
        <a:buSzPct val="70000"/>
        <a:buFont typeface="Wingdings 2" pitchFamily="18" charset="2"/>
        <a:buChar char=""/>
        <a:defRPr sz="3200" b="1" kern="1200">
          <a:solidFill>
            <a:schemeClr val="tx1">
              <a:lumMod val="20000"/>
              <a:lumOff val="80000"/>
            </a:schemeClr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1pPr>
      <a:lvl2pPr marL="630238" indent="-273050" algn="l" rtl="0" eaLnBrk="0" fontAlgn="base" hangingPunct="0">
        <a:spcBef>
          <a:spcPct val="20000"/>
        </a:spcBef>
        <a:spcAft>
          <a:spcPct val="0"/>
        </a:spcAft>
        <a:buClr>
          <a:schemeClr val="accent2">
            <a:lumMod val="60000"/>
            <a:lumOff val="40000"/>
          </a:schemeClr>
        </a:buClr>
        <a:buFont typeface="Wingdings 2" pitchFamily="18" charset="2"/>
        <a:buChar char=""/>
        <a:defRPr sz="3000" b="1" kern="1200">
          <a:solidFill>
            <a:schemeClr val="tx1">
              <a:lumMod val="20000"/>
              <a:lumOff val="80000"/>
            </a:schemeClr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2pPr>
      <a:lvl3pPr marL="922338" indent="-273050" algn="l" rtl="0" eaLnBrk="0" fontAlgn="base" hangingPunct="0">
        <a:spcBef>
          <a:spcPct val="20000"/>
        </a:spcBef>
        <a:spcAft>
          <a:spcPct val="0"/>
        </a:spcAft>
        <a:buClr>
          <a:schemeClr val="tx1">
            <a:lumMod val="50000"/>
          </a:schemeClr>
        </a:buClr>
        <a:buFont typeface="Wingdings 2" pitchFamily="18" charset="2"/>
        <a:buChar char=""/>
        <a:defRPr sz="2800" b="1" kern="1200">
          <a:solidFill>
            <a:schemeClr val="tx1">
              <a:lumMod val="20000"/>
              <a:lumOff val="80000"/>
            </a:schemeClr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3pPr>
      <a:lvl4pPr marL="1187450" indent="-228600" algn="l" rtl="0" eaLnBrk="0" fontAlgn="base" hangingPunct="0">
        <a:spcBef>
          <a:spcPct val="20000"/>
        </a:spcBef>
        <a:spcAft>
          <a:spcPct val="0"/>
        </a:spcAft>
        <a:buClr>
          <a:srgbClr val="F8BD52"/>
        </a:buClr>
        <a:buFont typeface="Wingdings 2" pitchFamily="18" charset="2"/>
        <a:buChar char=""/>
        <a:defRPr sz="2600" b="1" kern="1200">
          <a:solidFill>
            <a:schemeClr val="tx1">
              <a:lumMod val="20000"/>
              <a:lumOff val="80000"/>
            </a:schemeClr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4pPr>
      <a:lvl5pPr marL="1425575" indent="-228600" algn="l" rtl="0" eaLnBrk="0" fontAlgn="base" hangingPunct="0">
        <a:spcBef>
          <a:spcPct val="20000"/>
        </a:spcBef>
        <a:spcAft>
          <a:spcPct val="0"/>
        </a:spcAft>
        <a:buClr>
          <a:srgbClr val="46A6BD"/>
        </a:buClr>
        <a:buFont typeface="Wingdings 2" pitchFamily="18" charset="2"/>
        <a:buChar char=""/>
        <a:defRPr sz="2400" b="1" kern="1200">
          <a:solidFill>
            <a:schemeClr val="tx1">
              <a:lumMod val="20000"/>
              <a:lumOff val="80000"/>
            </a:schemeClr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5pPr>
      <a:lvl6pPr marL="1673352" indent="-228600" algn="l" rtl="0" eaLnBrk="1" latinLnBrk="0" hangingPunct="1">
        <a:spcBef>
          <a:spcPct val="20000"/>
        </a:spcBef>
        <a:buClr>
          <a:schemeClr val="accent6"/>
        </a:buClr>
        <a:buFont typeface="Wingdings 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11096" indent="-228600" algn="l" rtl="0" eaLnBrk="1" latinLnBrk="0" hangingPunct="1">
        <a:spcBef>
          <a:spcPct val="20000"/>
        </a:spcBef>
        <a:buClr>
          <a:schemeClr val="tx2"/>
        </a:buClr>
        <a:buFont typeface="Wingdings 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21408" indent="-182880" algn="l" rtl="0" eaLnBrk="1" latinLnBrk="0" hangingPunct="1">
        <a:spcBef>
          <a:spcPct val="20000"/>
        </a:spcBef>
        <a:buClr>
          <a:schemeClr val="tx2"/>
        </a:buClr>
        <a:buFont typeface="Wingdings 2"/>
        <a:buChar char="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22576" indent="-182880" algn="l" rtl="0" eaLnBrk="1" latinLnBrk="0" hangingPunct="1">
        <a:spcBef>
          <a:spcPct val="20000"/>
        </a:spcBef>
        <a:buClr>
          <a:schemeClr val="tx2"/>
        </a:buClr>
        <a:buFont typeface="Wingdings 2"/>
        <a:buChar char="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://nikolay.it/" TargetMode="External"/><Relationship Id="rId3" Type="http://schemas.openxmlformats.org/officeDocument/2006/relationships/image" Target="../media/image5.jpeg"/><Relationship Id="rId7" Type="http://schemas.openxmlformats.org/officeDocument/2006/relationships/hyperlink" Target="http://academy.telerik.com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3.w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3.w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hyperlink" Target="http://javascriptmvc.com/" TargetMode="External"/><Relationship Id="rId3" Type="http://schemas.openxmlformats.org/officeDocument/2006/relationships/hyperlink" Target="http://ellislab.com/codeigniter" TargetMode="External"/><Relationship Id="rId7" Type="http://schemas.openxmlformats.org/officeDocument/2006/relationships/hyperlink" Target="http://angularjs.org/" TargetMode="External"/><Relationship Id="rId2" Type="http://schemas.openxmlformats.org/officeDocument/2006/relationships/hyperlink" Target="http://cakephp.org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rubyonrails.org/" TargetMode="External"/><Relationship Id="rId11" Type="http://schemas.openxmlformats.org/officeDocument/2006/relationships/image" Target="../media/image21.gif"/><Relationship Id="rId5" Type="http://schemas.openxmlformats.org/officeDocument/2006/relationships/hyperlink" Target="https://www.djangoproject.com/" TargetMode="External"/><Relationship Id="rId10" Type="http://schemas.openxmlformats.org/officeDocument/2006/relationships/hyperlink" Target="http://www.asp.net/mvc" TargetMode="External"/><Relationship Id="rId4" Type="http://schemas.openxmlformats.org/officeDocument/2006/relationships/hyperlink" Target="http://www.springsource.org/" TargetMode="External"/><Relationship Id="rId9" Type="http://schemas.openxmlformats.org/officeDocument/2006/relationships/hyperlink" Target="http://spinejs.com/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hyperlink" Target="http://weblogs.asp.net/scottgu/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://aspnet.uservoice.com/forums/41201-asp-net-mvc" TargetMode="External"/><Relationship Id="rId2" Type="http://schemas.openxmlformats.org/officeDocument/2006/relationships/hyperlink" Target="http://aspnetwebstack.codeplex.com/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microsoft.com/visualstudio/eng/2013-downloads" TargetMode="External"/><Relationship Id="rId2" Type="http://schemas.openxmlformats.org/officeDocument/2006/relationships/hyperlink" Target="http://www.microsoft.com/web/downloads/platform.aspx" TargetMode="Externa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hyperlink" Target="http://www.myget.org/F/aspnetwebstacknightly/" TargetMode="Externa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7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hyperlink" Target="http://localhost:port/Glimpse.axd" TargetMode="Externa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hyperlink" Target="http://schoolacademy.telerik.com/" TargetMode="External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hyperlink" Target="http://facebook.com/TelerikAcademy" TargetMode="External"/><Relationship Id="rId3" Type="http://schemas.openxmlformats.org/officeDocument/2006/relationships/hyperlink" Target="http://academy.telerik.com/" TargetMode="External"/><Relationship Id="rId7" Type="http://schemas.openxmlformats.org/officeDocument/2006/relationships/image" Target="../media/image52.png"/><Relationship Id="rId2" Type="http://schemas.openxmlformats.org/officeDocument/2006/relationships/hyperlink" Target="http://csharpfundamentals.telerik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hyperlink" Target="http://forums.academy.telerik.com/" TargetMode="External"/><Relationship Id="rId10" Type="http://schemas.openxmlformats.org/officeDocument/2006/relationships/image" Target="../media/image54.png"/><Relationship Id="rId4" Type="http://schemas.openxmlformats.org/officeDocument/2006/relationships/hyperlink" Target="http://www.facebook.com/telerikacademy" TargetMode="External"/><Relationship Id="rId9" Type="http://schemas.openxmlformats.org/officeDocument/2006/relationships/image" Target="../media/image5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362200"/>
            <a:ext cx="8229600" cy="1524000"/>
          </a:xfrm>
        </p:spPr>
        <p:txBody>
          <a:bodyPr/>
          <a:lstStyle/>
          <a:p>
            <a:r>
              <a:rPr lang="en-US" dirty="0"/>
              <a:t>Introduction </a:t>
            </a:r>
            <a:r>
              <a:rPr lang="en-US" dirty="0" smtClean="0"/>
              <a:t>to</a:t>
            </a:r>
            <a:br>
              <a:rPr lang="en-US" dirty="0" smtClean="0"/>
            </a:br>
            <a:r>
              <a:rPr lang="en-US" dirty="0" smtClean="0"/>
              <a:t>ASP.NET MVC</a:t>
            </a:r>
            <a:endParaRPr lang="en-US" dirty="0"/>
          </a:p>
        </p:txBody>
      </p:sp>
      <p:pic>
        <p:nvPicPr>
          <p:cNvPr id="9" name="Picture 2" descr="http://www.davidhayden.me/media/default/posts/ASP.NET-MVC-4-Bundling-and-Minification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797943"/>
            <a:ext cx="3951970" cy="133565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  <p:pic>
        <p:nvPicPr>
          <p:cNvPr id="10" name="Picture 4" descr="http://4.bp.blogspot.com/-e6I8CyF7AG4/UOKfFIZfoyI/AAAAAAAABNs/2L68gGJhvrg/s1600/asp.net%2Bmvc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685800"/>
            <a:ext cx="2743200" cy="3296027"/>
          </a:xfrm>
          <a:prstGeom prst="rect">
            <a:avLst/>
          </a:prstGeom>
          <a:solidFill>
            <a:srgbClr val="FFFFFF">
              <a:shade val="85000"/>
            </a:srgbClr>
          </a:solidFill>
          <a:ln w="101600" cap="sq">
            <a:solidFill>
              <a:srgbClr val="FDFDFD"/>
            </a:solidFill>
            <a:miter lim="800000"/>
          </a:ln>
          <a:effectLst>
            <a:outerShdw blurRad="57150" dist="37500" dir="7560000" sy="98000" kx="110000" ky="200000" algn="tl" rotWithShape="0">
              <a:srgbClr val="000000">
                <a:alpha val="20000"/>
              </a:srgbClr>
            </a:outerShdw>
          </a:effectLst>
          <a:scene3d>
            <a:camera prst="perspectiveRelaxed">
              <a:rot lat="18960000" lon="0" rev="0"/>
            </a:camera>
            <a:lightRig rig="twoPt" dir="t">
              <a:rot lat="0" lon="0" rev="7200000"/>
            </a:lightRig>
          </a:scene3d>
          <a:sp3d prstMaterial="matte">
            <a:bevelT w="22860" h="12700"/>
            <a:contourClr>
              <a:srgbClr val="FFFFFF"/>
            </a:contourClr>
          </a:sp3d>
          <a:extLst/>
        </p:spPr>
      </p:pic>
      <p:pic>
        <p:nvPicPr>
          <p:cNvPr id="6146" name="Picture 2" descr="http://www.awdp.org/images/marketing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6580" y="4572000"/>
            <a:ext cx="2461820" cy="198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872137" y="4572000"/>
            <a:ext cx="1816101" cy="198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19099" y="4495800"/>
            <a:ext cx="3853295" cy="533400"/>
          </a:xfrm>
        </p:spPr>
        <p:txBody>
          <a:bodyPr/>
          <a:lstStyle/>
          <a:p>
            <a:r>
              <a:rPr lang="en-US" dirty="0" smtClean="0"/>
              <a:t>Nikolay </a:t>
            </a:r>
            <a:r>
              <a:rPr lang="en-US" noProof="1" smtClean="0"/>
              <a:t>Kostov</a:t>
            </a:r>
            <a:endParaRPr lang="en-US" noProof="1"/>
          </a:p>
        </p:txBody>
      </p:sp>
      <p:sp>
        <p:nvSpPr>
          <p:cNvPr id="21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457200" y="5955268"/>
            <a:ext cx="3810000" cy="369332"/>
          </a:xfrm>
        </p:spPr>
        <p:txBody>
          <a:bodyPr/>
          <a:lstStyle/>
          <a:p>
            <a:r>
              <a:rPr lang="en-US" dirty="0" smtClean="0"/>
              <a:t>Telerik Software Academy</a:t>
            </a:r>
            <a:endParaRPr lang="en-US" dirty="0"/>
          </a:p>
        </p:txBody>
      </p:sp>
      <p:sp>
        <p:nvSpPr>
          <p:cNvPr id="22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457200" y="6214646"/>
            <a:ext cx="3810000" cy="338554"/>
          </a:xfrm>
        </p:spPr>
        <p:txBody>
          <a:bodyPr/>
          <a:lstStyle/>
          <a:p>
            <a:r>
              <a:rPr lang="en-US" dirty="0" smtClean="0">
                <a:hlinkClick r:id="rId7"/>
              </a:rPr>
              <a:t>academy.telerik.com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431800" y="4914781"/>
            <a:ext cx="3555998" cy="800219"/>
          </a:xfrm>
        </p:spPr>
        <p:txBody>
          <a:bodyPr/>
          <a:lstStyle/>
          <a:p>
            <a:pPr marL="0" indent="0"/>
            <a:r>
              <a:rPr lang="en-US" dirty="0" smtClean="0"/>
              <a:t>Team Lead, Senior</a:t>
            </a:r>
            <a:br>
              <a:rPr lang="en-US" dirty="0" smtClean="0"/>
            </a:br>
            <a:r>
              <a:rPr lang="en-US" dirty="0" smtClean="0"/>
              <a:t>Developer and Trainer</a:t>
            </a:r>
            <a:endParaRPr lang="en-US" dirty="0"/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457200" y="5650468"/>
            <a:ext cx="3810000" cy="369332"/>
          </a:xfrm>
        </p:spPr>
        <p:txBody>
          <a:bodyPr/>
          <a:lstStyle/>
          <a:p>
            <a:r>
              <a:rPr lang="en-US" sz="1800" dirty="0" smtClean="0">
                <a:hlinkClick r:id="rId8"/>
              </a:rPr>
              <a:t>http://Nikolay.IT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471799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Table of Contents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838200"/>
            <a:ext cx="8686800" cy="5791200"/>
          </a:xfrm>
        </p:spPr>
        <p:txBody>
          <a:bodyPr/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 smtClean="0"/>
              <a:t>The HTTP Protocol</a:t>
            </a:r>
            <a:endParaRPr lang="bg-BG" dirty="0" smtClean="0"/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 smtClean="0"/>
              <a:t>The MVC Pattern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dirty="0" smtClean="0"/>
              <a:t>Model, View, Controller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The MVC Pattern for </a:t>
            </a:r>
            <a:r>
              <a:rPr lang="en-US" dirty="0" smtClean="0"/>
              <a:t>Web and Examples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 smtClean="0"/>
              <a:t>ASP.NET MVC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dirty="0" smtClean="0"/>
              <a:t>Comparison with ASP.NET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dirty="0" smtClean="0"/>
              <a:t>ASP.NET MVC Advantages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Creating ASP.NET MVC </a:t>
            </a:r>
            <a:r>
              <a:rPr lang="en-US" dirty="0" smtClean="0"/>
              <a:t>Project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NuGet Package </a:t>
            </a:r>
            <a:r>
              <a:rPr lang="en-US" dirty="0" smtClean="0"/>
              <a:t>Management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 smtClean="0"/>
              <a:t>Server Information with Glimpse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pic>
        <p:nvPicPr>
          <p:cNvPr id="5" name="Picture 5" descr="C:\Users\nkostov\Desktop\Untitl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1502284">
            <a:off x="5827487" y="3070922"/>
            <a:ext cx="3225906" cy="2688255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2871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11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619250" y="1331632"/>
            <a:ext cx="5761038" cy="716524"/>
          </a:xfrm>
        </p:spPr>
        <p:txBody>
          <a:bodyPr/>
          <a:lstStyle/>
          <a:p>
            <a:r>
              <a:rPr lang="en-US" dirty="0"/>
              <a:t>The HTTP Protocol</a:t>
            </a:r>
            <a:endParaRPr lang="bg-BG" dirty="0"/>
          </a:p>
        </p:txBody>
      </p:sp>
      <p:sp>
        <p:nvSpPr>
          <p:cNvPr id="474115" name="Rectangle 3"/>
          <p:cNvSpPr>
            <a:spLocks noChangeArrowheads="1"/>
          </p:cNvSpPr>
          <p:nvPr/>
        </p:nvSpPr>
        <p:spPr bwMode="auto">
          <a:xfrm>
            <a:off x="2370138" y="2209800"/>
            <a:ext cx="4259262" cy="40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ctr" eaLnBrk="0" hangingPunct="0">
              <a:lnSpc>
                <a:spcPct val="95000"/>
              </a:lnSpc>
              <a:spcBef>
                <a:spcPct val="200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dirty="0" smtClean="0">
                <a:solidFill>
                  <a:srgbClr val="FAF7C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How HTTP Works?</a:t>
            </a:r>
            <a:endParaRPr lang="bg-BG" sz="2800" b="1" dirty="0" smtClean="0">
              <a:solidFill>
                <a:srgbClr val="FAF7C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pic>
        <p:nvPicPr>
          <p:cNvPr id="18434" name="Picture 2" descr="http://www.wolfescape.com/Humour/NonMedThumbs/BeforeWorkAfterWork.gif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86000" y="3114674"/>
            <a:ext cx="4495800" cy="3057526"/>
          </a:xfrm>
          <a:prstGeom prst="roundRect">
            <a:avLst>
              <a:gd name="adj" fmla="val 5602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" name="Picture 2" descr="http://dragonartz.files.wordpress.com/2008/10/_vector-http-preview2-by-dragonart.png?w=495&amp;h=495"/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21073461">
            <a:off x="401071" y="2290675"/>
            <a:ext cx="1675666" cy="1057450"/>
          </a:xfrm>
          <a:prstGeom prst="roundRect">
            <a:avLst>
              <a:gd name="adj" fmla="val 5234"/>
            </a:avLst>
          </a:prstGeom>
          <a:solidFill>
            <a:srgbClr val="FFFFFF">
              <a:shade val="85000"/>
            </a:srgbClr>
          </a:solidFill>
          <a:ln>
            <a:solidFill>
              <a:schemeClr val="accent5">
                <a:lumMod val="75000"/>
              </a:schemeClr>
            </a:solidFill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8436" name="Picture 4" descr="http://www.iconarchive.com/icons/rimshotdesign/milkanodised/128/HTTP-icon.pn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 rot="20947282">
            <a:off x="7284111" y="2169466"/>
            <a:ext cx="1420846" cy="1420847"/>
          </a:xfrm>
          <a:prstGeom prst="rect">
            <a:avLst/>
          </a:prstGeom>
          <a:noFill/>
          <a:effectLst>
            <a:reflection blurRad="6350" stA="52000" endA="300" endPos="35000" dir="5400000" sy="-100000" algn="bl" rotWithShape="0"/>
          </a:effectLst>
        </p:spPr>
      </p:pic>
      <p:sp>
        <p:nvSpPr>
          <p:cNvPr id="3" name="TextBox 2"/>
          <p:cNvSpPr txBox="1"/>
          <p:nvPr/>
        </p:nvSpPr>
        <p:spPr>
          <a:xfrm rot="20804666">
            <a:off x="3001357" y="4158669"/>
            <a:ext cx="2494594" cy="1015663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6000" b="1" dirty="0" smtClean="0">
                <a:solidFill>
                  <a:schemeClr val="accent5">
                    <a:lumMod val="50000"/>
                    <a:alpha val="50000"/>
                  </a:schemeClr>
                </a:solidFill>
                <a:effectLst>
                  <a:innerShdw blurRad="114300">
                    <a:prstClr val="black"/>
                  </a:innerShdw>
                </a:effectLst>
                <a:latin typeface="Arial Black" pitchFamily="34" charset="0"/>
              </a:rPr>
              <a:t>HTTP</a:t>
            </a:r>
            <a:endParaRPr lang="en-US" sz="6000" b="1" dirty="0">
              <a:solidFill>
                <a:schemeClr val="accent5">
                  <a:lumMod val="50000"/>
                  <a:alpha val="50000"/>
                </a:schemeClr>
              </a:solidFill>
              <a:effectLst>
                <a:innerShdw blurRad="114300">
                  <a:prstClr val="black"/>
                </a:innerShdw>
              </a:effectLst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34647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smtClean="0"/>
              <a:t>HTTP</a:t>
            </a:r>
            <a:endParaRPr lang="en-US" sz="3600" dirty="0"/>
          </a:p>
        </p:txBody>
      </p:sp>
      <p:sp>
        <p:nvSpPr>
          <p:cNvPr id="4730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Hyper Text Transfer Protocol (HTTP)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Client-server protocol for transferring Web </a:t>
            </a:r>
            <a:r>
              <a:rPr lang="en-US" dirty="0" smtClean="0"/>
              <a:t>resources (HTML files, images, styles, etc.)</a:t>
            </a: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Important properties of HTTP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Request-response </a:t>
            </a:r>
            <a:r>
              <a:rPr lang="en-US" dirty="0" smtClean="0"/>
              <a:t>model</a:t>
            </a:r>
            <a:endParaRPr lang="en-US" dirty="0"/>
          </a:p>
          <a:p>
            <a:pPr lvl="1">
              <a:lnSpc>
                <a:spcPct val="100000"/>
              </a:lnSpc>
            </a:pPr>
            <a:r>
              <a:rPr lang="en-US" dirty="0"/>
              <a:t>Text-based format</a:t>
            </a:r>
          </a:p>
          <a:p>
            <a:pPr lvl="1">
              <a:lnSpc>
                <a:spcPct val="100000"/>
              </a:lnSpc>
            </a:pPr>
            <a:r>
              <a:rPr lang="en-US" dirty="0" smtClean="0"/>
              <a:t>Relies </a:t>
            </a:r>
            <a:r>
              <a:rPr lang="en-US" dirty="0"/>
              <a:t>on a </a:t>
            </a:r>
            <a:r>
              <a:rPr lang="en-US" dirty="0" smtClean="0"/>
              <a:t>unique resource URLs</a:t>
            </a:r>
            <a:endParaRPr lang="en-US" dirty="0"/>
          </a:p>
          <a:p>
            <a:pPr lvl="1">
              <a:lnSpc>
                <a:spcPct val="100000"/>
              </a:lnSpc>
            </a:pPr>
            <a:r>
              <a:rPr lang="en-US" dirty="0" smtClean="0"/>
              <a:t>Provides resource metadata (e.g. encoding)</a:t>
            </a:r>
            <a:endParaRPr lang="en-US" dirty="0"/>
          </a:p>
          <a:p>
            <a:pPr lvl="1">
              <a:lnSpc>
                <a:spcPct val="100000"/>
              </a:lnSpc>
            </a:pPr>
            <a:r>
              <a:rPr lang="en-US" dirty="0" smtClean="0"/>
              <a:t>Stateless (cookies can overcome this)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0486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HTTP: Request-Response Protocol</a:t>
            </a:r>
          </a:p>
        </p:txBody>
      </p:sp>
      <p:sp>
        <p:nvSpPr>
          <p:cNvPr id="7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066800"/>
            <a:ext cx="4092575" cy="2424112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200" dirty="0"/>
              <a:t>Client program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/>
              <a:t>Running on end host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 smtClean="0"/>
              <a:t>E.g. </a:t>
            </a:r>
            <a:r>
              <a:rPr lang="en-US" sz="2800" dirty="0"/>
              <a:t>Web </a:t>
            </a:r>
            <a:r>
              <a:rPr lang="en-US" sz="2800" dirty="0" smtClean="0"/>
              <a:t>browser</a:t>
            </a:r>
          </a:p>
          <a:p>
            <a:pPr lvl="1">
              <a:lnSpc>
                <a:spcPct val="100000"/>
              </a:lnSpc>
            </a:pPr>
            <a:r>
              <a:rPr lang="en-US" sz="2800" dirty="0"/>
              <a:t>Requests a </a:t>
            </a:r>
            <a:r>
              <a:rPr lang="en-US" sz="2800" dirty="0" smtClean="0"/>
              <a:t>resource</a:t>
            </a:r>
            <a:endParaRPr lang="en-US" dirty="0"/>
          </a:p>
        </p:txBody>
      </p:sp>
      <p:sp>
        <p:nvSpPr>
          <p:cNvPr id="8" name="Rectangle 4"/>
          <p:cNvSpPr txBox="1">
            <a:spLocks noChangeArrowheads="1"/>
          </p:cNvSpPr>
          <p:nvPr/>
        </p:nvSpPr>
        <p:spPr>
          <a:xfrm>
            <a:off x="4648201" y="1066800"/>
            <a:ext cx="4191000" cy="2424112"/>
          </a:xfrm>
          <a:prstGeom prst="rect">
            <a:avLst/>
          </a:prstGeom>
        </p:spPr>
        <p:txBody>
          <a:bodyPr/>
          <a:lstStyle>
            <a:lvl1pPr marL="319088" indent="-3190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defRPr sz="3200" b="1" kern="1200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630238" indent="-2730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>
                  <a:lumMod val="60000"/>
                  <a:lumOff val="40000"/>
                </a:schemeClr>
              </a:buClr>
              <a:buFont typeface="Wingdings 2" pitchFamily="18" charset="2"/>
              <a:buChar char=""/>
              <a:defRPr sz="3000" b="1" kern="1200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22338" indent="-2730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>
                  <a:lumMod val="50000"/>
                </a:schemeClr>
              </a:buClr>
              <a:buFont typeface="Wingdings 2" pitchFamily="18" charset="2"/>
              <a:buChar char=""/>
              <a:defRPr sz="2800" b="1" kern="1200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18745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8BD52"/>
              </a:buClr>
              <a:buFont typeface="Wingdings 2" pitchFamily="18" charset="2"/>
              <a:buChar char=""/>
              <a:defRPr sz="2600" b="1" kern="1200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425575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46A6BD"/>
              </a:buClr>
              <a:buFont typeface="Wingdings 2" pitchFamily="18" charset="2"/>
              <a:buChar char=""/>
              <a:defRPr sz="2400" b="1" kern="1200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1673352" indent="-22860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11096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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21408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22576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rgbClr val="EBFFD2"/>
                </a:solidFill>
              </a:rPr>
              <a:t>Server program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2800" dirty="0">
                <a:solidFill>
                  <a:srgbClr val="EBFFD2"/>
                </a:solidFill>
              </a:rPr>
              <a:t>Running </a:t>
            </a:r>
            <a:r>
              <a:rPr lang="en-US" sz="2800" dirty="0" smtClean="0">
                <a:solidFill>
                  <a:srgbClr val="EBFFD2"/>
                </a:solidFill>
              </a:rPr>
              <a:t>at the server</a:t>
            </a:r>
            <a:endParaRPr lang="en-US" sz="2800" dirty="0">
              <a:solidFill>
                <a:srgbClr val="EBFFD2"/>
              </a:solidFill>
            </a:endParaRP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2800" dirty="0" smtClean="0">
                <a:solidFill>
                  <a:srgbClr val="EBFFD2"/>
                </a:solidFill>
              </a:rPr>
              <a:t>E.g. </a:t>
            </a:r>
            <a:r>
              <a:rPr lang="en-US" sz="2800" dirty="0">
                <a:solidFill>
                  <a:srgbClr val="EBFFD2"/>
                </a:solidFill>
              </a:rPr>
              <a:t>Web </a:t>
            </a:r>
            <a:r>
              <a:rPr lang="en-US" sz="2800" dirty="0" smtClean="0">
                <a:solidFill>
                  <a:srgbClr val="EBFFD2"/>
                </a:solidFill>
              </a:rPr>
              <a:t>server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2800" dirty="0">
                <a:solidFill>
                  <a:srgbClr val="EBFFD2"/>
                </a:solidFill>
              </a:rPr>
              <a:t>Provides </a:t>
            </a:r>
            <a:r>
              <a:rPr lang="en-US" sz="2800" dirty="0" smtClean="0">
                <a:solidFill>
                  <a:srgbClr val="EBFFD2"/>
                </a:solidFill>
              </a:rPr>
              <a:t>resources</a:t>
            </a:r>
            <a:endParaRPr lang="en-US" sz="2800" dirty="0">
              <a:solidFill>
                <a:srgbClr val="EBFFD2"/>
              </a:solidFill>
            </a:endParaRPr>
          </a:p>
        </p:txBody>
      </p:sp>
      <p:pic>
        <p:nvPicPr>
          <p:cNvPr id="9" name="Picture 5" descr="j0292020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38200" y="4059238"/>
            <a:ext cx="1868488" cy="1773237"/>
          </a:xfrm>
          <a:prstGeom prst="rect">
            <a:avLst/>
          </a:prstGeom>
          <a:noFill/>
        </p:spPr>
      </p:pic>
      <p:pic>
        <p:nvPicPr>
          <p:cNvPr id="10" name="Picture 6" descr="j0285750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6613" y="4191000"/>
            <a:ext cx="2497137" cy="1535112"/>
          </a:xfrm>
          <a:prstGeom prst="rect">
            <a:avLst/>
          </a:prstGeom>
          <a:noFill/>
        </p:spPr>
      </p:pic>
      <p:sp>
        <p:nvSpPr>
          <p:cNvPr id="11" name="Freeform 7"/>
          <p:cNvSpPr>
            <a:spLocks/>
          </p:cNvSpPr>
          <p:nvPr/>
        </p:nvSpPr>
        <p:spPr bwMode="auto">
          <a:xfrm>
            <a:off x="2789257" y="3810000"/>
            <a:ext cx="3314699" cy="774700"/>
          </a:xfrm>
          <a:custGeom>
            <a:avLst/>
            <a:gdLst/>
            <a:ahLst/>
            <a:cxnLst>
              <a:cxn ang="0">
                <a:pos x="0" y="488"/>
              </a:cxn>
              <a:cxn ang="0">
                <a:pos x="1089" y="4"/>
              </a:cxn>
              <a:cxn ang="0">
                <a:pos x="2250" y="464"/>
              </a:cxn>
            </a:cxnLst>
            <a:rect l="0" t="0" r="r" b="b"/>
            <a:pathLst>
              <a:path w="2250" h="488">
                <a:moveTo>
                  <a:pt x="0" y="488"/>
                </a:moveTo>
                <a:cubicBezTo>
                  <a:pt x="357" y="248"/>
                  <a:pt x="714" y="8"/>
                  <a:pt x="1089" y="4"/>
                </a:cubicBezTo>
                <a:cubicBezTo>
                  <a:pt x="1464" y="0"/>
                  <a:pt x="1857" y="232"/>
                  <a:pt x="2250" y="464"/>
                </a:cubicBezTo>
              </a:path>
            </a:pathLst>
          </a:custGeom>
          <a:noFill/>
          <a:ln w="381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/>
            <a:tailEnd type="arrow" w="med" len="med"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2" name="Freeform 8"/>
          <p:cNvSpPr>
            <a:spLocks/>
          </p:cNvSpPr>
          <p:nvPr/>
        </p:nvSpPr>
        <p:spPr bwMode="auto">
          <a:xfrm flipH="1" flipV="1">
            <a:off x="2789255" y="5594350"/>
            <a:ext cx="3314701" cy="774700"/>
          </a:xfrm>
          <a:custGeom>
            <a:avLst/>
            <a:gdLst/>
            <a:ahLst/>
            <a:cxnLst>
              <a:cxn ang="0">
                <a:pos x="0" y="488"/>
              </a:cxn>
              <a:cxn ang="0">
                <a:pos x="1089" y="4"/>
              </a:cxn>
              <a:cxn ang="0">
                <a:pos x="2250" y="464"/>
              </a:cxn>
            </a:cxnLst>
            <a:rect l="0" t="0" r="r" b="b"/>
            <a:pathLst>
              <a:path w="2250" h="488">
                <a:moveTo>
                  <a:pt x="0" y="488"/>
                </a:moveTo>
                <a:cubicBezTo>
                  <a:pt x="357" y="248"/>
                  <a:pt x="714" y="8"/>
                  <a:pt x="1089" y="4"/>
                </a:cubicBezTo>
                <a:cubicBezTo>
                  <a:pt x="1464" y="0"/>
                  <a:pt x="1857" y="232"/>
                  <a:pt x="2250" y="464"/>
                </a:cubicBezTo>
              </a:path>
            </a:pathLst>
          </a:custGeom>
          <a:noFill/>
          <a:ln w="381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/>
            <a:tailEnd type="arrow" w="med" len="med"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3" name="Text Box 9"/>
          <p:cNvSpPr txBox="1">
            <a:spLocks noChangeArrowheads="1"/>
          </p:cNvSpPr>
          <p:nvPr/>
        </p:nvSpPr>
        <p:spPr bwMode="auto">
          <a:xfrm>
            <a:off x="3268239" y="4168914"/>
            <a:ext cx="2300630" cy="70788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lnSpc>
                <a:spcPct val="100000"/>
              </a:lnSpc>
            </a:pPr>
            <a:r>
              <a:rPr kumimoji="0" lang="en-US" sz="2000" b="1" noProof="1">
                <a:solidFill>
                  <a:schemeClr val="accent5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GET /</a:t>
            </a:r>
            <a:r>
              <a:rPr kumimoji="0" lang="en-US" sz="2000" b="1" noProof="1" smtClean="0">
                <a:solidFill>
                  <a:schemeClr val="accent5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index.html</a:t>
            </a:r>
          </a:p>
          <a:p>
            <a:pPr algn="ctr" eaLnBrk="1" hangingPunct="1">
              <a:lnSpc>
                <a:spcPct val="100000"/>
              </a:lnSpc>
            </a:pPr>
            <a:r>
              <a:rPr lang="en-US" sz="2000" b="1" noProof="1" smtClean="0">
                <a:solidFill>
                  <a:schemeClr val="accent5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HTTP/1.0</a:t>
            </a:r>
            <a:endParaRPr kumimoji="0" lang="en-US" sz="2000" b="1" noProof="1">
              <a:solidFill>
                <a:schemeClr val="accent5">
                  <a:lumMod val="20000"/>
                  <a:lumOff val="8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4" name="Text Box 10"/>
          <p:cNvSpPr txBox="1">
            <a:spLocks noChangeArrowheads="1"/>
          </p:cNvSpPr>
          <p:nvPr/>
        </p:nvSpPr>
        <p:spPr bwMode="auto">
          <a:xfrm>
            <a:off x="3347073" y="5105400"/>
            <a:ext cx="2300630" cy="10156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lnSpc>
                <a:spcPct val="100000"/>
              </a:lnSpc>
            </a:pPr>
            <a:r>
              <a:rPr lang="en-US" sz="2000" b="1" dirty="0">
                <a:solidFill>
                  <a:schemeClr val="accent5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HTTP/1.0 200 OK</a:t>
            </a:r>
          </a:p>
          <a:p>
            <a:pPr algn="ctr" eaLnBrk="1" hangingPunct="1">
              <a:lnSpc>
                <a:spcPct val="100000"/>
              </a:lnSpc>
            </a:pPr>
            <a:r>
              <a:rPr kumimoji="0" lang="en-US" sz="2000" b="1" dirty="0" smtClean="0">
                <a:solidFill>
                  <a:schemeClr val="accent5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"</a:t>
            </a:r>
            <a:r>
              <a:rPr kumimoji="0" lang="en-US" sz="2000" b="1" dirty="0">
                <a:solidFill>
                  <a:schemeClr val="accent5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Welcome to </a:t>
            </a:r>
            <a:r>
              <a:rPr kumimoji="0" lang="en-US" sz="2000" b="1" dirty="0" smtClean="0">
                <a:solidFill>
                  <a:schemeClr val="accent5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our</a:t>
            </a:r>
            <a:endParaRPr kumimoji="0" lang="en-US" sz="2000" b="1" dirty="0">
              <a:solidFill>
                <a:schemeClr val="accent5">
                  <a:lumMod val="20000"/>
                  <a:lumOff val="8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algn="ctr" eaLnBrk="1" hangingPunct="1">
              <a:lnSpc>
                <a:spcPct val="100000"/>
              </a:lnSpc>
            </a:pPr>
            <a:r>
              <a:rPr kumimoji="0" lang="en-US" sz="2000" b="1" dirty="0">
                <a:solidFill>
                  <a:schemeClr val="accent5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Web site!"</a:t>
            </a:r>
          </a:p>
        </p:txBody>
      </p:sp>
      <p:sp>
        <p:nvSpPr>
          <p:cNvPr id="15" name="Slide Number Placeholder 3"/>
          <p:cNvSpPr txBox="1">
            <a:spLocks/>
          </p:cNvSpPr>
          <p:nvPr/>
        </p:nvSpPr>
        <p:spPr>
          <a:xfrm>
            <a:off x="8610600" y="6553200"/>
            <a:ext cx="457200" cy="228600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8452FF4-89E3-4D1B-9927-2DBDC00E58D7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EBFFC2"/>
                </a:solidFill>
                <a:effectLst/>
                <a:uLnTx/>
                <a:uFillTx/>
                <a:latin typeface="Corbel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EBFFC2"/>
              </a:solidFill>
              <a:effectLst/>
              <a:uLnTx/>
              <a:uFillTx/>
              <a:latin typeface="Corbel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0695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HTTP Request Message</a:t>
            </a:r>
          </a:p>
        </p:txBody>
      </p:sp>
      <p:sp>
        <p:nvSpPr>
          <p:cNvPr id="478211" name="Rectangle 3"/>
          <p:cNvSpPr>
            <a:spLocks noGrp="1" noChangeArrowheads="1"/>
          </p:cNvSpPr>
          <p:nvPr>
            <p:ph idx="1"/>
          </p:nvPr>
        </p:nvSpPr>
        <p:spPr>
          <a:xfrm>
            <a:off x="323850" y="1066801"/>
            <a:ext cx="8496300" cy="335279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Request message sent by a client consists of</a:t>
            </a:r>
          </a:p>
          <a:p>
            <a:pPr lvl="1">
              <a:lnSpc>
                <a:spcPct val="100000"/>
              </a:lnSpc>
            </a:pPr>
            <a:r>
              <a:rPr lang="en-US" sz="2800" dirty="0"/>
              <a:t>Request </a:t>
            </a:r>
            <a:r>
              <a:rPr lang="en-US" sz="2800" dirty="0" smtClean="0"/>
              <a:t>line – request </a:t>
            </a:r>
            <a:r>
              <a:rPr lang="en-US" sz="2800" dirty="0"/>
              <a:t>method (GET, </a:t>
            </a:r>
            <a:r>
              <a:rPr lang="en-US" sz="2800" dirty="0" smtClean="0"/>
              <a:t>POST, HEAD</a:t>
            </a:r>
            <a:r>
              <a:rPr lang="en-US" sz="2800" dirty="0"/>
              <a:t>, </a:t>
            </a:r>
            <a:r>
              <a:rPr lang="en-US" sz="2800" dirty="0" smtClean="0"/>
              <a:t>...), resource URI, </a:t>
            </a:r>
            <a:r>
              <a:rPr lang="en-US" sz="2800" dirty="0"/>
              <a:t>and protocol version</a:t>
            </a:r>
          </a:p>
          <a:p>
            <a:pPr lvl="1">
              <a:lnSpc>
                <a:spcPct val="100000"/>
              </a:lnSpc>
            </a:pPr>
            <a:r>
              <a:rPr lang="en-US" sz="2800" dirty="0"/>
              <a:t>Request </a:t>
            </a:r>
            <a:r>
              <a:rPr lang="en-US" sz="2800" dirty="0" smtClean="0"/>
              <a:t>headers – additional parameters</a:t>
            </a:r>
            <a:endParaRPr lang="en-US" sz="2800" dirty="0"/>
          </a:p>
          <a:p>
            <a:pPr lvl="1">
              <a:lnSpc>
                <a:spcPct val="100000"/>
              </a:lnSpc>
            </a:pPr>
            <a:r>
              <a:rPr lang="en-US" sz="2800" dirty="0" smtClean="0"/>
              <a:t>Body – optional data</a:t>
            </a:r>
          </a:p>
          <a:p>
            <a:pPr lvl="2">
              <a:lnSpc>
                <a:spcPct val="100000"/>
              </a:lnSpc>
            </a:pPr>
            <a:r>
              <a:rPr lang="en-US" sz="2600" dirty="0" smtClean="0"/>
              <a:t>E.g. posted form data, files, etc.</a:t>
            </a:r>
            <a:endParaRPr lang="en-US" sz="2600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sp>
        <p:nvSpPr>
          <p:cNvPr id="478212" name="Rectangle 4"/>
          <p:cNvSpPr>
            <a:spLocks noChangeArrowheads="1"/>
          </p:cNvSpPr>
          <p:nvPr/>
        </p:nvSpPr>
        <p:spPr bwMode="auto">
          <a:xfrm>
            <a:off x="873126" y="4724400"/>
            <a:ext cx="7432674" cy="1378839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95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&lt;request method&gt; &lt;resource&gt; HTTP/&lt;version&gt;</a:t>
            </a:r>
          </a:p>
          <a:p>
            <a:pPr eaLnBrk="0" hangingPunct="0">
              <a:lnSpc>
                <a:spcPct val="95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&lt;headers&gt;</a:t>
            </a:r>
          </a:p>
          <a:p>
            <a:pPr eaLnBrk="0" hangingPunct="0">
              <a:lnSpc>
                <a:spcPct val="95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&lt;empty line&gt;</a:t>
            </a:r>
          </a:p>
          <a:p>
            <a:pPr eaLnBrk="0" hangingPunct="0">
              <a:lnSpc>
                <a:spcPct val="95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&lt;body&gt;</a:t>
            </a:r>
          </a:p>
        </p:txBody>
      </p:sp>
    </p:spTree>
    <p:extLst>
      <p:ext uri="{BB962C8B-B14F-4D97-AF65-F5344CB8AC3E}">
        <p14:creationId xmlns:p14="http://schemas.microsoft.com/office/powerpoint/2010/main" val="2909641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HTTP Response Message</a:t>
            </a:r>
          </a:p>
        </p:txBody>
      </p:sp>
      <p:sp>
        <p:nvSpPr>
          <p:cNvPr id="4823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Response message sent by the server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Status line – protocol version, status code, status phrase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Response headers – provide </a:t>
            </a:r>
            <a:r>
              <a:rPr lang="en-US" dirty="0" smtClean="0"/>
              <a:t>meta </a:t>
            </a:r>
            <a:r>
              <a:rPr lang="en-US" dirty="0"/>
              <a:t>data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Body – the contents of the response (the requested resource)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sp>
        <p:nvSpPr>
          <p:cNvPr id="482308" name="Rectangle 4"/>
          <p:cNvSpPr>
            <a:spLocks noChangeArrowheads="1"/>
          </p:cNvSpPr>
          <p:nvPr/>
        </p:nvSpPr>
        <p:spPr bwMode="auto">
          <a:xfrm>
            <a:off x="796926" y="4800600"/>
            <a:ext cx="7585074" cy="144655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ru-RU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HTTP/</a:t>
            </a: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&lt;version&gt;</a:t>
            </a:r>
            <a:r>
              <a:rPr lang="ru-RU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&lt;</a:t>
            </a: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status code</a:t>
            </a:r>
            <a:r>
              <a:rPr lang="ru-RU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&gt; &lt;</a:t>
            </a: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status text</a:t>
            </a:r>
            <a:r>
              <a:rPr lang="ru-RU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&gt;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ru-RU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&lt;header</a:t>
            </a: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s</a:t>
            </a:r>
            <a:r>
              <a:rPr lang="ru-RU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&gt;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ru-RU" sz="2200" b="1" i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</a:t>
            </a:r>
            <a:r>
              <a:rPr lang="en-US" sz="2200" b="1" i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CRLF</a:t>
            </a:r>
            <a:r>
              <a:rPr lang="ru-RU" sz="2200" b="1" i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&gt;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ru-RU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</a:t>
            </a: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response body – the requested resource</a:t>
            </a:r>
            <a:r>
              <a:rPr lang="ru-RU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2318413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HTTP Response Codes</a:t>
            </a:r>
          </a:p>
        </p:txBody>
      </p:sp>
      <p:sp>
        <p:nvSpPr>
          <p:cNvPr id="4864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sz="3000" dirty="0"/>
              <a:t>HTTP response code classes</a:t>
            </a:r>
          </a:p>
          <a:p>
            <a:pPr lvl="1">
              <a:lnSpc>
                <a:spcPct val="100000"/>
              </a:lnSpc>
            </a:pPr>
            <a:r>
              <a:rPr lang="en-US" sz="2800" dirty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1xx</a:t>
            </a:r>
            <a:r>
              <a:rPr lang="en-US" sz="2800" dirty="0"/>
              <a:t>: informational (e.g., “</a:t>
            </a:r>
            <a:r>
              <a:rPr lang="en-US" sz="2600" dirty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100 Continue</a:t>
            </a:r>
            <a:r>
              <a:rPr lang="en-US" sz="2800" dirty="0"/>
              <a:t>”)</a:t>
            </a:r>
          </a:p>
          <a:p>
            <a:pPr lvl="1">
              <a:lnSpc>
                <a:spcPct val="100000"/>
              </a:lnSpc>
            </a:pPr>
            <a:r>
              <a:rPr lang="en-US" sz="2800" dirty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2xx</a:t>
            </a:r>
            <a:r>
              <a:rPr lang="en-US" sz="2800" dirty="0"/>
              <a:t>: success (e.g., “</a:t>
            </a:r>
            <a:r>
              <a:rPr lang="en-US" sz="2600" dirty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200 OK</a:t>
            </a:r>
            <a:r>
              <a:rPr lang="en-US" sz="2800" dirty="0"/>
              <a:t>”)</a:t>
            </a:r>
          </a:p>
          <a:p>
            <a:pPr lvl="1">
              <a:lnSpc>
                <a:spcPct val="100000"/>
              </a:lnSpc>
            </a:pPr>
            <a:r>
              <a:rPr lang="en-US" sz="2800" dirty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3xx</a:t>
            </a:r>
            <a:r>
              <a:rPr lang="en-US" sz="2800" dirty="0"/>
              <a:t>: redirection (e.g., “</a:t>
            </a:r>
            <a:r>
              <a:rPr lang="en-US" sz="2600" dirty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304 Not Modified</a:t>
            </a:r>
            <a:r>
              <a:rPr lang="en-US" sz="2800" dirty="0"/>
              <a:t>”, "</a:t>
            </a:r>
            <a:r>
              <a:rPr lang="en-US" sz="2600" dirty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302 Found</a:t>
            </a:r>
            <a:r>
              <a:rPr lang="en-US" sz="2800" dirty="0"/>
              <a:t>")</a:t>
            </a:r>
          </a:p>
          <a:p>
            <a:pPr lvl="1">
              <a:lnSpc>
                <a:spcPct val="100000"/>
              </a:lnSpc>
            </a:pPr>
            <a:r>
              <a:rPr lang="en-US" sz="2800" dirty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4xx</a:t>
            </a:r>
            <a:r>
              <a:rPr lang="en-US" sz="2800" dirty="0"/>
              <a:t>: client error (e.g., “</a:t>
            </a:r>
            <a:r>
              <a:rPr lang="en-US" sz="2600" dirty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404 Not Found</a:t>
            </a:r>
            <a:r>
              <a:rPr lang="en-US" sz="2800" dirty="0"/>
              <a:t>”)</a:t>
            </a:r>
          </a:p>
          <a:p>
            <a:pPr lvl="1">
              <a:lnSpc>
                <a:spcPct val="100000"/>
              </a:lnSpc>
            </a:pPr>
            <a:r>
              <a:rPr lang="en-US" sz="2800" dirty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5xx</a:t>
            </a:r>
            <a:r>
              <a:rPr lang="en-US" sz="2800" dirty="0"/>
              <a:t>: server error (e.g., “</a:t>
            </a:r>
            <a:r>
              <a:rPr lang="en-US" sz="2600" dirty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503</a:t>
            </a:r>
            <a:r>
              <a:rPr lang="en-US" sz="2600" dirty="0">
                <a:solidFill>
                  <a:schemeClr val="accent5">
                    <a:lumMod val="20000"/>
                    <a:lumOff val="80000"/>
                  </a:schemeClr>
                </a:solidFill>
                <a:cs typeface="Consolas" pitchFamily="49" charset="0"/>
              </a:rPr>
              <a:t> </a:t>
            </a:r>
            <a:r>
              <a:rPr lang="en-US" sz="2600" dirty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Service</a:t>
            </a:r>
            <a:r>
              <a:rPr lang="en-US" sz="2600" dirty="0">
                <a:solidFill>
                  <a:schemeClr val="accent5">
                    <a:lumMod val="20000"/>
                    <a:lumOff val="80000"/>
                  </a:schemeClr>
                </a:solidFill>
                <a:cs typeface="Consolas" pitchFamily="49" charset="0"/>
              </a:rPr>
              <a:t> </a:t>
            </a:r>
            <a:r>
              <a:rPr lang="en-US" sz="2600" dirty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Unavailable</a:t>
            </a:r>
            <a:r>
              <a:rPr lang="en-US" sz="2800" dirty="0"/>
              <a:t>”)</a:t>
            </a:r>
          </a:p>
          <a:p>
            <a:pPr>
              <a:lnSpc>
                <a:spcPct val="100000"/>
              </a:lnSpc>
            </a:pPr>
            <a:r>
              <a:rPr lang="en-US" sz="3000" dirty="0"/>
              <a:t>"</a:t>
            </a:r>
            <a:r>
              <a:rPr lang="bg-BG" sz="2800" dirty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302 Found</a:t>
            </a:r>
            <a:r>
              <a:rPr lang="en-US" sz="3000" dirty="0"/>
              <a:t>"</a:t>
            </a:r>
            <a:r>
              <a:rPr lang="bg-BG" sz="3000" dirty="0"/>
              <a:t> </a:t>
            </a:r>
            <a:r>
              <a:rPr lang="en-US" sz="3000" dirty="0"/>
              <a:t>is used for redirecting the Web browser to another URL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7545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HTTP Cookies</a:t>
            </a:r>
            <a:endParaRPr lang="en-US" dirty="0"/>
          </a:p>
        </p:txBody>
      </p:sp>
      <p:sp>
        <p:nvSpPr>
          <p:cNvPr id="487427" name="Rectangle 3"/>
          <p:cNvSpPr>
            <a:spLocks noGrp="1" noChangeArrowheads="1"/>
          </p:cNvSpPr>
          <p:nvPr>
            <p:ph idx="1"/>
          </p:nvPr>
        </p:nvSpPr>
        <p:spPr>
          <a:xfrm>
            <a:off x="323850" y="838200"/>
            <a:ext cx="8496300" cy="2362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0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Cookie</a:t>
            </a:r>
          </a:p>
          <a:p>
            <a:pPr lvl="1">
              <a:lnSpc>
                <a:spcPct val="100000"/>
              </a:lnSpc>
            </a:pPr>
            <a:r>
              <a:rPr lang="en-US" sz="2800" dirty="0" smtClean="0"/>
              <a:t>Cookies are small pieces of data stored </a:t>
            </a:r>
            <a:r>
              <a:rPr lang="en-US" sz="2800" dirty="0"/>
              <a:t>by </a:t>
            </a:r>
            <a:r>
              <a:rPr lang="en-US" sz="2800" dirty="0" smtClean="0"/>
              <a:t>the client </a:t>
            </a:r>
            <a:r>
              <a:rPr lang="en-US" sz="2800" dirty="0"/>
              <a:t>on behalf of </a:t>
            </a:r>
            <a:r>
              <a:rPr lang="en-US" sz="2800" dirty="0" smtClean="0"/>
              <a:t>the server</a:t>
            </a:r>
            <a:endParaRPr lang="en-US" sz="2800" dirty="0"/>
          </a:p>
          <a:p>
            <a:pPr lvl="1">
              <a:lnSpc>
                <a:spcPct val="100000"/>
              </a:lnSpc>
            </a:pPr>
            <a:r>
              <a:rPr lang="en-US" sz="2800" dirty="0"/>
              <a:t>Included in </a:t>
            </a:r>
            <a:r>
              <a:rPr lang="en-US" sz="2800" dirty="0" smtClean="0"/>
              <a:t>all future HTTP requests </a:t>
            </a:r>
            <a:r>
              <a:rPr lang="en-US" sz="2800" dirty="0"/>
              <a:t>to the server</a:t>
            </a:r>
          </a:p>
        </p:txBody>
      </p:sp>
      <p:sp>
        <p:nvSpPr>
          <p:cNvPr id="1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pic>
        <p:nvPicPr>
          <p:cNvPr id="487428" name="Picture 4" descr="j0292020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38200" y="3910013"/>
            <a:ext cx="1868488" cy="1773237"/>
          </a:xfrm>
          <a:prstGeom prst="rect">
            <a:avLst/>
          </a:prstGeom>
          <a:noFill/>
        </p:spPr>
      </p:pic>
      <p:pic>
        <p:nvPicPr>
          <p:cNvPr id="487429" name="Picture 5" descr="j0285750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37263" y="4186238"/>
            <a:ext cx="2497137" cy="1535112"/>
          </a:xfrm>
          <a:prstGeom prst="rect">
            <a:avLst/>
          </a:prstGeom>
          <a:noFill/>
        </p:spPr>
      </p:pic>
      <p:sp>
        <p:nvSpPr>
          <p:cNvPr id="487430" name="Freeform 6"/>
          <p:cNvSpPr>
            <a:spLocks/>
          </p:cNvSpPr>
          <p:nvPr/>
        </p:nvSpPr>
        <p:spPr bwMode="auto">
          <a:xfrm>
            <a:off x="2652713" y="3284538"/>
            <a:ext cx="3571875" cy="1201737"/>
          </a:xfrm>
          <a:custGeom>
            <a:avLst/>
            <a:gdLst/>
            <a:ahLst/>
            <a:cxnLst>
              <a:cxn ang="0">
                <a:pos x="0" y="488"/>
              </a:cxn>
              <a:cxn ang="0">
                <a:pos x="1089" y="4"/>
              </a:cxn>
              <a:cxn ang="0">
                <a:pos x="2250" y="464"/>
              </a:cxn>
            </a:cxnLst>
            <a:rect l="0" t="0" r="r" b="b"/>
            <a:pathLst>
              <a:path w="2250" h="488">
                <a:moveTo>
                  <a:pt x="0" y="488"/>
                </a:moveTo>
                <a:cubicBezTo>
                  <a:pt x="357" y="248"/>
                  <a:pt x="714" y="8"/>
                  <a:pt x="1089" y="4"/>
                </a:cubicBezTo>
                <a:cubicBezTo>
                  <a:pt x="1464" y="0"/>
                  <a:pt x="1857" y="232"/>
                  <a:pt x="2250" y="464"/>
                </a:cubicBezTo>
              </a:path>
            </a:pathLst>
          </a:custGeom>
          <a:noFill/>
          <a:ln w="381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/>
            <a:tailEnd type="arrow" w="med" len="med"/>
          </a:ln>
          <a:effectLst/>
        </p:spPr>
        <p:txBody>
          <a:bodyPr wrap="none" anchor="ctr"/>
          <a:lstStyle/>
          <a:p>
            <a:endParaRPr lang="en-US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87431" name="Text Box 7"/>
          <p:cNvSpPr txBox="1">
            <a:spLocks noChangeArrowheads="1"/>
          </p:cNvSpPr>
          <p:nvPr/>
        </p:nvSpPr>
        <p:spPr bwMode="auto">
          <a:xfrm>
            <a:off x="3783842" y="3394391"/>
            <a:ext cx="1273104" cy="43088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lnSpc>
                <a:spcPct val="100000"/>
              </a:lnSpc>
            </a:pPr>
            <a:r>
              <a:rPr kumimoji="0" lang="en-US" sz="2200" b="1" dirty="0">
                <a:solidFill>
                  <a:schemeClr val="accent5">
                    <a:lumMod val="20000"/>
                    <a:lumOff val="80000"/>
                  </a:schemeClr>
                </a:solidFill>
                <a:effectLst/>
                <a:latin typeface="Consolas" pitchFamily="49" charset="0"/>
                <a:cs typeface="Consolas" pitchFamily="49" charset="0"/>
              </a:rPr>
              <a:t>Request</a:t>
            </a:r>
          </a:p>
        </p:txBody>
      </p:sp>
      <p:sp>
        <p:nvSpPr>
          <p:cNvPr id="487432" name="Line 8"/>
          <p:cNvSpPr>
            <a:spLocks noChangeShapeType="1"/>
          </p:cNvSpPr>
          <p:nvPr/>
        </p:nvSpPr>
        <p:spPr bwMode="auto">
          <a:xfrm flipH="1">
            <a:off x="2690813" y="4781550"/>
            <a:ext cx="3494087" cy="0"/>
          </a:xfrm>
          <a:prstGeom prst="line">
            <a:avLst/>
          </a:prstGeom>
          <a:noFill/>
          <a:ln w="38100">
            <a:solidFill>
              <a:schemeClr val="accent5">
                <a:lumMod val="20000"/>
                <a:lumOff val="80000"/>
              </a:schemeClr>
            </a:solidFill>
            <a:round/>
            <a:headEnd/>
            <a:tailEnd type="arrow" w="lg" len="lg"/>
          </a:ln>
          <a:effectLst/>
        </p:spPr>
        <p:txBody>
          <a:bodyPr wrap="none" anchor="ctr"/>
          <a:lstStyle/>
          <a:p>
            <a:endParaRPr lang="en-US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87433" name="Text Box 9"/>
          <p:cNvSpPr txBox="1">
            <a:spLocks noChangeArrowheads="1"/>
          </p:cNvSpPr>
          <p:nvPr/>
        </p:nvSpPr>
        <p:spPr bwMode="auto">
          <a:xfrm>
            <a:off x="3161876" y="3962400"/>
            <a:ext cx="2517035" cy="76944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lnSpc>
                <a:spcPct val="100000"/>
              </a:lnSpc>
            </a:pPr>
            <a:r>
              <a:rPr kumimoji="0" lang="en-US" sz="2200" b="1" dirty="0">
                <a:solidFill>
                  <a:schemeClr val="accent5">
                    <a:lumMod val="20000"/>
                    <a:lumOff val="80000"/>
                  </a:schemeClr>
                </a:solidFill>
                <a:effectLst/>
                <a:latin typeface="Consolas" pitchFamily="49" charset="0"/>
                <a:cs typeface="Consolas" pitchFamily="49" charset="0"/>
              </a:rPr>
              <a:t>Response</a:t>
            </a:r>
          </a:p>
          <a:p>
            <a:pPr algn="ctr" eaLnBrk="1" hangingPunct="1">
              <a:lnSpc>
                <a:spcPct val="100000"/>
              </a:lnSpc>
            </a:pPr>
            <a:r>
              <a:rPr kumimoji="0" lang="en-US" sz="2200" b="1" dirty="0">
                <a:solidFill>
                  <a:schemeClr val="accent5">
                    <a:lumMod val="20000"/>
                    <a:lumOff val="80000"/>
                  </a:schemeClr>
                </a:solidFill>
                <a:effectLst/>
                <a:latin typeface="Consolas" pitchFamily="49" charset="0"/>
                <a:cs typeface="Consolas" pitchFamily="49" charset="0"/>
              </a:rPr>
              <a:t>Set-Cookie: XYZ</a:t>
            </a:r>
          </a:p>
        </p:txBody>
      </p:sp>
      <p:sp>
        <p:nvSpPr>
          <p:cNvPr id="487434" name="Freeform 10"/>
          <p:cNvSpPr>
            <a:spLocks/>
          </p:cNvSpPr>
          <p:nvPr/>
        </p:nvSpPr>
        <p:spPr bwMode="auto">
          <a:xfrm>
            <a:off x="2728912" y="5435600"/>
            <a:ext cx="3249857" cy="9588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064" y="387"/>
              </a:cxn>
              <a:cxn ang="0">
                <a:pos x="2008" y="24"/>
              </a:cxn>
            </a:cxnLst>
            <a:rect l="0" t="0" r="r" b="b"/>
            <a:pathLst>
              <a:path w="2008" h="391">
                <a:moveTo>
                  <a:pt x="0" y="0"/>
                </a:moveTo>
                <a:cubicBezTo>
                  <a:pt x="364" y="191"/>
                  <a:pt x="729" y="383"/>
                  <a:pt x="1064" y="387"/>
                </a:cubicBezTo>
                <a:cubicBezTo>
                  <a:pt x="1399" y="391"/>
                  <a:pt x="1703" y="207"/>
                  <a:pt x="2008" y="24"/>
                </a:cubicBezTo>
              </a:path>
            </a:pathLst>
          </a:custGeom>
          <a:noFill/>
          <a:ln w="381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arrow" w="lg" len="lg"/>
          </a:ln>
          <a:effectLst/>
        </p:spPr>
        <p:txBody>
          <a:bodyPr wrap="none" anchor="ctr"/>
          <a:lstStyle/>
          <a:p>
            <a:endParaRPr lang="en-US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87435" name="Text Box 11"/>
          <p:cNvSpPr txBox="1">
            <a:spLocks noChangeArrowheads="1"/>
          </p:cNvSpPr>
          <p:nvPr/>
        </p:nvSpPr>
        <p:spPr bwMode="auto">
          <a:xfrm>
            <a:off x="3396953" y="5318088"/>
            <a:ext cx="2050561" cy="76944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lnSpc>
                <a:spcPct val="100000"/>
              </a:lnSpc>
            </a:pPr>
            <a:r>
              <a:rPr kumimoji="0" lang="en-US" sz="2200" b="1" dirty="0">
                <a:solidFill>
                  <a:schemeClr val="accent5">
                    <a:lumMod val="20000"/>
                    <a:lumOff val="80000"/>
                  </a:schemeClr>
                </a:solidFill>
                <a:effectLst/>
                <a:latin typeface="Consolas" pitchFamily="49" charset="0"/>
                <a:cs typeface="Consolas" pitchFamily="49" charset="0"/>
              </a:rPr>
              <a:t>Next request</a:t>
            </a:r>
          </a:p>
          <a:p>
            <a:pPr algn="ctr" eaLnBrk="1" hangingPunct="1">
              <a:lnSpc>
                <a:spcPct val="100000"/>
              </a:lnSpc>
            </a:pPr>
            <a:r>
              <a:rPr kumimoji="0" lang="en-US" sz="2200" b="1" dirty="0">
                <a:solidFill>
                  <a:schemeClr val="accent5">
                    <a:lumMod val="20000"/>
                    <a:lumOff val="80000"/>
                  </a:schemeClr>
                </a:solidFill>
                <a:effectLst/>
                <a:latin typeface="Consolas" pitchFamily="49" charset="0"/>
                <a:cs typeface="Consolas" pitchFamily="49" charset="0"/>
              </a:rPr>
              <a:t>Cookie: XYZ</a:t>
            </a:r>
          </a:p>
        </p:txBody>
      </p:sp>
    </p:spTree>
    <p:extLst>
      <p:ext uri="{BB962C8B-B14F-4D97-AF65-F5344CB8AC3E}">
        <p14:creationId xmlns:p14="http://schemas.microsoft.com/office/powerpoint/2010/main" val="3769085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609600" y="1295400"/>
            <a:ext cx="7924800" cy="685800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dirty="0" smtClean="0"/>
              <a:t>MVC </a:t>
            </a:r>
            <a:r>
              <a:rPr lang="en-US" dirty="0"/>
              <a:t>Pattern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713" y="2667000"/>
            <a:ext cx="3375687" cy="284920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9834" y="2590800"/>
            <a:ext cx="4706966" cy="306351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76381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MVC Pattern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Model–view–controller (MVC) is a software architecture </a:t>
            </a:r>
            <a:r>
              <a:rPr lang="en-US" dirty="0" smtClean="0"/>
              <a:t>pattern</a:t>
            </a:r>
          </a:p>
          <a:p>
            <a:r>
              <a:rPr lang="en-US" dirty="0" smtClean="0"/>
              <a:t>Originally </a:t>
            </a:r>
            <a:r>
              <a:rPr lang="en-US" dirty="0"/>
              <a:t>formulated in the late </a:t>
            </a:r>
            <a:r>
              <a:rPr lang="en-US" dirty="0" smtClean="0"/>
              <a:t>1970</a:t>
            </a:r>
            <a:r>
              <a:rPr lang="en-US" baseline="-25000" dirty="0" smtClean="0"/>
              <a:t>s</a:t>
            </a:r>
            <a:r>
              <a:rPr lang="en-US" dirty="0" smtClean="0"/>
              <a:t> </a:t>
            </a:r>
            <a:r>
              <a:rPr lang="en-US" dirty="0"/>
              <a:t>by </a:t>
            </a:r>
            <a:r>
              <a:rPr lang="en-US" dirty="0" err="1"/>
              <a:t>Trygve</a:t>
            </a:r>
            <a:r>
              <a:rPr lang="en-US" dirty="0"/>
              <a:t> </a:t>
            </a:r>
            <a:r>
              <a:rPr lang="en-US" dirty="0" err="1"/>
              <a:t>Reenskaug</a:t>
            </a:r>
            <a:r>
              <a:rPr lang="en-US" dirty="0"/>
              <a:t> </a:t>
            </a:r>
            <a:r>
              <a:rPr lang="en-US" dirty="0" smtClean="0"/>
              <a:t>as </a:t>
            </a:r>
            <a:r>
              <a:rPr lang="en-US" dirty="0"/>
              <a:t>part of the </a:t>
            </a:r>
            <a:r>
              <a:rPr lang="en-US" dirty="0" smtClean="0"/>
              <a:t>Smalltalk</a:t>
            </a:r>
          </a:p>
          <a:p>
            <a:r>
              <a:rPr lang="en-US" dirty="0" smtClean="0"/>
              <a:t>Code </a:t>
            </a:r>
            <a:r>
              <a:rPr lang="en-US" dirty="0"/>
              <a:t>reusability and separation of </a:t>
            </a:r>
            <a:r>
              <a:rPr lang="en-US" dirty="0" smtClean="0"/>
              <a:t>concerns</a:t>
            </a:r>
          </a:p>
          <a:p>
            <a:r>
              <a:rPr lang="en-US" dirty="0" smtClean="0"/>
              <a:t>Originally </a:t>
            </a:r>
            <a:r>
              <a:rPr lang="en-US" dirty="0"/>
              <a:t>developed </a:t>
            </a:r>
            <a:r>
              <a:rPr lang="en-US" dirty="0" smtClean="0"/>
              <a:t>for</a:t>
            </a:r>
            <a:br>
              <a:rPr lang="en-US" dirty="0" smtClean="0"/>
            </a:br>
            <a:r>
              <a:rPr lang="en-US" dirty="0" smtClean="0"/>
              <a:t>desktop, then adapted</a:t>
            </a:r>
            <a:br>
              <a:rPr lang="en-US" dirty="0" smtClean="0"/>
            </a:br>
            <a:r>
              <a:rPr lang="en-US" dirty="0" smtClean="0"/>
              <a:t>for internet applications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3886200"/>
            <a:ext cx="2842287" cy="23989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503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685800"/>
            <a:ext cx="8686800" cy="5943600"/>
          </a:xfrm>
        </p:spPr>
        <p:txBody>
          <a:bodyPr/>
          <a:lstStyle/>
          <a:p>
            <a:r>
              <a:rPr lang="en-US" dirty="0" smtClean="0"/>
              <a:t>Set </a:t>
            </a:r>
            <a:r>
              <a:rPr lang="en-US" dirty="0"/>
              <a:t>of classes that describes the data </a:t>
            </a:r>
            <a:r>
              <a:rPr lang="en-US" dirty="0" smtClean="0"/>
              <a:t>we are </a:t>
            </a:r>
            <a:r>
              <a:rPr lang="en-US" dirty="0"/>
              <a:t>working with as well as the business</a:t>
            </a:r>
          </a:p>
          <a:p>
            <a:r>
              <a:rPr lang="en-US" dirty="0" smtClean="0"/>
              <a:t>Rules </a:t>
            </a:r>
            <a:r>
              <a:rPr lang="en-US" dirty="0"/>
              <a:t>for how the data can </a:t>
            </a:r>
            <a:r>
              <a:rPr lang="en-US" dirty="0" smtClean="0"/>
              <a:t>be</a:t>
            </a:r>
            <a:br>
              <a:rPr lang="en-US" dirty="0" smtClean="0"/>
            </a:br>
            <a:r>
              <a:rPr lang="en-US" dirty="0" smtClean="0"/>
              <a:t>changed and manipulated</a:t>
            </a:r>
          </a:p>
          <a:p>
            <a:r>
              <a:rPr lang="en-US" dirty="0" smtClean="0"/>
              <a:t>May contain data validation rules</a:t>
            </a:r>
          </a:p>
          <a:p>
            <a:r>
              <a:rPr lang="en-US" dirty="0" smtClean="0"/>
              <a:t>Often </a:t>
            </a:r>
            <a:r>
              <a:rPr lang="en-US" dirty="0"/>
              <a:t>encapsulate data stored in a database as well as code used </a:t>
            </a:r>
            <a:r>
              <a:rPr lang="en-US" dirty="0" smtClean="0"/>
              <a:t>to manipulate the data</a:t>
            </a:r>
          </a:p>
          <a:p>
            <a:r>
              <a:rPr lang="en-US" dirty="0" smtClean="0"/>
              <a:t>Most </a:t>
            </a:r>
            <a:r>
              <a:rPr lang="en-US" dirty="0"/>
              <a:t>likely </a:t>
            </a:r>
            <a:r>
              <a:rPr lang="en-US" dirty="0" smtClean="0"/>
              <a:t>a Data </a:t>
            </a:r>
            <a:r>
              <a:rPr lang="en-US" dirty="0"/>
              <a:t>Access Layer of some </a:t>
            </a:r>
            <a:r>
              <a:rPr lang="en-US" dirty="0" smtClean="0"/>
              <a:t>kind</a:t>
            </a:r>
          </a:p>
          <a:p>
            <a:r>
              <a:rPr lang="en-US" dirty="0"/>
              <a:t>Apart from giving the data objects, it doesn't have significance in the </a:t>
            </a:r>
            <a:r>
              <a:rPr lang="en-US" dirty="0" smtClean="0"/>
              <a:t>framework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  <p:pic>
        <p:nvPicPr>
          <p:cNvPr id="1026" name="Picture 2" descr="http://men.plovdivweek.com/js/ckfinder/userfiles/images/Bruklin2(2)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1" y="1371600"/>
            <a:ext cx="1543616" cy="2069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9612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Defines </a:t>
            </a:r>
            <a:r>
              <a:rPr lang="en-US" dirty="0"/>
              <a:t>how the application’s user interface (UI) will be </a:t>
            </a:r>
            <a:r>
              <a:rPr lang="en-US" dirty="0" smtClean="0"/>
              <a:t>displayed</a:t>
            </a:r>
          </a:p>
          <a:p>
            <a:r>
              <a:rPr lang="en-US" dirty="0" smtClean="0"/>
              <a:t>May </a:t>
            </a:r>
            <a:r>
              <a:rPr lang="en-US" dirty="0"/>
              <a:t>support master views (layouts) and sub-views (partial views or controls</a:t>
            </a:r>
            <a:r>
              <a:rPr lang="en-US" dirty="0" smtClean="0"/>
              <a:t>)</a:t>
            </a:r>
          </a:p>
          <a:p>
            <a:r>
              <a:rPr lang="en-US" dirty="0" smtClean="0"/>
              <a:t>Web: Template </a:t>
            </a:r>
            <a:r>
              <a:rPr lang="en-US" dirty="0"/>
              <a:t>to dynamically generate </a:t>
            </a:r>
            <a:r>
              <a:rPr lang="en-US" dirty="0" smtClean="0"/>
              <a:t>HTML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186" y="4038600"/>
            <a:ext cx="3810000" cy="237172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1744" y="4038600"/>
            <a:ext cx="2996724" cy="236741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24579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Controller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686800" cy="5791200"/>
          </a:xfrm>
        </p:spPr>
        <p:txBody>
          <a:bodyPr/>
          <a:lstStyle/>
          <a:p>
            <a:r>
              <a:rPr lang="en-US" dirty="0" smtClean="0"/>
              <a:t>The core MVC component</a:t>
            </a:r>
          </a:p>
          <a:p>
            <a:r>
              <a:rPr lang="en-US" dirty="0" smtClean="0"/>
              <a:t>Process the requests with the help of views and models</a:t>
            </a:r>
          </a:p>
          <a:p>
            <a:r>
              <a:rPr lang="en-US" dirty="0"/>
              <a:t>A set of classes that </a:t>
            </a:r>
            <a:r>
              <a:rPr lang="en-US" dirty="0" smtClean="0"/>
              <a:t>handles</a:t>
            </a:r>
          </a:p>
          <a:p>
            <a:pPr lvl="1"/>
            <a:r>
              <a:rPr lang="en-US" dirty="0"/>
              <a:t>C</a:t>
            </a:r>
            <a:r>
              <a:rPr lang="en-US" dirty="0" smtClean="0"/>
              <a:t>ommunication </a:t>
            </a:r>
            <a:r>
              <a:rPr lang="en-US" dirty="0"/>
              <a:t>from the </a:t>
            </a:r>
            <a:r>
              <a:rPr lang="en-US" dirty="0" smtClean="0"/>
              <a:t>user</a:t>
            </a:r>
          </a:p>
          <a:p>
            <a:pPr lvl="1"/>
            <a:r>
              <a:rPr lang="en-US" dirty="0" smtClean="0"/>
              <a:t>Overall application flow</a:t>
            </a:r>
          </a:p>
          <a:p>
            <a:pPr lvl="1"/>
            <a:r>
              <a:rPr lang="en-US" dirty="0" smtClean="0"/>
              <a:t>Application-specific </a:t>
            </a:r>
            <a:r>
              <a:rPr lang="en-US" dirty="0"/>
              <a:t>logic</a:t>
            </a:r>
          </a:p>
          <a:p>
            <a:r>
              <a:rPr lang="en-US" dirty="0" smtClean="0"/>
              <a:t>Every controller has one or more "Actions"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p:pic>
        <p:nvPicPr>
          <p:cNvPr id="5" name="Picture 2" descr="http://www.wagonbutterworth.com/projects/xbox_controller/xbc-c-controller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9517" y="2897664"/>
            <a:ext cx="2411083" cy="160613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</p:spTree>
    <p:extLst>
      <p:ext uri="{BB962C8B-B14F-4D97-AF65-F5344CB8AC3E}">
        <p14:creationId xmlns:p14="http://schemas.microsoft.com/office/powerpoint/2010/main" val="3002947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MVC Steps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Incoming request </a:t>
            </a: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routed</a:t>
            </a:r>
            <a:r>
              <a:rPr lang="en-US" dirty="0"/>
              <a:t> to </a:t>
            </a:r>
            <a:r>
              <a:rPr lang="en-US" dirty="0" smtClean="0">
                <a:solidFill>
                  <a:srgbClr val="FF9933"/>
                </a:solidFill>
              </a:rPr>
              <a:t>Controller</a:t>
            </a:r>
          </a:p>
          <a:p>
            <a:pPr lvl="1"/>
            <a:r>
              <a:rPr lang="en-US" sz="3000" dirty="0" smtClean="0">
                <a:solidFill>
                  <a:srgbClr val="EBFFD2"/>
                </a:solidFill>
              </a:rPr>
              <a:t>For </a:t>
            </a:r>
            <a:r>
              <a:rPr lang="en-US" sz="3000" dirty="0">
                <a:solidFill>
                  <a:srgbClr val="EBFFD2"/>
                </a:solidFill>
              </a:rPr>
              <a:t>web: HTTP request</a:t>
            </a:r>
          </a:p>
          <a:p>
            <a:r>
              <a:rPr lang="en-US" dirty="0">
                <a:solidFill>
                  <a:srgbClr val="FF9933"/>
                </a:solidFill>
              </a:rPr>
              <a:t>Controller</a:t>
            </a:r>
            <a:r>
              <a:rPr lang="en-US" dirty="0"/>
              <a:t> processes request and creates presentation </a:t>
            </a:r>
            <a:r>
              <a:rPr lang="en-US" dirty="0" smtClean="0">
                <a:solidFill>
                  <a:srgbClr val="FF9933"/>
                </a:solidFill>
              </a:rPr>
              <a:t>Model</a:t>
            </a:r>
          </a:p>
          <a:p>
            <a:pPr lvl="1"/>
            <a:r>
              <a:rPr lang="en-US" sz="3000" dirty="0" smtClean="0">
                <a:solidFill>
                  <a:srgbClr val="EBFFD2"/>
                </a:solidFill>
              </a:rPr>
              <a:t>Controller </a:t>
            </a:r>
            <a:r>
              <a:rPr lang="en-US" sz="3000" dirty="0">
                <a:solidFill>
                  <a:srgbClr val="EBFFD2"/>
                </a:solidFill>
              </a:rPr>
              <a:t>also selects appropriate result (view)</a:t>
            </a:r>
          </a:p>
          <a:p>
            <a:r>
              <a:rPr lang="en-US" dirty="0">
                <a:solidFill>
                  <a:srgbClr val="FF9933"/>
                </a:solidFill>
              </a:rPr>
              <a:t>Model</a:t>
            </a:r>
            <a:r>
              <a:rPr lang="en-US" dirty="0"/>
              <a:t> is passed to </a:t>
            </a:r>
            <a:r>
              <a:rPr lang="en-US" dirty="0">
                <a:solidFill>
                  <a:srgbClr val="FF9933"/>
                </a:solidFill>
              </a:rPr>
              <a:t>View</a:t>
            </a:r>
          </a:p>
          <a:p>
            <a:r>
              <a:rPr lang="en-US" dirty="0">
                <a:solidFill>
                  <a:srgbClr val="FF9933"/>
                </a:solidFill>
              </a:rPr>
              <a:t>View</a:t>
            </a:r>
            <a:r>
              <a:rPr lang="en-US" dirty="0"/>
              <a:t> transforms </a:t>
            </a:r>
            <a:r>
              <a:rPr lang="en-US" dirty="0">
                <a:solidFill>
                  <a:srgbClr val="FF9933"/>
                </a:solidFill>
              </a:rPr>
              <a:t>Model</a:t>
            </a:r>
            <a:r>
              <a:rPr lang="en-US" dirty="0"/>
              <a:t> into appropriate output </a:t>
            </a:r>
            <a:r>
              <a:rPr lang="en-US" dirty="0" smtClean="0"/>
              <a:t>format (HTML)</a:t>
            </a:r>
            <a:endParaRPr lang="en-US" dirty="0">
              <a:solidFill>
                <a:srgbClr val="FF9933"/>
              </a:solidFill>
            </a:endParaRPr>
          </a:p>
          <a:p>
            <a:r>
              <a:rPr lang="en-US" dirty="0"/>
              <a:t>Response is </a:t>
            </a:r>
            <a:r>
              <a:rPr lang="en-US" dirty="0" smtClean="0"/>
              <a:t>rendered (HTTP Response)</a:t>
            </a:r>
            <a:endParaRPr lang="en-US" dirty="0">
              <a:solidFill>
                <a:srgbClr val="FF9933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9857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MVC Pattern for Web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  <p:sp>
        <p:nvSpPr>
          <p:cNvPr id="5" name="Right Arrow 4"/>
          <p:cNvSpPr/>
          <p:nvPr/>
        </p:nvSpPr>
        <p:spPr>
          <a:xfrm>
            <a:off x="744070" y="1219200"/>
            <a:ext cx="2743200" cy="1066800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/Some/Page/</a:t>
            </a:r>
            <a:endParaRPr lang="en-US" sz="36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581400" y="3008241"/>
            <a:ext cx="2599766" cy="10668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Controller</a:t>
            </a:r>
            <a:endParaRPr lang="en-US" sz="36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44070" y="981654"/>
            <a:ext cx="2209800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200" b="1" cap="none" spc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HTTP </a:t>
            </a:r>
            <a:r>
              <a:rPr lang="en-US" sz="2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R</a:t>
            </a:r>
            <a:r>
              <a:rPr lang="en-US" sz="2400" b="1" cap="none" spc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equest</a:t>
            </a:r>
            <a:endParaRPr lang="en-US" sz="22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581400" y="1144925"/>
            <a:ext cx="3599330" cy="121727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Front controller (dispatcher)</a:t>
            </a:r>
            <a:endParaRPr lang="en-US" sz="36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9" name="Down Arrow 8"/>
          <p:cNvSpPr/>
          <p:nvPr/>
        </p:nvSpPr>
        <p:spPr>
          <a:xfrm>
            <a:off x="4800600" y="2438981"/>
            <a:ext cx="360830" cy="496959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3600" b="1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324600" y="5105399"/>
            <a:ext cx="2362200" cy="116634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Model (data)</a:t>
            </a:r>
            <a:endParaRPr lang="en-US" sz="36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982420" y="5105399"/>
            <a:ext cx="2428650" cy="116634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View</a:t>
            </a:r>
          </a:p>
          <a:p>
            <a:pPr algn="ctr"/>
            <a:r>
              <a:rPr lang="en-US" sz="36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(render UI)</a:t>
            </a:r>
            <a:endParaRPr lang="en-US" sz="36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2" name="Left Arrow 11"/>
          <p:cNvSpPr/>
          <p:nvPr/>
        </p:nvSpPr>
        <p:spPr>
          <a:xfrm rot="10800000">
            <a:off x="3563470" y="5428601"/>
            <a:ext cx="2617696" cy="381000"/>
          </a:xfrm>
          <a:prstGeom prst="lef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3600" b="1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20" name="Action Button: Home 19">
            <a:hlinkClick r:id="" action="ppaction://noaction" highlightClick="1"/>
          </p:cNvPr>
          <p:cNvSpPr/>
          <p:nvPr/>
        </p:nvSpPr>
        <p:spPr>
          <a:xfrm>
            <a:off x="744070" y="2295525"/>
            <a:ext cx="914400" cy="725559"/>
          </a:xfrm>
          <a:prstGeom prst="actionButtonHome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744070" y="2981325"/>
            <a:ext cx="914400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400" b="1" cap="none" spc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User</a:t>
            </a:r>
            <a:endParaRPr lang="en-US" sz="22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25" name="Left Arrow 24"/>
          <p:cNvSpPr/>
          <p:nvPr/>
        </p:nvSpPr>
        <p:spPr>
          <a:xfrm rot="14392517">
            <a:off x="5894364" y="4381227"/>
            <a:ext cx="1017025" cy="381000"/>
          </a:xfrm>
          <a:prstGeom prst="lef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3600" b="1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26" name="Left Arrow 25"/>
          <p:cNvSpPr/>
          <p:nvPr/>
        </p:nvSpPr>
        <p:spPr>
          <a:xfrm rot="17829597">
            <a:off x="2906065" y="4384817"/>
            <a:ext cx="999969" cy="381000"/>
          </a:xfrm>
          <a:prstGeom prst="lef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3600" b="1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21" name="Down Arrow 20"/>
          <p:cNvSpPr/>
          <p:nvPr/>
        </p:nvSpPr>
        <p:spPr>
          <a:xfrm rot="9685705">
            <a:off x="1175600" y="3498803"/>
            <a:ext cx="800100" cy="1343914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36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76200" y="4038600"/>
            <a:ext cx="2971801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200" b="1" cap="none" spc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HTTP </a:t>
            </a:r>
            <a:r>
              <a:rPr lang="en-US" sz="24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Response</a:t>
            </a:r>
            <a:endParaRPr lang="en-US" sz="22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5109500" y="2440820"/>
            <a:ext cx="2597525" cy="43088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200" b="1" cap="none" spc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Delegate request</a:t>
            </a:r>
            <a:endParaRPr lang="en-US" sz="22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3558988" y="4267603"/>
            <a:ext cx="1852859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200" b="1" cap="none" spc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Select view &amp;</a:t>
            </a:r>
            <a:br>
              <a:rPr lang="en-US" sz="2200" b="1" cap="none" spc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</a:br>
            <a:r>
              <a:rPr lang="en-US" sz="2200" b="1" cap="none" spc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pass data</a:t>
            </a:r>
            <a:endParaRPr lang="en-US" sz="22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3505200" y="5715000"/>
            <a:ext cx="2590800" cy="43088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200" b="1" cap="none" spc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Use model data</a:t>
            </a:r>
            <a:endParaRPr lang="en-US" sz="22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6420477" y="4127746"/>
            <a:ext cx="1524000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200" b="1" cap="none" spc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CRUD model</a:t>
            </a:r>
            <a:endParaRPr lang="en-US" sz="22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36222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/>
      <p:bldP spid="11" grpId="0" animBg="1"/>
      <p:bldP spid="9" grpId="0" animBg="1"/>
      <p:bldP spid="13" grpId="0" animBg="1"/>
      <p:bldP spid="14" grpId="0" animBg="1"/>
      <p:bldP spid="12" grpId="0" animBg="1"/>
      <p:bldP spid="20" grpId="0" animBg="1"/>
      <p:bldP spid="23" grpId="0"/>
      <p:bldP spid="25" grpId="0" animBg="1"/>
      <p:bldP spid="26" grpId="0" animBg="1"/>
      <p:bldP spid="21" grpId="0" animBg="1"/>
      <p:bldP spid="29" grpId="0"/>
      <p:bldP spid="36" grpId="0"/>
      <p:bldP spid="40" grpId="0"/>
      <p:bldP spid="41" grpId="0"/>
      <p:bldP spid="4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MVC Frameworks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0600"/>
            <a:ext cx="8686800" cy="5410200"/>
          </a:xfrm>
        </p:spPr>
        <p:txBody>
          <a:bodyPr/>
          <a:lstStyle/>
          <a:p>
            <a:r>
              <a:rPr lang="en-US" dirty="0" smtClean="0">
                <a:hlinkClick r:id="rId2"/>
              </a:rPr>
              <a:t>CakePHP</a:t>
            </a:r>
            <a:r>
              <a:rPr lang="en-US" dirty="0" smtClean="0"/>
              <a:t> (PHP)</a:t>
            </a:r>
          </a:p>
          <a:p>
            <a:r>
              <a:rPr lang="en-US" dirty="0" smtClean="0">
                <a:hlinkClick r:id="rId3"/>
              </a:rPr>
              <a:t>CodeIgniter</a:t>
            </a:r>
            <a:r>
              <a:rPr lang="en-US" dirty="0" smtClean="0"/>
              <a:t> (PHP)</a:t>
            </a:r>
          </a:p>
          <a:p>
            <a:r>
              <a:rPr lang="en-US" dirty="0" smtClean="0">
                <a:hlinkClick r:id="rId4"/>
              </a:rPr>
              <a:t>Spring</a:t>
            </a:r>
            <a:r>
              <a:rPr lang="en-US" dirty="0" smtClean="0"/>
              <a:t> (Java)</a:t>
            </a:r>
          </a:p>
          <a:p>
            <a:r>
              <a:rPr lang="en-US" dirty="0" smtClean="0"/>
              <a:t>Perl: Catalyst</a:t>
            </a:r>
            <a:r>
              <a:rPr lang="en-US" dirty="0"/>
              <a:t>, </a:t>
            </a:r>
            <a:r>
              <a:rPr lang="en-US" dirty="0" smtClean="0"/>
              <a:t>Dancer</a:t>
            </a:r>
          </a:p>
          <a:p>
            <a:r>
              <a:rPr lang="en-US" dirty="0"/>
              <a:t>Python: </a:t>
            </a:r>
            <a:r>
              <a:rPr lang="en-US" dirty="0" smtClean="0">
                <a:hlinkClick r:id="rId5"/>
              </a:rPr>
              <a:t>Django</a:t>
            </a:r>
            <a:r>
              <a:rPr lang="en-US" dirty="0"/>
              <a:t>, </a:t>
            </a:r>
            <a:r>
              <a:rPr lang="en-US" dirty="0" smtClean="0"/>
              <a:t>Flask</a:t>
            </a:r>
            <a:r>
              <a:rPr lang="en-US" dirty="0"/>
              <a:t>, </a:t>
            </a:r>
            <a:r>
              <a:rPr lang="en-US" dirty="0" err="1"/>
              <a:t>Grok</a:t>
            </a:r>
            <a:endParaRPr lang="en-US" dirty="0"/>
          </a:p>
          <a:p>
            <a:r>
              <a:rPr lang="en-US" dirty="0"/>
              <a:t>Ruby: </a:t>
            </a:r>
            <a:r>
              <a:rPr lang="en-US" dirty="0">
                <a:hlinkClick r:id="rId6"/>
              </a:rPr>
              <a:t>Ruby on Rails</a:t>
            </a:r>
            <a:r>
              <a:rPr lang="en-US" dirty="0"/>
              <a:t>, Camping, </a:t>
            </a:r>
            <a:r>
              <a:rPr lang="en-US" dirty="0" smtClean="0"/>
              <a:t>Nitro, Sinatra</a:t>
            </a:r>
            <a:endParaRPr lang="en-US" dirty="0"/>
          </a:p>
          <a:p>
            <a:r>
              <a:rPr lang="en-US" dirty="0" smtClean="0"/>
              <a:t>JavaScript</a:t>
            </a:r>
            <a:r>
              <a:rPr lang="en-US" dirty="0"/>
              <a:t>: </a:t>
            </a:r>
            <a:r>
              <a:rPr lang="en-US" dirty="0">
                <a:hlinkClick r:id="rId7"/>
              </a:rPr>
              <a:t>AngularJS</a:t>
            </a:r>
            <a:r>
              <a:rPr lang="en-US" dirty="0"/>
              <a:t>, </a:t>
            </a:r>
            <a:r>
              <a:rPr lang="en-US" dirty="0" smtClean="0">
                <a:hlinkClick r:id="rId8"/>
              </a:rPr>
              <a:t>JavaScriptMVC</a:t>
            </a:r>
            <a:r>
              <a:rPr lang="en-US" dirty="0" smtClean="0"/>
              <a:t>, </a:t>
            </a:r>
            <a:r>
              <a:rPr lang="en-US" dirty="0" smtClean="0">
                <a:hlinkClick r:id="rId9"/>
              </a:rPr>
              <a:t>Spine</a:t>
            </a:r>
            <a:endParaRPr lang="en-US" dirty="0" smtClean="0"/>
          </a:p>
          <a:p>
            <a:r>
              <a:rPr lang="en-US" dirty="0" smtClean="0">
                <a:hlinkClick r:id="rId10"/>
              </a:rPr>
              <a:t>ASP.NET </a:t>
            </a:r>
            <a:r>
              <a:rPr lang="en-US" dirty="0">
                <a:hlinkClick r:id="rId10"/>
              </a:rPr>
              <a:t>MVC</a:t>
            </a:r>
            <a:r>
              <a:rPr lang="en-US" dirty="0"/>
              <a:t> (.NET Framework)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  <p:pic>
        <p:nvPicPr>
          <p:cNvPr id="4098" name="Picture 2" descr="Codeigniter Flow Chart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5740" y="1219200"/>
            <a:ext cx="4922522" cy="14478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5059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609600" y="2514600"/>
            <a:ext cx="7924800" cy="685800"/>
          </a:xfrm>
        </p:spPr>
        <p:txBody>
          <a:bodyPr/>
          <a:lstStyle/>
          <a:p>
            <a:r>
              <a:rPr lang="en-US" dirty="0" smtClean="0"/>
              <a:t>ASP.NET MVC</a:t>
            </a:r>
            <a:endParaRPr lang="en-US" dirty="0"/>
          </a:p>
        </p:txBody>
      </p:sp>
      <p:pic>
        <p:nvPicPr>
          <p:cNvPr id="1026" name="Picture 2" descr="http://www.davidhayden.me/media/default/posts/ASP.NET-MVC-4-Bundling-and-Minification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6015" y="1066800"/>
            <a:ext cx="3951970" cy="133565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  <p:pic>
        <p:nvPicPr>
          <p:cNvPr id="1028" name="Picture 4" descr="http://4.bp.blogspot.com/-e6I8CyF7AG4/UOKfFIZfoyI/AAAAAAAABNs/2L68gGJhvrg/s1600/asp.net%2Bmvc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7025" y="2971800"/>
            <a:ext cx="3409950" cy="3409950"/>
          </a:xfrm>
          <a:prstGeom prst="rect">
            <a:avLst/>
          </a:prstGeom>
          <a:solidFill>
            <a:srgbClr val="FFFFFF">
              <a:shade val="85000"/>
            </a:srgbClr>
          </a:solidFill>
          <a:ln w="101600" cap="sq">
            <a:solidFill>
              <a:srgbClr val="FDFDFD"/>
            </a:solidFill>
            <a:miter lim="800000"/>
          </a:ln>
          <a:effectLst>
            <a:outerShdw blurRad="57150" dist="37500" dir="7560000" sy="98000" kx="110000" ky="200000" algn="tl" rotWithShape="0">
              <a:srgbClr val="000000">
                <a:alpha val="20000"/>
              </a:srgbClr>
            </a:outerShdw>
          </a:effectLst>
          <a:scene3d>
            <a:camera prst="perspectiveRelaxed">
              <a:rot lat="18960000" lon="0" rev="0"/>
            </a:camera>
            <a:lightRig rig="twoPt" dir="t">
              <a:rot lat="0" lon="0" rev="7200000"/>
            </a:lightRig>
          </a:scene3d>
          <a:sp3d prstMaterial="matte">
            <a:bevelT w="22860" h="12700"/>
            <a:contourClr>
              <a:srgbClr val="FFFFFF"/>
            </a:contourClr>
          </a:sp3d>
          <a:extLst/>
        </p:spPr>
      </p:pic>
    </p:spTree>
    <p:extLst>
      <p:ext uri="{BB962C8B-B14F-4D97-AF65-F5344CB8AC3E}">
        <p14:creationId xmlns:p14="http://schemas.microsoft.com/office/powerpoint/2010/main" val="2785706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ASP.NET Core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  <p:grpSp>
        <p:nvGrpSpPr>
          <p:cNvPr id="18" name="Group 17"/>
          <p:cNvGrpSpPr/>
          <p:nvPr/>
        </p:nvGrpSpPr>
        <p:grpSpPr>
          <a:xfrm>
            <a:off x="6482408" y="1310055"/>
            <a:ext cx="2431077" cy="1439607"/>
            <a:chOff x="6666900" y="1482970"/>
            <a:chExt cx="2431077" cy="1439607"/>
          </a:xfrm>
        </p:grpSpPr>
        <p:sp>
          <p:nvSpPr>
            <p:cNvPr id="29" name="Right Brace 28"/>
            <p:cNvSpPr/>
            <p:nvPr/>
          </p:nvSpPr>
          <p:spPr bwMode="auto">
            <a:xfrm>
              <a:off x="6666900" y="1482970"/>
              <a:ext cx="548640" cy="1439607"/>
            </a:xfrm>
            <a:prstGeom prst="rightBrace">
              <a:avLst>
                <a:gd name="adj1" fmla="val 8333"/>
                <a:gd name="adj2" fmla="val 50755"/>
              </a:avLst>
            </a:prstGeom>
            <a:noFill/>
            <a:ln w="28575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200" b="0" i="0" u="none" strike="noStrike" cap="none" normalizeH="0" baseline="0" smtClean="0">
                <a:solidFill>
                  <a:srgbClr val="00B050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30" name="TextBox 8"/>
            <p:cNvSpPr txBox="1"/>
            <p:nvPr/>
          </p:nvSpPr>
          <p:spPr>
            <a:xfrm>
              <a:off x="7194892" y="1971372"/>
              <a:ext cx="190308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400" b="1" dirty="0" smtClean="0">
                  <a:solidFill>
                    <a:schemeClr val="accent1"/>
                  </a:solidFill>
                </a:rPr>
                <a:t>Presentation</a:t>
              </a:r>
              <a:endParaRPr lang="en-US" sz="2400" b="1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6519926" y="3633720"/>
            <a:ext cx="1834203" cy="2673266"/>
            <a:chOff x="6666900" y="3675185"/>
            <a:chExt cx="1834203" cy="1770183"/>
          </a:xfrm>
        </p:grpSpPr>
        <p:sp>
          <p:nvSpPr>
            <p:cNvPr id="27" name="Right Brace 26"/>
            <p:cNvSpPr/>
            <p:nvPr/>
          </p:nvSpPr>
          <p:spPr bwMode="auto">
            <a:xfrm>
              <a:off x="6666900" y="3675185"/>
              <a:ext cx="548640" cy="1770183"/>
            </a:xfrm>
            <a:prstGeom prst="rightBrace">
              <a:avLst/>
            </a:prstGeom>
            <a:noFill/>
            <a:ln w="285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200" b="0" i="0" u="none" strike="noStrike" cap="none" normalizeH="0" baseline="0" smtClean="0">
                <a:solidFill>
                  <a:schemeClr val="bg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28" name="TextBox 9"/>
            <p:cNvSpPr txBox="1"/>
            <p:nvPr/>
          </p:nvSpPr>
          <p:spPr>
            <a:xfrm>
              <a:off x="7173174" y="4329444"/>
              <a:ext cx="1327929" cy="461665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400" b="1" dirty="0" smtClean="0">
                  <a:solidFill>
                    <a:schemeClr val="accent2"/>
                  </a:solidFill>
                </a:rPr>
                <a:t>Runtime</a:t>
              </a:r>
              <a:endParaRPr lang="en-US" sz="2400" b="1" dirty="0">
                <a:solidFill>
                  <a:schemeClr val="accent2"/>
                </a:solidFill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591579" y="1310055"/>
            <a:ext cx="2541559" cy="2324577"/>
            <a:chOff x="658841" y="1482970"/>
            <a:chExt cx="2541559" cy="2324577"/>
          </a:xfrm>
        </p:grpSpPr>
        <p:sp>
          <p:nvSpPr>
            <p:cNvPr id="24" name="Rectangle 23"/>
            <p:cNvSpPr/>
            <p:nvPr/>
          </p:nvSpPr>
          <p:spPr bwMode="auto">
            <a:xfrm>
              <a:off x="658841" y="1482970"/>
              <a:ext cx="2541559" cy="1439607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</a:gradFill>
            <a:ln>
              <a:noFill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="horz" wrap="square" lIns="91436" tIns="45718" rIns="91436" bIns="45718" numCol="1" rtlCol="0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099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3600" b="1" dirty="0" smtClean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</a:rPr>
                <a:t>ASP.NET WebForms</a:t>
              </a:r>
            </a:p>
          </p:txBody>
        </p:sp>
        <p:cxnSp>
          <p:nvCxnSpPr>
            <p:cNvPr id="25" name="Straight Arrow Connector 24"/>
            <p:cNvCxnSpPr>
              <a:stCxn id="24" idx="2"/>
            </p:cNvCxnSpPr>
            <p:nvPr/>
          </p:nvCxnSpPr>
          <p:spPr>
            <a:xfrm>
              <a:off x="1929621" y="2922577"/>
              <a:ext cx="504000" cy="884970"/>
            </a:xfrm>
            <a:prstGeom prst="straightConnector1">
              <a:avLst/>
            </a:prstGeom>
            <a:ln w="57150"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/>
          <p:cNvGrpSpPr/>
          <p:nvPr/>
        </p:nvGrpSpPr>
        <p:grpSpPr>
          <a:xfrm>
            <a:off x="3372297" y="1310055"/>
            <a:ext cx="2541559" cy="2324577"/>
            <a:chOff x="3439559" y="1482970"/>
            <a:chExt cx="2541559" cy="2324577"/>
          </a:xfrm>
        </p:grpSpPr>
        <p:sp>
          <p:nvSpPr>
            <p:cNvPr id="22" name="Rectangle 21"/>
            <p:cNvSpPr/>
            <p:nvPr/>
          </p:nvSpPr>
          <p:spPr bwMode="auto">
            <a:xfrm>
              <a:off x="3439559" y="1482970"/>
              <a:ext cx="2541559" cy="1439607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vert="horz" wrap="square" lIns="91436" tIns="45718" rIns="91436" bIns="45718" numCol="1" rtlCol="0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099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3600" b="1" dirty="0" smtClean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</a:rPr>
                <a:t>ASP.NET</a:t>
              </a:r>
            </a:p>
            <a:p>
              <a:pPr algn="ctr" defTabSz="914099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3600" b="1" dirty="0" smtClean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</a:rPr>
                <a:t>MVC</a:t>
              </a:r>
            </a:p>
          </p:txBody>
        </p:sp>
        <p:cxnSp>
          <p:nvCxnSpPr>
            <p:cNvPr id="23" name="Straight Arrow Connector 22"/>
            <p:cNvCxnSpPr>
              <a:stCxn id="22" idx="2"/>
            </p:cNvCxnSpPr>
            <p:nvPr/>
          </p:nvCxnSpPr>
          <p:spPr>
            <a:xfrm flipH="1">
              <a:off x="4310047" y="2922577"/>
              <a:ext cx="400292" cy="884970"/>
            </a:xfrm>
            <a:prstGeom prst="straightConnector1">
              <a:avLst/>
            </a:prstGeom>
            <a:ln w="57150">
              <a:tailEnd type="arrow"/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32" name="Group 31"/>
          <p:cNvGrpSpPr/>
          <p:nvPr/>
        </p:nvGrpSpPr>
        <p:grpSpPr>
          <a:xfrm>
            <a:off x="838200" y="3657599"/>
            <a:ext cx="4865659" cy="2649386"/>
            <a:chOff x="1920240" y="2873365"/>
            <a:chExt cx="4373880" cy="2940070"/>
          </a:xfrm>
        </p:grpSpPr>
        <p:sp>
          <p:nvSpPr>
            <p:cNvPr id="33" name="Rectangle 32"/>
            <p:cNvSpPr/>
            <p:nvPr/>
          </p:nvSpPr>
          <p:spPr bwMode="auto">
            <a:xfrm>
              <a:off x="1920240" y="2873365"/>
              <a:ext cx="4373880" cy="2940070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vert="horz" wrap="square" lIns="91436" tIns="45718" rIns="91436" bIns="45718" numCol="1" rtlCol="0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099"/>
              <a:endParaRPr lang="en-US" sz="200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</a:endParaRPr>
            </a:p>
          </p:txBody>
        </p:sp>
        <p:sp>
          <p:nvSpPr>
            <p:cNvPr id="34" name="Rounded Rectangle 33"/>
            <p:cNvSpPr/>
            <p:nvPr/>
          </p:nvSpPr>
          <p:spPr bwMode="auto">
            <a:xfrm>
              <a:off x="2072640" y="3481715"/>
              <a:ext cx="1158240" cy="487680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vert="horz" wrap="square" lIns="91436" tIns="45718" rIns="91436" bIns="45718" numCol="1" rtlCol="0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099"/>
              <a:r>
                <a:rPr lang="en-US" dirty="0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rebuchet MS" pitchFamily="34" charset="0"/>
                </a:rPr>
                <a:t>Caching</a:t>
              </a:r>
            </a:p>
          </p:txBody>
        </p:sp>
        <p:sp>
          <p:nvSpPr>
            <p:cNvPr id="35" name="Rounded Rectangle 34"/>
            <p:cNvSpPr/>
            <p:nvPr/>
          </p:nvSpPr>
          <p:spPr bwMode="auto">
            <a:xfrm>
              <a:off x="3307080" y="3481715"/>
              <a:ext cx="1158240" cy="487680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vert="horz" wrap="square" lIns="91436" tIns="45718" rIns="91436" bIns="45718" numCol="1" rtlCol="0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099"/>
              <a:r>
                <a:rPr lang="en-US" dirty="0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rebuchet MS" pitchFamily="34" charset="0"/>
                </a:rPr>
                <a:t>.NET</a:t>
              </a:r>
            </a:p>
          </p:txBody>
        </p:sp>
        <p:sp>
          <p:nvSpPr>
            <p:cNvPr id="36" name="Rounded Rectangle 35"/>
            <p:cNvSpPr/>
            <p:nvPr/>
          </p:nvSpPr>
          <p:spPr bwMode="auto">
            <a:xfrm>
              <a:off x="3322320" y="5158115"/>
              <a:ext cx="1158240" cy="487680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vert="horz" wrap="square" lIns="91436" tIns="45718" rIns="91436" bIns="45718" numCol="1" rtlCol="0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099"/>
              <a:r>
                <a:rPr lang="en-US" dirty="0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rebuchet MS" pitchFamily="34" charset="0"/>
                </a:rPr>
                <a:t>Handlers</a:t>
              </a:r>
            </a:p>
          </p:txBody>
        </p:sp>
        <p:sp>
          <p:nvSpPr>
            <p:cNvPr id="37" name="Rounded Rectangle 36"/>
            <p:cNvSpPr/>
            <p:nvPr/>
          </p:nvSpPr>
          <p:spPr bwMode="auto">
            <a:xfrm>
              <a:off x="2042160" y="5142875"/>
              <a:ext cx="1219200" cy="487680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vert="horz" wrap="square" lIns="91436" tIns="45718" rIns="91436" bIns="45718" numCol="1" rtlCol="0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099"/>
              <a:r>
                <a:rPr lang="en-US" dirty="0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rebuchet MS" pitchFamily="34" charset="0"/>
                </a:rPr>
                <a:t>Routes</a:t>
              </a:r>
            </a:p>
          </p:txBody>
        </p:sp>
        <p:sp>
          <p:nvSpPr>
            <p:cNvPr id="38" name="Rounded Rectangle 37"/>
            <p:cNvSpPr/>
            <p:nvPr/>
          </p:nvSpPr>
          <p:spPr bwMode="auto">
            <a:xfrm>
              <a:off x="2072640" y="4045595"/>
              <a:ext cx="1158240" cy="487680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vert="horz" wrap="square" lIns="91436" tIns="45718" rIns="91436" bIns="45718" numCol="1" rtlCol="0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099"/>
              <a:r>
                <a:rPr lang="en-US" dirty="0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rebuchet MS" pitchFamily="34" charset="0"/>
                </a:rPr>
                <a:t>Pages</a:t>
              </a:r>
            </a:p>
          </p:txBody>
        </p:sp>
        <p:sp>
          <p:nvSpPr>
            <p:cNvPr id="39" name="Rounded Rectangle 38"/>
            <p:cNvSpPr/>
            <p:nvPr/>
          </p:nvSpPr>
          <p:spPr bwMode="auto">
            <a:xfrm>
              <a:off x="3307080" y="4045595"/>
              <a:ext cx="1158240" cy="487680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vert="horz" wrap="square" lIns="91436" tIns="45718" rIns="91436" bIns="45718" numCol="1" rtlCol="0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099"/>
              <a:r>
                <a:rPr lang="en-US" dirty="0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rebuchet MS" pitchFamily="34" charset="0"/>
                </a:rPr>
                <a:t>Controls</a:t>
              </a:r>
            </a:p>
          </p:txBody>
        </p:sp>
        <p:sp>
          <p:nvSpPr>
            <p:cNvPr id="40" name="Rounded Rectangle 39"/>
            <p:cNvSpPr/>
            <p:nvPr/>
          </p:nvSpPr>
          <p:spPr bwMode="auto">
            <a:xfrm>
              <a:off x="4541520" y="3496955"/>
              <a:ext cx="1630680" cy="487680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vert="horz" wrap="square" lIns="91436" tIns="45718" rIns="91436" bIns="45718" numCol="1" rtlCol="0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099"/>
              <a:r>
                <a:rPr lang="en-US" dirty="0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rebuchet MS" pitchFamily="34" charset="0"/>
                </a:rPr>
                <a:t>Globalization</a:t>
              </a:r>
            </a:p>
          </p:txBody>
        </p:sp>
        <p:sp>
          <p:nvSpPr>
            <p:cNvPr id="41" name="Rounded Rectangle 40"/>
            <p:cNvSpPr/>
            <p:nvPr/>
          </p:nvSpPr>
          <p:spPr bwMode="auto">
            <a:xfrm>
              <a:off x="2042160" y="4594235"/>
              <a:ext cx="1219200" cy="487680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vert="horz" wrap="square" lIns="91436" tIns="45718" rIns="91436" bIns="45718" numCol="1" rtlCol="0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099"/>
              <a:r>
                <a:rPr lang="en-US" dirty="0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rebuchet MS" pitchFamily="34" charset="0"/>
                </a:rPr>
                <a:t>Profile</a:t>
              </a:r>
            </a:p>
          </p:txBody>
        </p:sp>
        <p:sp>
          <p:nvSpPr>
            <p:cNvPr id="42" name="Rounded Rectangle 41"/>
            <p:cNvSpPr/>
            <p:nvPr/>
          </p:nvSpPr>
          <p:spPr bwMode="auto">
            <a:xfrm>
              <a:off x="4541520" y="4060835"/>
              <a:ext cx="1630680" cy="487680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vert="horz" wrap="square" lIns="91436" tIns="45718" rIns="91436" bIns="45718" numCol="1" rtlCol="0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099"/>
              <a:r>
                <a:rPr lang="en-US" dirty="0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rebuchet MS" pitchFamily="34" charset="0"/>
                </a:rPr>
                <a:t>Master Pages</a:t>
              </a:r>
            </a:p>
          </p:txBody>
        </p:sp>
        <p:sp>
          <p:nvSpPr>
            <p:cNvPr id="43" name="Rounded Rectangle 42"/>
            <p:cNvSpPr/>
            <p:nvPr/>
          </p:nvSpPr>
          <p:spPr bwMode="auto">
            <a:xfrm>
              <a:off x="4541520" y="4624715"/>
              <a:ext cx="1630680" cy="487680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vert="horz" wrap="square" lIns="91436" tIns="45718" rIns="91436" bIns="45718" numCol="1" rtlCol="0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099"/>
              <a:r>
                <a:rPr lang="en-US" dirty="0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rebuchet MS" pitchFamily="34" charset="0"/>
                </a:rPr>
                <a:t>Membership</a:t>
              </a:r>
            </a:p>
          </p:txBody>
        </p:sp>
        <p:sp>
          <p:nvSpPr>
            <p:cNvPr id="44" name="Rounded Rectangle 43"/>
            <p:cNvSpPr/>
            <p:nvPr/>
          </p:nvSpPr>
          <p:spPr bwMode="auto">
            <a:xfrm>
              <a:off x="3322320" y="4609475"/>
              <a:ext cx="1158240" cy="487680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vert="horz" wrap="square" lIns="91436" tIns="45718" rIns="91436" bIns="45718" numCol="1" rtlCol="0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099"/>
              <a:r>
                <a:rPr lang="en-US" dirty="0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rebuchet MS" pitchFamily="34" charset="0"/>
                </a:rPr>
                <a:t>Roles</a:t>
              </a:r>
            </a:p>
          </p:txBody>
        </p:sp>
        <p:sp>
          <p:nvSpPr>
            <p:cNvPr id="45" name="Rounded Rectangle 44"/>
            <p:cNvSpPr/>
            <p:nvPr/>
          </p:nvSpPr>
          <p:spPr bwMode="auto">
            <a:xfrm>
              <a:off x="4541520" y="5173355"/>
              <a:ext cx="1630680" cy="487680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vert="horz" wrap="square" lIns="91436" tIns="45718" rIns="91436" bIns="45718" numCol="1" rtlCol="0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099"/>
              <a:r>
                <a:rPr lang="en-US" dirty="0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rebuchet MS" pitchFamily="34" charset="0"/>
                </a:rPr>
                <a:t>Etc...</a:t>
              </a:r>
            </a:p>
          </p:txBody>
        </p:sp>
        <p:sp>
          <p:nvSpPr>
            <p:cNvPr id="46" name="TextBox 35"/>
            <p:cNvSpPr txBox="1"/>
            <p:nvPr/>
          </p:nvSpPr>
          <p:spPr>
            <a:xfrm>
              <a:off x="3448627" y="2924078"/>
              <a:ext cx="1317105" cy="519537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3600" dirty="0" smtClean="0">
                  <a:solidFill>
                    <a:schemeClr val="bg1"/>
                  </a:solidFill>
                </a:rPr>
                <a:t>ASP.NET</a:t>
              </a:r>
              <a:endParaRPr lang="en-US" sz="36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99300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CFF33"/>
                </a:solidFill>
              </a:rPr>
              <a:t>ASP.NET Web Forms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Stable </a:t>
            </a:r>
            <a:r>
              <a:rPr lang="en-US" dirty="0"/>
              <a:t>and mature, </a:t>
            </a:r>
            <a:r>
              <a:rPr lang="en-US" dirty="0" smtClean="0"/>
              <a:t>supported </a:t>
            </a:r>
            <a:r>
              <a:rPr lang="en-US" dirty="0"/>
              <a:t>by heaps of third party controls and tools</a:t>
            </a:r>
            <a:endParaRPr lang="en-US" dirty="0" smtClean="0"/>
          </a:p>
          <a:p>
            <a:r>
              <a:rPr lang="en-US" dirty="0" smtClean="0"/>
              <a:t>Event driven web development</a:t>
            </a:r>
          </a:p>
          <a:p>
            <a:r>
              <a:rPr lang="en-US" dirty="0" err="1"/>
              <a:t>Postbacks</a:t>
            </a:r>
            <a:endParaRPr lang="en-US" dirty="0"/>
          </a:p>
          <a:p>
            <a:r>
              <a:rPr lang="en-US" dirty="0" err="1" smtClean="0"/>
              <a:t>Viewstate</a:t>
            </a:r>
            <a:endParaRPr lang="en-US" dirty="0" smtClean="0"/>
          </a:p>
          <a:p>
            <a:r>
              <a:rPr lang="en-US" dirty="0" smtClean="0"/>
              <a:t>Less </a:t>
            </a:r>
            <a:r>
              <a:rPr lang="en-US" dirty="0"/>
              <a:t>control over the HTML</a:t>
            </a:r>
          </a:p>
          <a:p>
            <a:r>
              <a:rPr lang="en-US" dirty="0"/>
              <a:t>Hard to test</a:t>
            </a:r>
          </a:p>
          <a:p>
            <a:r>
              <a:rPr lang="en-US" dirty="0"/>
              <a:t>Rapid </a:t>
            </a:r>
            <a:r>
              <a:rPr lang="en-US" dirty="0" smtClean="0"/>
              <a:t>development</a:t>
            </a:r>
          </a:p>
        </p:txBody>
      </p:sp>
      <p:pic>
        <p:nvPicPr>
          <p:cNvPr id="1026" name="Picture 2" descr="https://twimg0-a.akamaihd.net/profile_images/2600136208/4zeimmsdyc58esq34wbi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2895600"/>
            <a:ext cx="2971800" cy="29718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3458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ASP.NET History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838200"/>
            <a:ext cx="8839200" cy="5791200"/>
          </a:xfrm>
        </p:spPr>
        <p:txBody>
          <a:bodyPr/>
          <a:lstStyle/>
          <a:p>
            <a:r>
              <a:rPr lang="en-US" dirty="0" smtClean="0"/>
              <a:t>Classic ASP introduced in late 1990's</a:t>
            </a:r>
          </a:p>
          <a:p>
            <a:r>
              <a:rPr lang="en-US" dirty="0" smtClean="0"/>
              <a:t>ASP.NET 1.0 – 2002 (Web Forms)</a:t>
            </a:r>
          </a:p>
          <a:p>
            <a:r>
              <a:rPr lang="en-US" dirty="0" smtClean="0"/>
              <a:t>ASP.NET 2.0 – 2005 (Data management)</a:t>
            </a:r>
          </a:p>
          <a:p>
            <a:r>
              <a:rPr lang="en-US" dirty="0" smtClean="0"/>
              <a:t>ASP.NET 3.5 – 2008 (First version of MVC)</a:t>
            </a:r>
          </a:p>
          <a:p>
            <a:pPr lvl="1"/>
            <a:r>
              <a:rPr lang="en-US" dirty="0" smtClean="0"/>
              <a:t>Two more versions in next two years</a:t>
            </a:r>
          </a:p>
          <a:p>
            <a:r>
              <a:rPr lang="en-US" dirty="0" smtClean="0"/>
              <a:t>ASP.NET 4 – 2010 (VS 2010, MVC 2.0, Razor)</a:t>
            </a:r>
          </a:p>
          <a:p>
            <a:r>
              <a:rPr lang="en-US" dirty="0" smtClean="0"/>
              <a:t>ASP.NET 4.5 (First version of Web API, VS 2012)</a:t>
            </a:r>
          </a:p>
          <a:p>
            <a:r>
              <a:rPr lang="en-US" dirty="0" smtClean="0"/>
              <a:t>February 2013 – </a:t>
            </a:r>
            <a:r>
              <a:rPr lang="en-US" dirty="0" err="1" smtClean="0"/>
              <a:t>SignalR</a:t>
            </a:r>
            <a:endParaRPr lang="en-US" dirty="0" smtClean="0"/>
          </a:p>
          <a:p>
            <a:r>
              <a:rPr lang="en-US" dirty="0" smtClean="0"/>
              <a:t>Autumn 2013 – VS 2013, One ASP.NET, MVC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8145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One ASP.NET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Web Forms</a:t>
            </a:r>
          </a:p>
          <a:p>
            <a:pPr lvl="1"/>
            <a:r>
              <a:rPr lang="en-US" dirty="0" smtClean="0"/>
              <a:t>Component-based</a:t>
            </a:r>
          </a:p>
          <a:p>
            <a:r>
              <a:rPr lang="en-US" dirty="0" smtClean="0"/>
              <a:t>ASP.NET MVC</a:t>
            </a:r>
          </a:p>
          <a:p>
            <a:r>
              <a:rPr lang="en-US" dirty="0" smtClean="0"/>
              <a:t>Web Pages</a:t>
            </a:r>
          </a:p>
          <a:p>
            <a:pPr lvl="1"/>
            <a:r>
              <a:rPr lang="en-US" dirty="0"/>
              <a:t>Lightweight </a:t>
            </a:r>
            <a:r>
              <a:rPr lang="en-US" dirty="0" smtClean="0"/>
              <a:t>framework for dynamic content</a:t>
            </a:r>
          </a:p>
          <a:p>
            <a:r>
              <a:rPr lang="en-US" dirty="0" smtClean="0"/>
              <a:t>Web API</a:t>
            </a:r>
          </a:p>
          <a:p>
            <a:pPr lvl="1"/>
            <a:r>
              <a:rPr lang="en-US" dirty="0"/>
              <a:t>Framework for building </a:t>
            </a:r>
            <a:r>
              <a:rPr lang="en-US" dirty="0" err="1"/>
              <a:t>RESTful</a:t>
            </a:r>
            <a:r>
              <a:rPr lang="en-US" dirty="0"/>
              <a:t> Web </a:t>
            </a:r>
            <a:r>
              <a:rPr lang="en-US" dirty="0" smtClean="0"/>
              <a:t>services</a:t>
            </a:r>
          </a:p>
          <a:p>
            <a:r>
              <a:rPr lang="en-US" dirty="0" err="1" smtClean="0"/>
              <a:t>SignalR</a:t>
            </a:r>
            <a:endParaRPr lang="en-US" dirty="0" smtClean="0"/>
          </a:p>
          <a:p>
            <a:pPr lvl="1"/>
            <a:r>
              <a:rPr lang="en-US" dirty="0" smtClean="0"/>
              <a:t>Real-time client-server </a:t>
            </a:r>
            <a:r>
              <a:rPr lang="en-US" dirty="0"/>
              <a:t>communication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  <p:pic>
        <p:nvPicPr>
          <p:cNvPr id="5" name="Picture 2" descr="All the parts of ASP.NET, all the subsystems are all part of the larger ASP.NET community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" t="-1256" r="-1"/>
          <a:stretch/>
        </p:blipFill>
        <p:spPr bwMode="auto">
          <a:xfrm>
            <a:off x="4267200" y="1143000"/>
            <a:ext cx="4460203" cy="1996889"/>
          </a:xfrm>
          <a:prstGeom prst="roundRect">
            <a:avLst>
              <a:gd name="adj" fmla="val 1885"/>
            </a:avLst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117254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ASP.NET MVC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Runs on top of ASP.NET</a:t>
            </a:r>
          </a:p>
          <a:p>
            <a:pPr lvl="1"/>
            <a:r>
              <a:rPr lang="en-US" dirty="0"/>
              <a:t>Not a replacement for </a:t>
            </a:r>
            <a:r>
              <a:rPr lang="en-US" dirty="0" err="1" smtClean="0"/>
              <a:t>WebForms</a:t>
            </a:r>
            <a:endParaRPr lang="en-US" dirty="0" smtClean="0"/>
          </a:p>
          <a:p>
            <a:pPr lvl="1"/>
            <a:r>
              <a:rPr lang="en-US" dirty="0" smtClean="0"/>
              <a:t>Leverage the benefits of ASP.NET</a:t>
            </a:r>
            <a:endParaRPr lang="en-US" dirty="0"/>
          </a:p>
          <a:p>
            <a:r>
              <a:rPr lang="en-US" dirty="0" smtClean="0"/>
              <a:t>Embrace the web</a:t>
            </a:r>
          </a:p>
          <a:p>
            <a:pPr lvl="1"/>
            <a:r>
              <a:rPr lang="en-US" sz="2800" dirty="0"/>
              <a:t>User/SEO friendly </a:t>
            </a:r>
            <a:r>
              <a:rPr lang="en-US" sz="2800" dirty="0" smtClean="0"/>
              <a:t>URLs, HTML 5, SPA</a:t>
            </a:r>
          </a:p>
          <a:p>
            <a:pPr lvl="1"/>
            <a:r>
              <a:rPr lang="en-US" sz="2800" dirty="0" smtClean="0"/>
              <a:t>Adopt REST concepts</a:t>
            </a:r>
            <a:endParaRPr lang="en-US" dirty="0" smtClean="0"/>
          </a:p>
          <a:p>
            <a:r>
              <a:rPr lang="en-US" dirty="0" smtClean="0"/>
              <a:t>Uses MVC pattern</a:t>
            </a:r>
          </a:p>
          <a:p>
            <a:pPr lvl="1"/>
            <a:r>
              <a:rPr lang="en-US" sz="2800" dirty="0"/>
              <a:t>Conventions and </a:t>
            </a:r>
            <a:r>
              <a:rPr lang="en-US" sz="2800" dirty="0" smtClean="0"/>
              <a:t>Guidance</a:t>
            </a:r>
          </a:p>
          <a:p>
            <a:pPr lvl="1"/>
            <a:r>
              <a:rPr lang="en-US" sz="2800" dirty="0" smtClean="0"/>
              <a:t>Separation of concerns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  <p:pic>
        <p:nvPicPr>
          <p:cNvPr id="5" name="Picture 4" descr="http://4.bp.blogspot.com/-e6I8CyF7AG4/UOKfFIZfoyI/AAAAAAAABNs/2L68gGJhvrg/s1600/asp.net%2Bmvc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4191000"/>
            <a:ext cx="2190750" cy="2190750"/>
          </a:xfrm>
          <a:prstGeom prst="rect">
            <a:avLst/>
          </a:prstGeom>
          <a:solidFill>
            <a:srgbClr val="FFFFFF">
              <a:shade val="85000"/>
            </a:srgbClr>
          </a:solidFill>
          <a:ln w="101600" cap="sq">
            <a:solidFill>
              <a:srgbClr val="FDFDFD"/>
            </a:solidFill>
            <a:miter lim="800000"/>
          </a:ln>
          <a:effectLst>
            <a:outerShdw blurRad="57150" dist="37500" dir="7560000" sy="98000" kx="110000" ky="200000" algn="tl" rotWithShape="0">
              <a:srgbClr val="000000">
                <a:alpha val="20000"/>
              </a:srgbClr>
            </a:outerShdw>
          </a:effectLst>
          <a:scene3d>
            <a:camera prst="perspectiveRelaxed">
              <a:rot lat="18960000" lon="0" rev="0"/>
            </a:camera>
            <a:lightRig rig="twoPt" dir="t">
              <a:rot lat="0" lon="0" rev="7200000"/>
            </a:lightRig>
          </a:scene3d>
          <a:sp3d prstMaterial="matte">
            <a:bevelT w="22860" h="12700"/>
            <a:contourClr>
              <a:srgbClr val="FFFFFF"/>
            </a:contourClr>
          </a:sp3d>
          <a:extLst/>
        </p:spPr>
      </p:pic>
    </p:spTree>
    <p:extLst>
      <p:ext uri="{BB962C8B-B14F-4D97-AF65-F5344CB8AC3E}">
        <p14:creationId xmlns:p14="http://schemas.microsoft.com/office/powerpoint/2010/main" val="3904409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ASP.NET </a:t>
            </a:r>
            <a:r>
              <a:rPr lang="en-US" dirty="0" smtClean="0"/>
              <a:t>MVC (2)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838200"/>
            <a:ext cx="8686800" cy="5791200"/>
          </a:xfrm>
        </p:spPr>
        <p:txBody>
          <a:bodyPr/>
          <a:lstStyle/>
          <a:p>
            <a:r>
              <a:rPr lang="en-US" dirty="0" smtClean="0"/>
              <a:t>Tight control over markup</a:t>
            </a:r>
          </a:p>
          <a:p>
            <a:r>
              <a:rPr lang="en-US" dirty="0" smtClean="0"/>
              <a:t>Testable</a:t>
            </a:r>
          </a:p>
          <a:p>
            <a:r>
              <a:rPr lang="en-US" dirty="0"/>
              <a:t>Loosely coupled and </a:t>
            </a:r>
            <a:r>
              <a:rPr lang="en-US" dirty="0" smtClean="0"/>
              <a:t>extensible</a:t>
            </a:r>
          </a:p>
          <a:p>
            <a:r>
              <a:rPr lang="en-US" dirty="0" smtClean="0"/>
              <a:t>Convention over configuration</a:t>
            </a:r>
          </a:p>
          <a:p>
            <a:r>
              <a:rPr lang="en-US" dirty="0" smtClean="0"/>
              <a:t>Razor view engine</a:t>
            </a:r>
          </a:p>
          <a:p>
            <a:pPr lvl="1"/>
            <a:r>
              <a:rPr lang="en-US" dirty="0" smtClean="0"/>
              <a:t>One of the greatest view engines</a:t>
            </a:r>
          </a:p>
          <a:p>
            <a:pPr lvl="1"/>
            <a:r>
              <a:rPr lang="en-US" dirty="0"/>
              <a:t>With </a:t>
            </a:r>
            <a:r>
              <a:rPr lang="en-US" dirty="0" err="1" smtClean="0"/>
              <a:t>intellisense</a:t>
            </a:r>
            <a:r>
              <a:rPr lang="en-US" dirty="0"/>
              <a:t>, </a:t>
            </a:r>
            <a:r>
              <a:rPr lang="en-US" dirty="0" smtClean="0"/>
              <a:t>integrated in Visual Studio</a:t>
            </a:r>
            <a:endParaRPr lang="en-US" dirty="0"/>
          </a:p>
          <a:p>
            <a:r>
              <a:rPr lang="en-US" dirty="0" smtClean="0"/>
              <a:t>Reuse of current skills (C#, EF, LINQ, JS, etc.)</a:t>
            </a:r>
          </a:p>
          <a:p>
            <a:r>
              <a:rPr lang="en-US" dirty="0"/>
              <a:t>Application-based (not scripts like PHP)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2786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ASP.NET MVC History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839200" cy="5791200"/>
          </a:xfrm>
        </p:spPr>
        <p:txBody>
          <a:bodyPr/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ASP.NET MVC </a:t>
            </a:r>
            <a:r>
              <a:rPr lang="en-US" dirty="0" smtClean="0"/>
              <a:t>1.0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In February 2007, Scott Guthrie </a:t>
            </a:r>
            <a:r>
              <a:rPr lang="en-US" dirty="0" smtClean="0"/>
              <a:t>("</a:t>
            </a:r>
            <a:r>
              <a:rPr lang="en-US" dirty="0" smtClean="0">
                <a:hlinkClick r:id="rId2"/>
              </a:rPr>
              <a:t>ScottGu</a:t>
            </a:r>
            <a:r>
              <a:rPr lang="en-US" dirty="0" smtClean="0"/>
              <a:t>") </a:t>
            </a:r>
            <a:r>
              <a:rPr lang="en-US" dirty="0"/>
              <a:t>of Microsoft sketched out the core of ASP.NET </a:t>
            </a:r>
            <a:r>
              <a:rPr lang="en-US" dirty="0" smtClean="0"/>
              <a:t>MVC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dirty="0" smtClean="0"/>
              <a:t>Released </a:t>
            </a:r>
            <a:r>
              <a:rPr lang="en-US" dirty="0"/>
              <a:t>on 13 March 2009</a:t>
            </a:r>
            <a:endParaRPr lang="bg-BG" dirty="0" smtClean="0"/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 smtClean="0"/>
              <a:t>ASP.NET MVC 2.0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dirty="0" smtClean="0"/>
              <a:t>Released </a:t>
            </a:r>
            <a:r>
              <a:rPr lang="en-US" dirty="0"/>
              <a:t>just one year later, </a:t>
            </a:r>
            <a:r>
              <a:rPr lang="en-US" dirty="0" smtClean="0"/>
              <a:t>on 10 March 2010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 smtClean="0"/>
              <a:t>ASP.NET MVC 3.0 – 13 </a:t>
            </a:r>
            <a:r>
              <a:rPr lang="en-US" dirty="0"/>
              <a:t>January </a:t>
            </a:r>
            <a:r>
              <a:rPr lang="en-US" dirty="0" smtClean="0"/>
              <a:t>2011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 smtClean="0"/>
              <a:t>ASP.NET MVC 4.0 – 15 August 2012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 smtClean="0"/>
              <a:t>ASP.NET MVC 5.0 – Later this year</a:t>
            </a:r>
            <a:r>
              <a:rPr lang="bg-BG" dirty="0" smtClean="0"/>
              <a:t> (2013)</a:t>
            </a:r>
            <a:endParaRPr lang="en-US" dirty="0" smtClean="0"/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dirty="0" smtClean="0"/>
              <a:t>Release Candidate is currently available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  <p:pic>
        <p:nvPicPr>
          <p:cNvPr id="5" name="Picture 2" descr="http://www.davidhayden.me/media/default/posts/ASP.NET-MVC-4-Bundling-and-Minification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0529" y="2590800"/>
            <a:ext cx="2705544" cy="9144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</p:spTree>
    <p:extLst>
      <p:ext uri="{BB962C8B-B14F-4D97-AF65-F5344CB8AC3E}">
        <p14:creationId xmlns:p14="http://schemas.microsoft.com/office/powerpoint/2010/main" val="2504544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Separation of Concerns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Each component has one </a:t>
            </a:r>
            <a:r>
              <a:rPr lang="en-US" dirty="0" smtClean="0"/>
              <a:t>responsibility</a:t>
            </a:r>
          </a:p>
          <a:p>
            <a:pPr lvl="1"/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SRP</a:t>
            </a:r>
            <a:r>
              <a:rPr lang="en-US" dirty="0"/>
              <a:t> – Single Responsibility </a:t>
            </a:r>
            <a:r>
              <a:rPr lang="en-US" dirty="0" smtClean="0"/>
              <a:t>Principle</a:t>
            </a:r>
          </a:p>
          <a:p>
            <a:pPr lvl="1"/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DRY</a:t>
            </a:r>
            <a:r>
              <a:rPr lang="en-US" dirty="0"/>
              <a:t> – Don’t Repeat Yourself</a:t>
            </a:r>
          </a:p>
          <a:p>
            <a:r>
              <a:rPr lang="en-US" dirty="0"/>
              <a:t>More easily </a:t>
            </a:r>
            <a:r>
              <a:rPr lang="en-US" dirty="0" smtClean="0"/>
              <a:t>testable</a:t>
            </a:r>
          </a:p>
          <a:p>
            <a:pPr lvl="1"/>
            <a:r>
              <a:rPr lang="en-US" dirty="0" smtClean="0">
                <a:solidFill>
                  <a:schemeClr val="accent6">
                    <a:lumMod val="40000"/>
                    <a:lumOff val="60000"/>
                  </a:schemeClr>
                </a:solidFill>
              </a:rPr>
              <a:t>TDD</a:t>
            </a:r>
            <a:r>
              <a:rPr lang="en-US" dirty="0" smtClean="0"/>
              <a:t> – Test-driven development</a:t>
            </a:r>
          </a:p>
          <a:p>
            <a:r>
              <a:rPr lang="en-US" dirty="0"/>
              <a:t>Helps with concurrent </a:t>
            </a:r>
            <a:r>
              <a:rPr lang="en-US" dirty="0" smtClean="0"/>
              <a:t>development</a:t>
            </a:r>
          </a:p>
          <a:p>
            <a:pPr lvl="1"/>
            <a:r>
              <a:rPr lang="en-US" dirty="0" smtClean="0"/>
              <a:t>Performing </a:t>
            </a:r>
            <a:r>
              <a:rPr lang="en-US" dirty="0"/>
              <a:t>tasks </a:t>
            </a:r>
            <a:r>
              <a:rPr lang="en-US" dirty="0" smtClean="0"/>
              <a:t>concurrently</a:t>
            </a:r>
          </a:p>
          <a:p>
            <a:pPr lvl="2"/>
            <a:r>
              <a:rPr lang="en-US" dirty="0" smtClean="0"/>
              <a:t>One developer works on views</a:t>
            </a:r>
          </a:p>
          <a:p>
            <a:pPr lvl="2"/>
            <a:r>
              <a:rPr lang="en-US" dirty="0" smtClean="0"/>
              <a:t>Another works on controllers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  <p:pic>
        <p:nvPicPr>
          <p:cNvPr id="5" name="Picture 2" descr="d:\Desktop\srp1[1]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00800" y="2286000"/>
            <a:ext cx="2279963" cy="182397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60814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Extensible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Replace any component of the </a:t>
            </a:r>
            <a:r>
              <a:rPr lang="en-US" dirty="0" smtClean="0"/>
              <a:t>system</a:t>
            </a:r>
          </a:p>
          <a:p>
            <a:pPr lvl="1"/>
            <a:r>
              <a:rPr lang="en-US" dirty="0" smtClean="0"/>
              <a:t>Interface-based architecture</a:t>
            </a:r>
          </a:p>
          <a:p>
            <a:r>
              <a:rPr lang="en-US" dirty="0" smtClean="0"/>
              <a:t>Almost anything can be replaced or extended</a:t>
            </a:r>
          </a:p>
          <a:p>
            <a:pPr lvl="1"/>
            <a:r>
              <a:rPr lang="en-US" dirty="0" smtClean="0"/>
              <a:t>Model </a:t>
            </a:r>
            <a:r>
              <a:rPr lang="en-US" dirty="0"/>
              <a:t>binders </a:t>
            </a:r>
            <a:r>
              <a:rPr lang="en-US" dirty="0" smtClean="0"/>
              <a:t>(request data to </a:t>
            </a:r>
            <a:r>
              <a:rPr lang="en-US" dirty="0"/>
              <a:t>CLR objects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Action/result </a:t>
            </a:r>
            <a:r>
              <a:rPr lang="en-US" dirty="0"/>
              <a:t>filters </a:t>
            </a:r>
            <a:r>
              <a:rPr lang="en-US" dirty="0" smtClean="0"/>
              <a:t>(e.g. </a:t>
            </a:r>
            <a:r>
              <a:rPr lang="en-US" dirty="0" err="1" smtClean="0"/>
              <a:t>OnActionExecuting</a:t>
            </a:r>
            <a:r>
              <a:rPr lang="en-US" dirty="0" smtClean="0"/>
              <a:t>)</a:t>
            </a:r>
          </a:p>
          <a:p>
            <a:pPr lvl="1"/>
            <a:r>
              <a:rPr lang="en-US" dirty="0"/>
              <a:t>Custom action result types</a:t>
            </a:r>
          </a:p>
          <a:p>
            <a:pPr lvl="1"/>
            <a:r>
              <a:rPr lang="en-US" dirty="0"/>
              <a:t>View engine (Razor, </a:t>
            </a:r>
            <a:r>
              <a:rPr lang="en-US" dirty="0" err="1"/>
              <a:t>WebForms</a:t>
            </a:r>
            <a:r>
              <a:rPr lang="en-US" dirty="0"/>
              <a:t>, </a:t>
            </a:r>
            <a:r>
              <a:rPr lang="en-US" dirty="0" err="1"/>
              <a:t>NHaml</a:t>
            </a:r>
            <a:r>
              <a:rPr lang="en-US" dirty="0"/>
              <a:t>, Spark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View helpers (HTML, AJAX, URL, etc.)</a:t>
            </a:r>
            <a:endParaRPr lang="en-US" dirty="0"/>
          </a:p>
          <a:p>
            <a:pPr lvl="1"/>
            <a:r>
              <a:rPr lang="en-US" dirty="0" smtClean="0"/>
              <a:t>Custom data providers (ADO.NET), etc.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4089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Clean URLs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REST-like</a:t>
            </a:r>
          </a:p>
          <a:p>
            <a:pPr lvl="1"/>
            <a:r>
              <a:rPr lang="en-US" dirty="0"/>
              <a:t>/products/update</a:t>
            </a:r>
          </a:p>
          <a:p>
            <a:pPr lvl="1"/>
            <a:r>
              <a:rPr lang="en-US" dirty="0"/>
              <a:t>/</a:t>
            </a:r>
            <a:r>
              <a:rPr lang="en-US" dirty="0" smtClean="0"/>
              <a:t>blog/posts/2013/01/28/</a:t>
            </a:r>
            <a:r>
              <a:rPr lang="en-US" dirty="0" err="1" smtClean="0"/>
              <a:t>mvc</a:t>
            </a:r>
            <a:r>
              <a:rPr lang="en-US" dirty="0" smtClean="0"/>
              <a:t>-is-cool</a:t>
            </a:r>
            <a:endParaRPr lang="en-US" dirty="0"/>
          </a:p>
          <a:p>
            <a:r>
              <a:rPr lang="en-US" dirty="0"/>
              <a:t>Friendlier to </a:t>
            </a:r>
            <a:r>
              <a:rPr lang="en-US" dirty="0" smtClean="0"/>
              <a:t>humans</a:t>
            </a:r>
          </a:p>
          <a:p>
            <a:pPr lvl="1"/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/</a:t>
            </a:r>
            <a:r>
              <a:rPr lang="en-US" dirty="0" err="1" smtClean="0">
                <a:solidFill>
                  <a:schemeClr val="accent6">
                    <a:lumMod val="40000"/>
                    <a:lumOff val="60000"/>
                  </a:schemeClr>
                </a:solidFill>
              </a:rPr>
              <a:t>product.aspx?catId</a:t>
            </a:r>
            <a:r>
              <a:rPr lang="en-US" dirty="0" smtClean="0">
                <a:solidFill>
                  <a:schemeClr val="accent6">
                    <a:lumMod val="40000"/>
                    <a:lumOff val="60000"/>
                  </a:schemeClr>
                </a:solidFill>
              </a:rPr>
              <a:t>=123 </a:t>
            </a:r>
            <a:r>
              <a:rPr lang="en-US" dirty="0" smtClean="0"/>
              <a:t>or </a:t>
            </a:r>
            <a:r>
              <a:rPr lang="en-US" dirty="0" err="1" smtClean="0">
                <a:solidFill>
                  <a:schemeClr val="accent6">
                    <a:lumMod val="40000"/>
                    <a:lumOff val="60000"/>
                  </a:schemeClr>
                </a:solidFill>
              </a:rPr>
              <a:t>post.php?id</a:t>
            </a:r>
            <a:r>
              <a:rPr lang="en-US" dirty="0" smtClean="0">
                <a:solidFill>
                  <a:schemeClr val="accent6">
                    <a:lumMod val="40000"/>
                    <a:lumOff val="60000"/>
                  </a:schemeClr>
                </a:solidFill>
              </a:rPr>
              <a:t>=123</a:t>
            </a:r>
          </a:p>
          <a:p>
            <a:pPr lvl="1"/>
            <a:r>
              <a:rPr lang="en-US" dirty="0">
                <a:solidFill>
                  <a:srgbClr val="EBFFD2"/>
                </a:solidFill>
              </a:rPr>
              <a:t>Becomes </a:t>
            </a:r>
            <a:r>
              <a:rPr lang="en-US" dirty="0" smtClean="0">
                <a:solidFill>
                  <a:srgbClr val="EBFFD2"/>
                </a:solidFill>
              </a:rPr>
              <a:t>/products/chocolate/</a:t>
            </a:r>
          </a:p>
          <a:p>
            <a:r>
              <a:rPr lang="en-US" dirty="0"/>
              <a:t>Friendlier to web </a:t>
            </a:r>
            <a:r>
              <a:rPr lang="en-US" dirty="0" smtClean="0"/>
              <a:t>crawlers</a:t>
            </a:r>
          </a:p>
          <a:p>
            <a:pPr lvl="1"/>
            <a:r>
              <a:rPr lang="en-US" dirty="0">
                <a:solidFill>
                  <a:srgbClr val="EBFFD2"/>
                </a:solidFill>
              </a:rPr>
              <a:t>Search engine optimization (SEO)</a:t>
            </a:r>
          </a:p>
          <a:p>
            <a:pPr lvl="1"/>
            <a:endParaRPr lang="en-US" dirty="0" smtClean="0"/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5457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Community-based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ASP.NET MVC, Web API, and Web Pages source </a:t>
            </a:r>
            <a:r>
              <a:rPr lang="en-US" dirty="0" smtClean="0"/>
              <a:t>code is available in </a:t>
            </a:r>
            <a:r>
              <a:rPr lang="en-US" dirty="0" err="1" smtClean="0"/>
              <a:t>CodePlex</a:t>
            </a:r>
            <a:r>
              <a:rPr lang="en-US" dirty="0" smtClean="0"/>
              <a:t>:</a:t>
            </a:r>
          </a:p>
          <a:p>
            <a:pPr lvl="1"/>
            <a:r>
              <a:rPr lang="en-US" dirty="0">
                <a:hlinkClick r:id="rId2"/>
              </a:rPr>
              <a:t>http://aspnetwebstack.codeplex.com</a:t>
            </a:r>
            <a:r>
              <a:rPr lang="en-US" dirty="0" smtClean="0">
                <a:hlinkClick r:id="rId2"/>
              </a:rPr>
              <a:t>/</a:t>
            </a:r>
            <a:endParaRPr lang="en-US" dirty="0" smtClean="0"/>
          </a:p>
          <a:p>
            <a:r>
              <a:rPr lang="en-US" dirty="0" smtClean="0"/>
              <a:t>You can vote for new features in ASP.NET </a:t>
            </a:r>
            <a:r>
              <a:rPr lang="en-US" dirty="0" err="1" smtClean="0"/>
              <a:t>UserVoice</a:t>
            </a:r>
            <a:r>
              <a:rPr lang="en-US" dirty="0" smtClean="0"/>
              <a:t> site</a:t>
            </a:r>
          </a:p>
          <a:p>
            <a:pPr lvl="1"/>
            <a:r>
              <a:rPr lang="en-US" dirty="0">
                <a:hlinkClick r:id="rId3"/>
              </a:rPr>
              <a:t>http://aspnet.uservoice.com/forums/41199-general-asp-net</a:t>
            </a:r>
          </a:p>
          <a:p>
            <a:pPr lvl="1"/>
            <a:r>
              <a:rPr lang="en-US" dirty="0" smtClean="0">
                <a:hlinkClick r:id="rId3"/>
              </a:rPr>
              <a:t>http</a:t>
            </a:r>
            <a:r>
              <a:rPr lang="en-US" dirty="0">
                <a:hlinkClick r:id="rId3"/>
              </a:rPr>
              <a:t>://</a:t>
            </a:r>
            <a:r>
              <a:rPr lang="en-US" dirty="0" smtClean="0">
                <a:hlinkClick r:id="rId3"/>
              </a:rPr>
              <a:t>aspnet.uservoice.com/forums/41201-asp-net-mvc</a:t>
            </a:r>
            <a:endParaRPr lang="en-US" dirty="0" smtClean="0"/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3364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MVC Pattern in ASP.NET MVC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30</a:t>
            </a:fld>
            <a:endParaRPr lang="en-US" dirty="0"/>
          </a:p>
        </p:txBody>
      </p:sp>
      <p:sp>
        <p:nvSpPr>
          <p:cNvPr id="5" name="Right Arrow 4"/>
          <p:cNvSpPr/>
          <p:nvPr/>
        </p:nvSpPr>
        <p:spPr>
          <a:xfrm>
            <a:off x="533400" y="1219200"/>
            <a:ext cx="2264253" cy="1066800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/Users/</a:t>
            </a:r>
            <a:r>
              <a:rPr lang="en-US" sz="2800" b="1" dirty="0" err="1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Niki</a:t>
            </a:r>
            <a:r>
              <a:rPr lang="en-US" sz="28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/</a:t>
            </a:r>
            <a:endParaRPr lang="en-US" sz="36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581400" y="3008241"/>
            <a:ext cx="2599766" cy="10668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Controller</a:t>
            </a:r>
          </a:p>
          <a:p>
            <a:pPr algn="ctr"/>
            <a:r>
              <a:rPr lang="en-US" sz="36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(C# class)</a:t>
            </a:r>
            <a:endParaRPr lang="en-US" sz="36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28600" y="1062335"/>
            <a:ext cx="2057400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200" b="1" cap="none" spc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HTTP </a:t>
            </a:r>
            <a:r>
              <a:rPr lang="en-US" sz="2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R</a:t>
            </a:r>
            <a:r>
              <a:rPr lang="en-US" sz="2400" b="1" cap="none" spc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equest</a:t>
            </a:r>
            <a:endParaRPr lang="en-US" sz="22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964370" y="1115631"/>
            <a:ext cx="3341430" cy="123125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ASP.NET MVC Routing engine</a:t>
            </a:r>
            <a:endParaRPr lang="en-US" sz="36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9" name="Down Arrow 8"/>
          <p:cNvSpPr/>
          <p:nvPr/>
        </p:nvSpPr>
        <p:spPr>
          <a:xfrm rot="1213933">
            <a:off x="4783955" y="2350777"/>
            <a:ext cx="360830" cy="681676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3600" b="1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324600" y="5105399"/>
            <a:ext cx="2362200" cy="116634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Model (POCO)</a:t>
            </a:r>
            <a:endParaRPr lang="en-US" sz="36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09600" y="5105399"/>
            <a:ext cx="2801470" cy="116634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View engine</a:t>
            </a:r>
          </a:p>
          <a:p>
            <a:pPr algn="ctr"/>
            <a:r>
              <a:rPr lang="en-US" sz="36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(Razor)</a:t>
            </a:r>
            <a:endParaRPr lang="en-US" sz="36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2" name="Left Arrow 11"/>
          <p:cNvSpPr/>
          <p:nvPr/>
        </p:nvSpPr>
        <p:spPr>
          <a:xfrm rot="10800000">
            <a:off x="3563470" y="5428601"/>
            <a:ext cx="2617696" cy="381000"/>
          </a:xfrm>
          <a:prstGeom prst="lef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3600" b="1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3" name="Action Button: Home 12">
            <a:hlinkClick r:id="" action="ppaction://noaction" highlightClick="1"/>
          </p:cNvPr>
          <p:cNvSpPr/>
          <p:nvPr/>
        </p:nvSpPr>
        <p:spPr>
          <a:xfrm>
            <a:off x="533400" y="2295525"/>
            <a:ext cx="914400" cy="725559"/>
          </a:xfrm>
          <a:prstGeom prst="actionButtonHome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33400" y="2981325"/>
            <a:ext cx="914400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400" b="1" cap="none" spc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User</a:t>
            </a:r>
            <a:endParaRPr lang="en-US" sz="22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5" name="Left Arrow 14"/>
          <p:cNvSpPr/>
          <p:nvPr/>
        </p:nvSpPr>
        <p:spPr>
          <a:xfrm rot="14392517">
            <a:off x="5894364" y="4381227"/>
            <a:ext cx="1017025" cy="381000"/>
          </a:xfrm>
          <a:prstGeom prst="lef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3600" b="1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6" name="Left Arrow 15"/>
          <p:cNvSpPr/>
          <p:nvPr/>
        </p:nvSpPr>
        <p:spPr>
          <a:xfrm rot="17829597">
            <a:off x="2906065" y="4384817"/>
            <a:ext cx="999969" cy="381000"/>
          </a:xfrm>
          <a:prstGeom prst="lef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3600" b="1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7" name="Down Arrow 16"/>
          <p:cNvSpPr/>
          <p:nvPr/>
        </p:nvSpPr>
        <p:spPr>
          <a:xfrm rot="9363488">
            <a:off x="1057643" y="3392297"/>
            <a:ext cx="800100" cy="1594605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36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6200" y="3817203"/>
            <a:ext cx="3200400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200" b="1" cap="none" spc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HTTP </a:t>
            </a:r>
            <a:r>
              <a:rPr lang="en-US" sz="24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Response</a:t>
            </a:r>
          </a:p>
          <a:p>
            <a:pPr algn="ctr"/>
            <a:r>
              <a:rPr lang="en-US" sz="2400" b="1" cap="none" spc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(HTML, </a:t>
            </a:r>
            <a:r>
              <a:rPr lang="en-US" sz="24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File, JSON, </a:t>
            </a:r>
            <a:r>
              <a:rPr lang="en-US" sz="2400" b="1" cap="none" spc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…)</a:t>
            </a:r>
            <a:endParaRPr lang="en-US" sz="22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988812" y="2296805"/>
            <a:ext cx="3194060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2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Select controller and invoke action (method)</a:t>
            </a:r>
            <a:endParaRPr lang="en-US" sz="22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352800" y="4191000"/>
            <a:ext cx="2372906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200" b="1" cap="none" spc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Select view &amp;</a:t>
            </a:r>
            <a:br>
              <a:rPr lang="en-US" sz="2200" b="1" cap="none" spc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</a:br>
            <a:r>
              <a:rPr lang="en-US" sz="2200" b="1" cap="none" spc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pass data (model)</a:t>
            </a:r>
            <a:endParaRPr lang="en-US" sz="22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505200" y="5715000"/>
            <a:ext cx="2590800" cy="43088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200" b="1" cap="none" spc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Use model data</a:t>
            </a:r>
            <a:endParaRPr lang="en-US" sz="22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420477" y="4127746"/>
            <a:ext cx="1524000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200" b="1" cap="none" spc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CRUD model</a:t>
            </a:r>
            <a:endParaRPr lang="en-US" sz="22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2819401" y="1145252"/>
            <a:ext cx="1514958" cy="121694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Web server</a:t>
            </a:r>
            <a:endParaRPr lang="en-US" sz="36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25" name="Left Arrow 24"/>
          <p:cNvSpPr/>
          <p:nvPr/>
        </p:nvSpPr>
        <p:spPr>
          <a:xfrm rot="10800000">
            <a:off x="4370954" y="1556954"/>
            <a:ext cx="593416" cy="381000"/>
          </a:xfrm>
          <a:prstGeom prst="lef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3600" b="1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65260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/>
      <p:bldP spid="15" grpId="0" animBg="1"/>
      <p:bldP spid="16" grpId="0" animBg="1"/>
      <p:bldP spid="17" grpId="0" animBg="1"/>
      <p:bldP spid="18" grpId="0"/>
      <p:bldP spid="19" grpId="0"/>
      <p:bldP spid="20" grpId="0"/>
      <p:bldP spid="21" grpId="0"/>
      <p:bldP spid="22" grpId="0"/>
      <p:bldP spid="23" grpId="0" animBg="1"/>
      <p:bldP spid="2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609600" y="990600"/>
            <a:ext cx="7924800" cy="1447800"/>
          </a:xfrm>
        </p:spPr>
        <p:txBody>
          <a:bodyPr/>
          <a:lstStyle/>
          <a:p>
            <a:r>
              <a:rPr lang="en-US" dirty="0" smtClean="0"/>
              <a:t>Creating ASP.NET MVC Project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1700" y="2819400"/>
            <a:ext cx="4800600" cy="2880360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4157925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Tools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 smtClean="0"/>
              <a:t>Tools that we need: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dirty="0" smtClean="0"/>
              <a:t>IDE: Visual Studio 2013 (2012 is also OK)</a:t>
            </a:r>
          </a:p>
          <a:p>
            <a:pPr lvl="2">
              <a:spcBef>
                <a:spcPts val="300"/>
              </a:spcBef>
              <a:spcAft>
                <a:spcPts val="300"/>
              </a:spcAft>
            </a:pPr>
            <a:r>
              <a:rPr lang="en-US" dirty="0" smtClean="0"/>
              <a:t>Visual Studio RC version is preferable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dirty="0" smtClean="0"/>
              <a:t>Framework: .NET Framework 4.5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dirty="0" smtClean="0"/>
              <a:t>Web server: IIS 8 (Express)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dirty="0" smtClean="0"/>
              <a:t>Data: Microsoft SQL Sever (Express or </a:t>
            </a:r>
            <a:r>
              <a:rPr lang="en-US" dirty="0" err="1" smtClean="0"/>
              <a:t>LocalDB</a:t>
            </a:r>
            <a:r>
              <a:rPr lang="en-US" dirty="0" smtClean="0"/>
              <a:t>)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 smtClean="0"/>
              <a:t>Visual Studio installer will install everything we need</a:t>
            </a:r>
            <a:endParaRPr lang="en-US" dirty="0" smtClean="0">
              <a:hlinkClick r:id="rId2"/>
            </a:endParaRP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dirty="0">
                <a:hlinkClick r:id="rId3"/>
              </a:rPr>
              <a:t>http://</a:t>
            </a:r>
            <a:r>
              <a:rPr lang="en-US" dirty="0" smtClean="0">
                <a:hlinkClick r:id="rId3"/>
              </a:rPr>
              <a:t>www.microsoft.com/visualstudio/eng/2013-downloads</a:t>
            </a:r>
            <a:endParaRPr lang="en-US" dirty="0" smtClean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3600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Technologies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Technologies that ASP.NET MVC uses</a:t>
            </a:r>
          </a:p>
          <a:p>
            <a:pPr lvl="1"/>
            <a:r>
              <a:rPr lang="en-US" dirty="0" smtClean="0"/>
              <a:t>C</a:t>
            </a:r>
            <a:r>
              <a:rPr lang="en-US" dirty="0"/>
              <a:t># (</a:t>
            </a:r>
            <a:r>
              <a:rPr lang="en-US" dirty="0" smtClean="0"/>
              <a:t>OOP, </a:t>
            </a:r>
            <a:r>
              <a:rPr lang="en-US" dirty="0"/>
              <a:t>u</a:t>
            </a:r>
            <a:r>
              <a:rPr lang="en-US" dirty="0" smtClean="0"/>
              <a:t>nit testing, </a:t>
            </a:r>
            <a:r>
              <a:rPr lang="en-US" dirty="0" err="1" smtClean="0"/>
              <a:t>async</a:t>
            </a:r>
            <a:r>
              <a:rPr lang="en-US" dirty="0" smtClean="0"/>
              <a:t>, etc.)</a:t>
            </a:r>
          </a:p>
          <a:p>
            <a:pPr lvl="1"/>
            <a:r>
              <a:rPr lang="en-US" dirty="0"/>
              <a:t>ASP.NET</a:t>
            </a:r>
          </a:p>
          <a:p>
            <a:pPr lvl="1"/>
            <a:r>
              <a:rPr lang="en-US" dirty="0" smtClean="0"/>
              <a:t>HTML(5) and CSS</a:t>
            </a:r>
          </a:p>
          <a:p>
            <a:pPr lvl="1"/>
            <a:r>
              <a:rPr lang="en-US" dirty="0" smtClean="0"/>
              <a:t>JavaScript (</a:t>
            </a:r>
            <a:r>
              <a:rPr lang="en-US" dirty="0" err="1" smtClean="0"/>
              <a:t>jQuery</a:t>
            </a:r>
            <a:r>
              <a:rPr lang="en-US" dirty="0" smtClean="0"/>
              <a:t>, </a:t>
            </a:r>
            <a:r>
              <a:rPr lang="en-US" dirty="0" err="1" smtClean="0"/>
              <a:t>KendoUI</a:t>
            </a:r>
            <a:r>
              <a:rPr lang="en-US" dirty="0" smtClean="0"/>
              <a:t>, etc.)</a:t>
            </a:r>
          </a:p>
          <a:p>
            <a:pPr lvl="1"/>
            <a:r>
              <a:rPr lang="en-US" dirty="0" smtClean="0"/>
              <a:t>AJAX, Single-page apps</a:t>
            </a:r>
          </a:p>
          <a:p>
            <a:pPr lvl="1"/>
            <a:r>
              <a:rPr lang="en-US" dirty="0" smtClean="0"/>
              <a:t>Databases (MS SQL)</a:t>
            </a:r>
          </a:p>
          <a:p>
            <a:pPr lvl="1"/>
            <a:r>
              <a:rPr lang="en-US" dirty="0" smtClean="0"/>
              <a:t>ORM (Entity Framework and LINQ)</a:t>
            </a:r>
          </a:p>
          <a:p>
            <a:pPr lvl="1"/>
            <a:r>
              <a:rPr lang="en-US" dirty="0" smtClean="0"/>
              <a:t>Web and HTTP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8562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76200"/>
            <a:ext cx="7239000" cy="838200"/>
          </a:xfrm>
        </p:spPr>
        <p:txBody>
          <a:bodyPr/>
          <a:lstStyle/>
          <a:p>
            <a:r>
              <a:rPr lang="en-US" dirty="0" smtClean="0"/>
              <a:t>Visual Studio 2012: New Project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34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906080"/>
            <a:ext cx="6134100" cy="9715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981200"/>
            <a:ext cx="6294486" cy="3632471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2566" y="2819400"/>
            <a:ext cx="4132834" cy="371587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45494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VS 2012: Default Layout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35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066800"/>
            <a:ext cx="7239000" cy="4343400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600" y="2895600"/>
            <a:ext cx="6324600" cy="357922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75213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76200"/>
            <a:ext cx="7239000" cy="838200"/>
          </a:xfrm>
        </p:spPr>
        <p:txBody>
          <a:bodyPr/>
          <a:lstStyle/>
          <a:p>
            <a:r>
              <a:rPr lang="en-US" dirty="0" smtClean="0"/>
              <a:t>Visual Studio 2013: New Project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36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901731"/>
            <a:ext cx="6029325" cy="9144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876985"/>
            <a:ext cx="5797387" cy="3713629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4768" y="2819400"/>
            <a:ext cx="5878760" cy="36576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4148" y="1447800"/>
            <a:ext cx="3433763" cy="201615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06173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VS 2013: Default Layout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37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915154"/>
            <a:ext cx="4780979" cy="3476625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3648" y="1828800"/>
            <a:ext cx="5376903" cy="446647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6000" y="2724150"/>
            <a:ext cx="2934600" cy="382905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70245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275" y="875715"/>
            <a:ext cx="1868194" cy="560458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Internet </a:t>
            </a:r>
            <a:r>
              <a:rPr lang="en-US" dirty="0" smtClean="0"/>
              <a:t>App Project Files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38</a:t>
            </a:fld>
            <a:endParaRPr lang="en-US" dirty="0"/>
          </a:p>
        </p:txBody>
      </p:sp>
      <p:sp>
        <p:nvSpPr>
          <p:cNvPr id="8" name="Left Arrow 7"/>
          <p:cNvSpPr/>
          <p:nvPr/>
        </p:nvSpPr>
        <p:spPr>
          <a:xfrm rot="20679451">
            <a:off x="1702419" y="2512242"/>
            <a:ext cx="1595116" cy="164463"/>
          </a:xfrm>
          <a:prstGeom prst="lef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7400" y="1752600"/>
            <a:ext cx="2790825" cy="12477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TextBox 9"/>
          <p:cNvSpPr txBox="1"/>
          <p:nvPr/>
        </p:nvSpPr>
        <p:spPr>
          <a:xfrm>
            <a:off x="3200400" y="2252246"/>
            <a:ext cx="2667001" cy="33855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</a:rPr>
              <a:t>All controllers and actions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3" name="Left Arrow 12"/>
          <p:cNvSpPr/>
          <p:nvPr/>
        </p:nvSpPr>
        <p:spPr>
          <a:xfrm>
            <a:off x="1219200" y="6318931"/>
            <a:ext cx="2223245" cy="161365"/>
          </a:xfrm>
          <a:prstGeom prst="lef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3276599" y="6215247"/>
            <a:ext cx="2971801" cy="33855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600" dirty="0" err="1" smtClean="0">
                <a:solidFill>
                  <a:schemeClr val="bg1"/>
                </a:solidFill>
              </a:rPr>
              <a:t>Web.config</a:t>
            </a:r>
            <a:r>
              <a:rPr lang="en-US" sz="1600" dirty="0" smtClean="0">
                <a:solidFill>
                  <a:schemeClr val="bg1"/>
                </a:solidFill>
              </a:rPr>
              <a:t> – Configuration file</a:t>
            </a:r>
          </a:p>
        </p:txBody>
      </p:sp>
      <p:sp>
        <p:nvSpPr>
          <p:cNvPr id="15" name="Left Arrow 14"/>
          <p:cNvSpPr/>
          <p:nvPr/>
        </p:nvSpPr>
        <p:spPr>
          <a:xfrm rot="21355896">
            <a:off x="1582268" y="5896211"/>
            <a:ext cx="1828800" cy="161365"/>
          </a:xfrm>
          <a:prstGeom prst="lef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2528045" y="5785544"/>
            <a:ext cx="5168155" cy="33855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1"/>
                </a:solidFill>
              </a:rPr>
              <a:t>Application_Start</a:t>
            </a:r>
            <a:r>
              <a:rPr lang="en-US" sz="1600" dirty="0" smtClean="0">
                <a:solidFill>
                  <a:schemeClr val="bg1"/>
                </a:solidFill>
              </a:rPr>
              <a:t>() – The entry point of the application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8" name="Left Arrow 17"/>
          <p:cNvSpPr/>
          <p:nvPr/>
        </p:nvSpPr>
        <p:spPr>
          <a:xfrm rot="20477486">
            <a:off x="1308825" y="1557917"/>
            <a:ext cx="1828800" cy="161365"/>
          </a:xfrm>
          <a:prstGeom prst="lef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Left Arrow 19"/>
          <p:cNvSpPr/>
          <p:nvPr/>
        </p:nvSpPr>
        <p:spPr>
          <a:xfrm rot="20965740">
            <a:off x="986351" y="3554903"/>
            <a:ext cx="2063766" cy="167843"/>
          </a:xfrm>
          <a:prstGeom prst="lef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2971800" y="3242846"/>
            <a:ext cx="4495800" cy="33855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</a:rPr>
              <a:t>JavaScript files (</a:t>
            </a:r>
            <a:r>
              <a:rPr lang="en-US" sz="1600" dirty="0" err="1" smtClean="0">
                <a:solidFill>
                  <a:schemeClr val="bg1"/>
                </a:solidFill>
              </a:rPr>
              <a:t>jQuery</a:t>
            </a:r>
            <a:r>
              <a:rPr lang="en-US" sz="1600" dirty="0" smtClean="0">
                <a:solidFill>
                  <a:schemeClr val="bg1"/>
                </a:solidFill>
              </a:rPr>
              <a:t>, </a:t>
            </a:r>
            <a:r>
              <a:rPr lang="en-US" sz="1600" dirty="0" err="1" smtClean="0">
                <a:solidFill>
                  <a:schemeClr val="bg1"/>
                </a:solidFill>
              </a:rPr>
              <a:t>Modernizr</a:t>
            </a:r>
            <a:r>
              <a:rPr lang="en-US" sz="1600" dirty="0" smtClean="0">
                <a:solidFill>
                  <a:schemeClr val="bg1"/>
                </a:solidFill>
              </a:rPr>
              <a:t>, knockout, etc.)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22" name="Left Arrow 21"/>
          <p:cNvSpPr/>
          <p:nvPr/>
        </p:nvSpPr>
        <p:spPr>
          <a:xfrm>
            <a:off x="1143000" y="3901245"/>
            <a:ext cx="2165221" cy="176678"/>
          </a:xfrm>
          <a:prstGeom prst="lef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Left Arrow 22"/>
          <p:cNvSpPr/>
          <p:nvPr/>
        </p:nvSpPr>
        <p:spPr>
          <a:xfrm rot="20992694">
            <a:off x="1750921" y="4279596"/>
            <a:ext cx="1828800" cy="161365"/>
          </a:xfrm>
          <a:prstGeom prst="lef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3124200" y="3950877"/>
            <a:ext cx="2362200" cy="33855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</a:rPr>
              <a:t>View templates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25" name="Left Arrow 24"/>
          <p:cNvSpPr/>
          <p:nvPr/>
        </p:nvSpPr>
        <p:spPr>
          <a:xfrm>
            <a:off x="1709085" y="4942857"/>
            <a:ext cx="2171639" cy="180433"/>
          </a:xfrm>
          <a:prstGeom prst="lef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3505200" y="4853584"/>
            <a:ext cx="4495800" cy="33855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</a:rPr>
              <a:t>_</a:t>
            </a:r>
            <a:r>
              <a:rPr lang="en-US" sz="1600" dirty="0" err="1" smtClean="0">
                <a:solidFill>
                  <a:schemeClr val="bg1"/>
                </a:solidFill>
              </a:rPr>
              <a:t>Layout.cshtml</a:t>
            </a:r>
            <a:r>
              <a:rPr lang="en-US" sz="1600" dirty="0" smtClean="0">
                <a:solidFill>
                  <a:schemeClr val="bg1"/>
                </a:solidFill>
              </a:rPr>
              <a:t> – master page (main template)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27" name="Left Arrow 26"/>
          <p:cNvSpPr/>
          <p:nvPr/>
        </p:nvSpPr>
        <p:spPr>
          <a:xfrm rot="19181736">
            <a:off x="544397" y="2254041"/>
            <a:ext cx="2784604" cy="153066"/>
          </a:xfrm>
          <a:prstGeom prst="lef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2971800" y="1177219"/>
            <a:ext cx="2743200" cy="33855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</a:rPr>
              <a:t>Static files (CSS, Images, etc.)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635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3" grpId="0" animBg="1"/>
      <p:bldP spid="14" grpId="0" animBg="1"/>
      <p:bldP spid="15" grpId="0" animBg="1"/>
      <p:bldP spid="16" grpId="0" animBg="1"/>
      <p:bldP spid="18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19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609600" y="4953001"/>
            <a:ext cx="7924800" cy="685800"/>
          </a:xfrm>
        </p:spPr>
        <p:txBody>
          <a:bodyPr/>
          <a:lstStyle/>
          <a:p>
            <a:r>
              <a:rPr lang="en-US" dirty="0"/>
              <a:t>Demo: Internet application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609600" y="5679280"/>
            <a:ext cx="7924800" cy="569120"/>
          </a:xfrm>
        </p:spPr>
        <p:txBody>
          <a:bodyPr/>
          <a:lstStyle/>
          <a:p>
            <a:r>
              <a:rPr lang="en-US" dirty="0"/>
              <a:t>Making changes and </a:t>
            </a:r>
            <a:r>
              <a:rPr lang="en-US" dirty="0" smtClean="0"/>
              <a:t>debugging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9596" y="609600"/>
            <a:ext cx="4164807" cy="3998214"/>
          </a:xfrm>
          <a:prstGeom prst="roundRect">
            <a:avLst>
              <a:gd name="adj" fmla="val 1793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455018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>
          <a:xfrm>
            <a:off x="600547" y="797720"/>
            <a:ext cx="7924800" cy="1488280"/>
          </a:xfrm>
        </p:spPr>
        <p:txBody>
          <a:bodyPr/>
          <a:lstStyle/>
          <a:p>
            <a:r>
              <a:rPr lang="en-US" dirty="0"/>
              <a:t>NuGet </a:t>
            </a:r>
            <a:r>
              <a:rPr lang="en-US" dirty="0" smtClean="0"/>
              <a:t>Package Management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2102" y="3200400"/>
            <a:ext cx="5881688" cy="333569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3074" name="Picture 2" descr="http://www.nuget.org/Content/Images/nuget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024" y="2133600"/>
            <a:ext cx="7141845" cy="155257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772089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NuGet package management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Free</a:t>
            </a:r>
            <a:r>
              <a:rPr lang="en-US" dirty="0"/>
              <a:t>, open source </a:t>
            </a:r>
            <a:r>
              <a:rPr lang="en-US" dirty="0" smtClean="0"/>
              <a:t>package management </a:t>
            </a:r>
          </a:p>
          <a:p>
            <a:r>
              <a:rPr lang="en-US" dirty="0" smtClean="0"/>
              <a:t>Makes </a:t>
            </a:r>
            <a:r>
              <a:rPr lang="en-US" dirty="0"/>
              <a:t>it easy to install and update open source libraries and </a:t>
            </a:r>
            <a:r>
              <a:rPr lang="en-US" dirty="0" smtClean="0"/>
              <a:t>tools</a:t>
            </a:r>
          </a:p>
          <a:p>
            <a:r>
              <a:rPr lang="en-US" dirty="0" smtClean="0"/>
              <a:t>Part of Visual Studio 2012/2013</a:t>
            </a:r>
          </a:p>
          <a:p>
            <a:r>
              <a:rPr lang="en-US" dirty="0"/>
              <a:t>Configurable package sources</a:t>
            </a:r>
          </a:p>
          <a:p>
            <a:r>
              <a:rPr lang="en-US" dirty="0" smtClean="0"/>
              <a:t>Simple </a:t>
            </a:r>
            <a:r>
              <a:rPr lang="en-US" dirty="0"/>
              <a:t>as adding a </a:t>
            </a:r>
            <a:r>
              <a:rPr lang="en-US" dirty="0" smtClean="0"/>
              <a:t>reference</a:t>
            </a:r>
          </a:p>
          <a:p>
            <a:r>
              <a:rPr lang="en-US" dirty="0" smtClean="0"/>
              <a:t>GUI-based package installer</a:t>
            </a:r>
          </a:p>
          <a:p>
            <a:r>
              <a:rPr lang="en-US" dirty="0" smtClean="0"/>
              <a:t>Package manager console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41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599" y="4306648"/>
            <a:ext cx="2668401" cy="1666875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599" y="2286000"/>
            <a:ext cx="2668401" cy="1551008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157099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Nightly Builds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838200"/>
            <a:ext cx="8686800" cy="5791200"/>
          </a:xfrm>
        </p:spPr>
        <p:txBody>
          <a:bodyPr/>
          <a:lstStyle/>
          <a:p>
            <a:r>
              <a:rPr lang="en-US" dirty="0" smtClean="0"/>
              <a:t>Nightly </a:t>
            </a:r>
            <a:r>
              <a:rPr lang="en-US" dirty="0"/>
              <a:t>builds </a:t>
            </a:r>
            <a:r>
              <a:rPr lang="en-US" dirty="0" smtClean="0"/>
              <a:t>of ASP.NET MVC are </a:t>
            </a:r>
            <a:r>
              <a:rPr lang="en-US" dirty="0"/>
              <a:t>available via a private NuGet </a:t>
            </a:r>
            <a:r>
              <a:rPr lang="en-US" dirty="0" smtClean="0"/>
              <a:t>feed</a:t>
            </a:r>
          </a:p>
          <a:p>
            <a:pPr lvl="1"/>
            <a:r>
              <a:rPr lang="en-US" dirty="0"/>
              <a:t>In your Package Manager settings add the following package </a:t>
            </a:r>
            <a:r>
              <a:rPr lang="en-US" dirty="0" smtClean="0"/>
              <a:t>source: </a:t>
            </a:r>
          </a:p>
          <a:p>
            <a:pPr marL="357188" lvl="1" indent="0">
              <a:buNone/>
            </a:pPr>
            <a:r>
              <a:rPr lang="en-US" dirty="0" smtClean="0">
                <a:hlinkClick r:id="rId2"/>
              </a:rPr>
              <a:t>http://www.myget.org/F/aspnetwebstacknightly</a:t>
            </a:r>
            <a:r>
              <a:rPr lang="en-US" dirty="0">
                <a:hlinkClick r:id="rId2"/>
              </a:rPr>
              <a:t>/</a:t>
            </a:r>
            <a:r>
              <a:rPr lang="en-US" dirty="0"/>
              <a:t>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42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7632" y="3764733"/>
            <a:ext cx="5328736" cy="2731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734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609600" y="4953001"/>
            <a:ext cx="7924800" cy="685800"/>
          </a:xfrm>
        </p:spPr>
        <p:txBody>
          <a:bodyPr/>
          <a:lstStyle/>
          <a:p>
            <a:r>
              <a:rPr lang="en-US" dirty="0"/>
              <a:t>Demo: </a:t>
            </a:r>
            <a:r>
              <a:rPr lang="en-US" dirty="0" smtClean="0"/>
              <a:t>NuGet</a:t>
            </a:r>
            <a:endParaRPr lang="en-US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1790700" y="5715000"/>
            <a:ext cx="5562600" cy="838200"/>
          </a:xfrm>
        </p:spPr>
        <p:txBody>
          <a:bodyPr/>
          <a:lstStyle/>
          <a:p>
            <a:r>
              <a:rPr lang="en-US" dirty="0" smtClean="0"/>
              <a:t>Install and update packages as easy as adding a reference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4129" y="1057275"/>
            <a:ext cx="5915742" cy="3438525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846595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609600" y="914400"/>
            <a:ext cx="7924800" cy="1371600"/>
          </a:xfrm>
        </p:spPr>
        <p:txBody>
          <a:bodyPr/>
          <a:lstStyle/>
          <a:p>
            <a:r>
              <a:rPr lang="en-US" dirty="0"/>
              <a:t>Server </a:t>
            </a:r>
            <a:r>
              <a:rPr lang="en-US" dirty="0" smtClean="0"/>
              <a:t>Information </a:t>
            </a:r>
            <a:r>
              <a:rPr lang="en-US" dirty="0"/>
              <a:t>with Glimpse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609600" y="2402680"/>
            <a:ext cx="7924800" cy="569120"/>
          </a:xfrm>
        </p:spPr>
        <p:txBody>
          <a:bodyPr/>
          <a:lstStyle/>
          <a:p>
            <a:r>
              <a:rPr lang="en-US" dirty="0" smtClean="0"/>
              <a:t>The open source diagnostics platform of the web</a:t>
            </a:r>
            <a:endParaRPr lang="en-US" dirty="0"/>
          </a:p>
        </p:txBody>
      </p:sp>
      <p:pic>
        <p:nvPicPr>
          <p:cNvPr id="2052" name="Picture 4" descr="Metadata Ta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174538"/>
            <a:ext cx="6019800" cy="1764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Routes Tab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4468789"/>
            <a:ext cx="7007225" cy="205347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9035" y="4173668"/>
            <a:ext cx="3746455" cy="96771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0264489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Server Info with Glimpse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Glimpse shows execution timings, server configuration, request data and </a:t>
            </a:r>
            <a:r>
              <a:rPr lang="en-US" dirty="0" smtClean="0"/>
              <a:t>more</a:t>
            </a:r>
          </a:p>
          <a:p>
            <a:pPr lvl="1"/>
            <a:r>
              <a:rPr lang="en-US" dirty="0" smtClean="0"/>
              <a:t>Showed inside browser (like </a:t>
            </a:r>
            <a:r>
              <a:rPr lang="en-US" dirty="0" err="1" smtClean="0"/>
              <a:t>FireBug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With </a:t>
            </a:r>
            <a:r>
              <a:rPr lang="en-US" dirty="0"/>
              <a:t>no </a:t>
            </a:r>
            <a:r>
              <a:rPr lang="en-US" dirty="0" smtClean="0"/>
              <a:t>changes </a:t>
            </a:r>
            <a:r>
              <a:rPr lang="en-US" dirty="0"/>
              <a:t>to </a:t>
            </a:r>
            <a:r>
              <a:rPr lang="en-US" dirty="0" smtClean="0"/>
              <a:t>the application code</a:t>
            </a:r>
          </a:p>
          <a:p>
            <a:pPr lvl="1"/>
            <a:r>
              <a:rPr lang="en-US" dirty="0" smtClean="0"/>
              <a:t>Supported ASP.NET </a:t>
            </a:r>
            <a:r>
              <a:rPr lang="en-US" dirty="0"/>
              <a:t>MVC, </a:t>
            </a:r>
            <a:r>
              <a:rPr lang="en-US" dirty="0" err="1" smtClean="0"/>
              <a:t>WebForms</a:t>
            </a:r>
            <a:r>
              <a:rPr lang="en-US" dirty="0" smtClean="0"/>
              <a:t> and EF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45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330" y="4114800"/>
            <a:ext cx="7673339" cy="220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9683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Install Glimpse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838200"/>
            <a:ext cx="8686800" cy="5791200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/>
              <a:t>Install NuGet packages:</a:t>
            </a:r>
          </a:p>
          <a:p>
            <a:pPr lvl="1"/>
            <a:r>
              <a:rPr lang="en-US" dirty="0" smtClean="0"/>
              <a:t>Glimpse.Mvc4</a:t>
            </a:r>
          </a:p>
          <a:p>
            <a:pPr lvl="1"/>
            <a:r>
              <a:rPr lang="en-US" dirty="0" smtClean="0"/>
              <a:t>Glimpse.EF6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Run the project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Configure it:</a:t>
            </a:r>
          </a:p>
          <a:p>
            <a:pPr lvl="1"/>
            <a:r>
              <a:rPr lang="en-US" dirty="0" smtClean="0">
                <a:hlinkClick r:id="rId2"/>
              </a:rPr>
              <a:t>http://localhost:port/Glimpse.axd</a:t>
            </a:r>
            <a:endParaRPr lang="en-US" dirty="0" smtClean="0"/>
          </a:p>
          <a:p>
            <a:r>
              <a:rPr lang="en-US" i="1" dirty="0" smtClean="0"/>
              <a:t>Beware: Currently "Glimpse.EF6" doesn't work with the new identity system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46</a:t>
            </a:fld>
            <a:endParaRPr lang="en-US" dirty="0"/>
          </a:p>
        </p:txBody>
      </p:sp>
      <p:pic>
        <p:nvPicPr>
          <p:cNvPr id="1029" name="Picture 5" descr="http://getglimpse.com/Content/_v2/website-assets/img/in-monitor-screen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523999"/>
            <a:ext cx="3818586" cy="245357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1224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Tracing with Glimpse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838200"/>
            <a:ext cx="8686800" cy="5791200"/>
          </a:xfrm>
        </p:spPr>
        <p:txBody>
          <a:bodyPr/>
          <a:lstStyle/>
          <a:p>
            <a:r>
              <a:rPr lang="en-US" dirty="0" smtClean="0"/>
              <a:t>The </a:t>
            </a:r>
            <a:r>
              <a:rPr lang="en-US" dirty="0"/>
              <a:t>Trace tab shows any messages traced to </a:t>
            </a:r>
            <a:r>
              <a:rPr lang="en-US" dirty="0" err="1">
                <a:solidFill>
                  <a:schemeClr val="accent6">
                    <a:lumMod val="40000"/>
                    <a:lumOff val="60000"/>
                  </a:schemeClr>
                </a:solidFill>
              </a:rPr>
              <a:t>System.Diagnostics.Trace</a:t>
            </a:r>
            <a:r>
              <a:rPr lang="en-US" dirty="0"/>
              <a:t> or </a:t>
            </a:r>
            <a:r>
              <a:rPr lang="en-US" dirty="0" err="1">
                <a:solidFill>
                  <a:schemeClr val="accent6">
                    <a:lumMod val="40000"/>
                    <a:lumOff val="60000"/>
                  </a:schemeClr>
                </a:solidFill>
              </a:rPr>
              <a:t>System.Diagnostics.Debug</a:t>
            </a:r>
            <a:r>
              <a:rPr lang="en-US" dirty="0"/>
              <a:t> during the lifetime of the HTTP request.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47</a:t>
            </a:fld>
            <a:endParaRPr lang="en-US" dirty="0"/>
          </a:p>
        </p:txBody>
      </p:sp>
      <p:sp>
        <p:nvSpPr>
          <p:cNvPr id="7" name="Text Placeholder 6"/>
          <p:cNvSpPr txBox="1">
            <a:spLocks/>
          </p:cNvSpPr>
          <p:nvPr/>
        </p:nvSpPr>
        <p:spPr>
          <a:xfrm>
            <a:off x="1301434" y="3099137"/>
            <a:ext cx="6541130" cy="1015663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>
            <a:lvl1pPr marL="0" indent="0" algn="l" rtl="0" eaLnBrk="0" fontAlgn="base" hangingPunct="0">
              <a:spcBef>
                <a:spcPts val="0"/>
              </a:spcBef>
              <a:spcAft>
                <a:spcPct val="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  <a:defRPr lang="en-US" sz="2000" b="1" kern="1200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ea typeface="+mn-ea"/>
                <a:cs typeface="Consolas" pitchFamily="49" charset="0"/>
              </a:defRPr>
            </a:lvl1pPr>
            <a:lvl2pPr marL="630238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>
                  <a:lumMod val="60000"/>
                  <a:lumOff val="40000"/>
                </a:schemeClr>
              </a:buClr>
              <a:buFont typeface="Wingdings 2" pitchFamily="18" charset="2"/>
              <a:buChar char=""/>
              <a:defRPr sz="3000" b="1" kern="1200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22338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>
                  <a:lumMod val="50000"/>
                </a:schemeClr>
              </a:buClr>
              <a:buFont typeface="Wingdings 2" pitchFamily="18" charset="2"/>
              <a:buChar char=""/>
              <a:defRPr sz="2800" b="1" kern="1200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1874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8BD52"/>
              </a:buClr>
              <a:buFont typeface="Wingdings 2" pitchFamily="18" charset="2"/>
              <a:buChar char=""/>
              <a:defRPr sz="2600" b="1" kern="1200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4255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6A6BD"/>
              </a:buClr>
              <a:buFont typeface="Wingdings 2" pitchFamily="18" charset="2"/>
              <a:buChar char=""/>
              <a:defRPr sz="2400" b="1" kern="1200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1673352" indent="-22860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11096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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21408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22576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1" smtClean="0"/>
              <a:t>Trace.TraceInformation("Info example");</a:t>
            </a:r>
          </a:p>
          <a:p>
            <a:r>
              <a:rPr lang="en-US" noProof="1" smtClean="0"/>
              <a:t>Trace.TraceWarning("Warning example");</a:t>
            </a:r>
          </a:p>
          <a:p>
            <a:r>
              <a:rPr lang="en-US" noProof="1" smtClean="0"/>
              <a:t>Debug.WriteLine("Debug example");</a:t>
            </a:r>
            <a:endParaRPr lang="en-US" noProof="1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722" y="4417073"/>
            <a:ext cx="8438553" cy="191005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341447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609600" y="5105400"/>
            <a:ext cx="7924800" cy="685800"/>
          </a:xfrm>
        </p:spPr>
        <p:txBody>
          <a:bodyPr/>
          <a:lstStyle/>
          <a:p>
            <a:r>
              <a:rPr lang="en-US" dirty="0"/>
              <a:t>Demo</a:t>
            </a:r>
            <a:r>
              <a:rPr lang="en-US" dirty="0" smtClean="0"/>
              <a:t>: Glimpse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563" y="1066800"/>
            <a:ext cx="7696874" cy="3381375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338881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838200"/>
            <a:ext cx="8763000" cy="5791200"/>
          </a:xfrm>
        </p:spPr>
        <p:txBody>
          <a:bodyPr/>
          <a:lstStyle/>
          <a:p>
            <a:pPr>
              <a:spcBef>
                <a:spcPts val="300"/>
              </a:spcBef>
            </a:pPr>
            <a:r>
              <a:rPr lang="en-US" dirty="0" smtClean="0"/>
              <a:t>HTTP </a:t>
            </a:r>
            <a:r>
              <a:rPr lang="en-US" dirty="0"/>
              <a:t>is </a:t>
            </a:r>
            <a:r>
              <a:rPr lang="en-US" dirty="0" smtClean="0"/>
              <a:t>a client-server </a:t>
            </a:r>
            <a:r>
              <a:rPr lang="en-US" dirty="0"/>
              <a:t>protocol for transferring </a:t>
            </a:r>
            <a:r>
              <a:rPr lang="en-US" dirty="0" smtClean="0"/>
              <a:t>web resources via Internet</a:t>
            </a:r>
            <a:endParaRPr lang="en-US" dirty="0" smtClean="0"/>
          </a:p>
          <a:p>
            <a:pPr>
              <a:spcBef>
                <a:spcPts val="300"/>
              </a:spcBef>
            </a:pPr>
            <a:r>
              <a:rPr lang="en-US" dirty="0" smtClean="0"/>
              <a:t>Model–view–controller </a:t>
            </a:r>
            <a:r>
              <a:rPr lang="en-US" dirty="0"/>
              <a:t>(MVC) is a software architecture </a:t>
            </a:r>
            <a:r>
              <a:rPr lang="en-US" dirty="0" smtClean="0"/>
              <a:t>pattern</a:t>
            </a:r>
          </a:p>
          <a:p>
            <a:pPr>
              <a:spcBef>
                <a:spcPts val="300"/>
              </a:spcBef>
            </a:pPr>
            <a:r>
              <a:rPr lang="en-US" dirty="0" smtClean="0"/>
              <a:t>ASP.NET MVC is a great platform for developing Internet applications</a:t>
            </a:r>
          </a:p>
          <a:p>
            <a:pPr>
              <a:spcBef>
                <a:spcPts val="300"/>
              </a:spcBef>
            </a:pPr>
            <a:r>
              <a:rPr lang="en-US" dirty="0" smtClean="0"/>
              <a:t>Visual Studio is the main development tool for creating ASP.NET MVC applications</a:t>
            </a:r>
          </a:p>
          <a:p>
            <a:pPr lvl="1">
              <a:spcBef>
                <a:spcPts val="300"/>
              </a:spcBef>
            </a:pPr>
            <a:r>
              <a:rPr lang="en-US" dirty="0" smtClean="0"/>
              <a:t>Almost everything in ASP.NET MVC is a package</a:t>
            </a:r>
          </a:p>
          <a:p>
            <a:pPr>
              <a:spcBef>
                <a:spcPts val="300"/>
              </a:spcBef>
            </a:pPr>
            <a:r>
              <a:rPr lang="en-US" dirty="0" smtClean="0"/>
              <a:t>Glimpse is a tool that helps with debugging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9180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ASP.NET </a:t>
            </a:r>
            <a:r>
              <a:rPr lang="en-US" dirty="0" smtClean="0"/>
              <a:t>MVC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5473176" y="6400800"/>
            <a:ext cx="3552511" cy="369332"/>
          </a:xfrm>
        </p:spPr>
        <p:txBody>
          <a:bodyPr/>
          <a:lstStyle/>
          <a:p>
            <a:r>
              <a:rPr lang="en-US" dirty="0">
                <a:hlinkClick r:id="rId2"/>
              </a:rPr>
              <a:t>http</a:t>
            </a:r>
            <a:r>
              <a:rPr lang="en-US" dirty="0" smtClean="0">
                <a:hlinkClick r:id="rId2"/>
              </a:rPr>
              <a:t>://schoolacademy.telerik.com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3162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smtClean="0"/>
              <a:t>Free Trainings @ Telerik Academy</a:t>
            </a:r>
            <a:endParaRPr lang="en-US" sz="3600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28600" y="1066800"/>
            <a:ext cx="8686800" cy="5638800"/>
          </a:xfrm>
        </p:spPr>
        <p:txBody>
          <a:bodyPr/>
          <a:lstStyle/>
          <a:p>
            <a:r>
              <a:rPr lang="en-US" dirty="0" smtClean="0"/>
              <a:t>“C# Programming @ Telerik Academy</a:t>
            </a:r>
          </a:p>
          <a:p>
            <a:pPr marL="574675" lvl="2" indent="-282575"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</a:pPr>
            <a:r>
              <a:rPr lang="en-US" noProof="1">
                <a:hlinkClick r:id="rId2"/>
              </a:rPr>
              <a:t>csharpfundamentals.telerik.com</a:t>
            </a:r>
            <a:endParaRPr lang="en-US" noProof="1"/>
          </a:p>
          <a:p>
            <a:pPr marL="282575" lvl="1" indent="-282575">
              <a:spcBef>
                <a:spcPts val="18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</a:pPr>
            <a:r>
              <a:rPr lang="en-US" dirty="0" smtClean="0"/>
              <a:t>Telerik Software Academy</a:t>
            </a:r>
          </a:p>
          <a:p>
            <a:pPr marL="574675" lvl="2" indent="-282575"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</a:pPr>
            <a:r>
              <a:rPr lang="en-US" noProof="1" smtClean="0">
                <a:hlinkClick r:id="rId3" tooltip="Telerik Software Academy - Free Programming Courses"/>
              </a:rPr>
              <a:t>academy.telerik.com</a:t>
            </a:r>
            <a:endParaRPr lang="en-US" noProof="1" smtClean="0"/>
          </a:p>
          <a:p>
            <a:pPr marL="282575" lvl="1" indent="-282575">
              <a:spcBef>
                <a:spcPts val="18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</a:pPr>
            <a:r>
              <a:rPr lang="en-US" dirty="0" smtClean="0"/>
              <a:t>Telerik Academy @ Facebook</a:t>
            </a:r>
          </a:p>
          <a:p>
            <a:pPr marL="574675" lvl="2" indent="-282575"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</a:pPr>
            <a:r>
              <a:rPr lang="en-US" noProof="1" smtClean="0">
                <a:hlinkClick r:id="rId4" tooltip="Telerik Softyware Academy @ Facebook"/>
              </a:rPr>
              <a:t>facebook.com/TelerikAcademy</a:t>
            </a:r>
            <a:endParaRPr lang="en-US" noProof="1" smtClean="0"/>
          </a:p>
          <a:p>
            <a:pPr marL="282575" lvl="1" indent="-282575">
              <a:spcBef>
                <a:spcPts val="18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</a:pPr>
            <a:r>
              <a:rPr lang="en-US" dirty="0" smtClean="0"/>
              <a:t>Telerik Software Academy Forums</a:t>
            </a:r>
          </a:p>
          <a:p>
            <a:pPr marL="574675" lvl="2" indent="-282575"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</a:pPr>
            <a:r>
              <a:rPr lang="en-US" noProof="1" smtClean="0">
                <a:hlinkClick r:id="rId5" tooltip="Telerik Software Academy Forums - Community for Programmers"/>
              </a:rPr>
              <a:t>forums.academy.telerik.com</a:t>
            </a:r>
            <a:endParaRPr lang="en-US" noProof="1"/>
          </a:p>
        </p:txBody>
      </p:sp>
      <p:pic>
        <p:nvPicPr>
          <p:cNvPr id="5" name="Picture 5">
            <a:hlinkClick r:id="rId5" tooltip="Telerik Software Academy Forums - Discussion Board for Developers"/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3898" y="5218092"/>
            <a:ext cx="1162902" cy="12686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>
            <a:hlinkClick r:id="rId3" tooltip="Telerik Software Academy"/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8941" y="2667000"/>
            <a:ext cx="3137859" cy="918234"/>
          </a:xfrm>
          <a:prstGeom prst="rect">
            <a:avLst/>
          </a:prstGeom>
          <a:noFill/>
          <a:ln>
            <a:solidFill>
              <a:srgbClr val="9BCC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7" name="Picture 13">
            <a:hlinkClick r:id="rId8" tooltip="Telerik Academy @ Facebook"/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8587" y="4003901"/>
            <a:ext cx="938213" cy="938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Picture 1">
            <a:hlinkClick r:id="rId2"/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2025" y="1123558"/>
            <a:ext cx="1124775" cy="1124775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51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45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1891dbb5ef1eec16f96b550c792a3c169f6d68"/>
</p:tagLst>
</file>

<file path=ppt/theme/theme1.xml><?xml version="1.0" encoding="utf-8"?>
<a:theme xmlns:a="http://schemas.openxmlformats.org/drawingml/2006/main" name="Telerik Academy">
  <a:themeElements>
    <a:clrScheme name="Telerik Colors Theme">
      <a:dk1>
        <a:sysClr val="windowText" lastClr="000000"/>
      </a:dk1>
      <a:lt1>
        <a:srgbClr val="CCFF66"/>
      </a:lt1>
      <a:dk2>
        <a:srgbClr val="30356E"/>
      </a:dk2>
      <a:lt2>
        <a:srgbClr val="CCFF33"/>
      </a:lt2>
      <a:accent1>
        <a:srgbClr val="CC4757"/>
      </a:accent1>
      <a:accent2>
        <a:srgbClr val="FF6F61"/>
      </a:accent2>
      <a:accent3>
        <a:srgbClr val="FF953E"/>
      </a:accent3>
      <a:accent4>
        <a:srgbClr val="F8BD52"/>
      </a:accent4>
      <a:accent5>
        <a:srgbClr val="46A6BD"/>
      </a:accent5>
      <a:accent6>
        <a:srgbClr val="5488BC"/>
      </a:accent6>
      <a:hlink>
        <a:srgbClr val="76B200"/>
      </a:hlink>
      <a:folHlink>
        <a:srgbClr val="FFCF3E"/>
      </a:folHlink>
    </a:clrScheme>
    <a:fontScheme name="Deluxe">
      <a:majorFont>
        <a:latin typeface="Corbel"/>
        <a:ea typeface=""/>
        <a:cs typeface=""/>
        <a:font script="Jpan" typeface="HGｺﾞｼｯｸM"/>
        <a:font script="Hang" typeface="HY엽서L"/>
        <a:font script="Hans" typeface="华文新魏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新魏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Deluxe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280000"/>
              </a:schemeClr>
            </a:gs>
            <a:gs pos="14000">
              <a:schemeClr val="phClr">
                <a:tint val="37000"/>
                <a:satMod val="250000"/>
              </a:schemeClr>
            </a:gs>
            <a:gs pos="45000">
              <a:schemeClr val="phClr">
                <a:tint val="53000"/>
                <a:satMod val="220000"/>
              </a:schemeClr>
            </a:gs>
            <a:gs pos="65000">
              <a:schemeClr val="phClr">
                <a:tint val="53000"/>
                <a:satMod val="220000"/>
              </a:schemeClr>
            </a:gs>
            <a:gs pos="86000">
              <a:schemeClr val="phClr">
                <a:tint val="42000"/>
                <a:satMod val="240000"/>
              </a:schemeClr>
            </a:gs>
            <a:gs pos="100000">
              <a:schemeClr val="phClr">
                <a:tint val="20000"/>
                <a:satMod val="23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75000"/>
                <a:satMod val="160000"/>
              </a:schemeClr>
            </a:gs>
            <a:gs pos="60000">
              <a:schemeClr val="phClr">
                <a:satMod val="150000"/>
              </a:schemeClr>
            </a:gs>
            <a:gs pos="100000">
              <a:schemeClr val="phClr">
                <a:tint val="75000"/>
                <a:satMod val="200000"/>
              </a:schemeClr>
            </a:gs>
          </a:gsLst>
          <a:lin ang="16200000" scaled="1"/>
        </a:gradFill>
      </a:fillStyleLst>
      <a:lnStyleLst>
        <a:ln w="9525" cap="flat" cmpd="sng" algn="ctr">
          <a:solidFill>
            <a:schemeClr val="phClr">
              <a:satMod val="14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6500000"/>
            </a:lightRig>
          </a:scene3d>
          <a:sp3d prstMaterial="powder">
            <a:bevelT w="152400"/>
            <a:contourClr>
              <a:schemeClr val="phClr"/>
            </a:contourClr>
          </a:sp3d>
        </a:effectStyle>
        <a:effectStyle>
          <a:effectLst>
            <a:reflection blurRad="12700" stA="26000" endPos="28000" dist="38100" dir="5400000" sy="-100000"/>
          </a:effectLst>
          <a:scene3d>
            <a:camera prst="orthographicFront" fov="0">
              <a:rot lat="0" lon="0" rev="0"/>
            </a:camera>
            <a:lightRig rig="contrasting" dir="t">
              <a:rot lat="0" lon="0" rev="16500000"/>
            </a:lightRig>
          </a:scene3d>
          <a:sp3d prstMaterial="powder">
            <a:bevelT w="190500" h="1016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3000"/>
                <a:satMod val="1550000"/>
              </a:schemeClr>
            </a:gs>
            <a:gs pos="1000">
              <a:schemeClr val="phClr">
                <a:tint val="48000"/>
                <a:satMod val="1550000"/>
              </a:schemeClr>
            </a:gs>
            <a:gs pos="90000">
              <a:schemeClr val="phClr">
                <a:shade val="18000"/>
                <a:satMod val="275000"/>
              </a:schemeClr>
            </a:gs>
          </a:gsLst>
          <a:path path="circle">
            <a:fillToRect r="210000" b="300000"/>
          </a:path>
        </a:gradFill>
        <a:gradFill rotWithShape="1">
          <a:gsLst>
            <a:gs pos="5000">
              <a:schemeClr val="phClr">
                <a:tint val="38000"/>
                <a:satMod val="1800000"/>
              </a:schemeClr>
            </a:gs>
            <a:gs pos="5000">
              <a:schemeClr val="phClr">
                <a:tint val="40000"/>
                <a:satMod val="1800000"/>
              </a:schemeClr>
            </a:gs>
            <a:gs pos="90000">
              <a:schemeClr val="phClr">
                <a:shade val="18000"/>
                <a:satMod val="275000"/>
              </a:schemeClr>
            </a:gs>
          </a:gsLst>
          <a:path path="circle">
            <a:fillToRect l="20000" t="30000" r="135000" b="10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Telerik Colors Theme">
    <a:dk1>
      <a:sysClr val="windowText" lastClr="000000"/>
    </a:dk1>
    <a:lt1>
      <a:srgbClr val="CCFF66"/>
    </a:lt1>
    <a:dk2>
      <a:srgbClr val="30356E"/>
    </a:dk2>
    <a:lt2>
      <a:srgbClr val="CCFF33"/>
    </a:lt2>
    <a:accent1>
      <a:srgbClr val="CC4757"/>
    </a:accent1>
    <a:accent2>
      <a:srgbClr val="FF6F61"/>
    </a:accent2>
    <a:accent3>
      <a:srgbClr val="FF953E"/>
    </a:accent3>
    <a:accent4>
      <a:srgbClr val="F8BD52"/>
    </a:accent4>
    <a:accent5>
      <a:srgbClr val="46A6BD"/>
    </a:accent5>
    <a:accent6>
      <a:srgbClr val="5488BC"/>
    </a:accent6>
    <a:hlink>
      <a:srgbClr val="76B200"/>
    </a:hlink>
    <a:folHlink>
      <a:srgbClr val="FFCF3E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8677</TotalTime>
  <Words>1812</Words>
  <Application>Microsoft Office PowerPoint</Application>
  <PresentationFormat>On-screen Show (4:3)</PresentationFormat>
  <Paragraphs>399</Paragraphs>
  <Slides>51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60" baseType="lpstr">
      <vt:lpstr>Arial Black</vt:lpstr>
      <vt:lpstr>Calibri</vt:lpstr>
      <vt:lpstr>Cambria</vt:lpstr>
      <vt:lpstr>Consolas</vt:lpstr>
      <vt:lpstr>Corbel</vt:lpstr>
      <vt:lpstr>Tahoma</vt:lpstr>
      <vt:lpstr>Trebuchet MS</vt:lpstr>
      <vt:lpstr>Wingdings 2</vt:lpstr>
      <vt:lpstr>Telerik Academy</vt:lpstr>
      <vt:lpstr>Introduction to ASP.NET MVC</vt:lpstr>
      <vt:lpstr>Table of Contents</vt:lpstr>
      <vt:lpstr>The HTTP Protocol</vt:lpstr>
      <vt:lpstr>HTTP</vt:lpstr>
      <vt:lpstr>HTTP: Request-Response Protocol</vt:lpstr>
      <vt:lpstr>HTTP Request Message</vt:lpstr>
      <vt:lpstr>HTTP Response Message</vt:lpstr>
      <vt:lpstr>HTTP Response Codes</vt:lpstr>
      <vt:lpstr>HTTP Cookies</vt:lpstr>
      <vt:lpstr>The MVC Pattern</vt:lpstr>
      <vt:lpstr>The MVC Pattern</vt:lpstr>
      <vt:lpstr>Model</vt:lpstr>
      <vt:lpstr>View</vt:lpstr>
      <vt:lpstr>Controller</vt:lpstr>
      <vt:lpstr>MVC Steps</vt:lpstr>
      <vt:lpstr>The MVC Pattern for Web</vt:lpstr>
      <vt:lpstr>MVC Frameworks</vt:lpstr>
      <vt:lpstr>ASP.NET MVC</vt:lpstr>
      <vt:lpstr>ASP.NET Core</vt:lpstr>
      <vt:lpstr>ASP.NET Web Forms</vt:lpstr>
      <vt:lpstr>ASP.NET History</vt:lpstr>
      <vt:lpstr>One ASP.NET</vt:lpstr>
      <vt:lpstr>ASP.NET MVC</vt:lpstr>
      <vt:lpstr>ASP.NET MVC (2)</vt:lpstr>
      <vt:lpstr>The ASP.NET MVC History</vt:lpstr>
      <vt:lpstr>Separation of Concerns</vt:lpstr>
      <vt:lpstr>Extensible</vt:lpstr>
      <vt:lpstr>Clean URLs</vt:lpstr>
      <vt:lpstr>Community-based</vt:lpstr>
      <vt:lpstr>MVC Pattern in ASP.NET MVC</vt:lpstr>
      <vt:lpstr>Creating ASP.NET MVC Project</vt:lpstr>
      <vt:lpstr>The Tools</vt:lpstr>
      <vt:lpstr>The Technologies</vt:lpstr>
      <vt:lpstr>Visual Studio 2012: New Project</vt:lpstr>
      <vt:lpstr>VS 2012: Default Layout</vt:lpstr>
      <vt:lpstr>Visual Studio 2013: New Project</vt:lpstr>
      <vt:lpstr>VS 2013: Default Layout</vt:lpstr>
      <vt:lpstr>Internet App Project Files</vt:lpstr>
      <vt:lpstr>Demo: Internet application</vt:lpstr>
      <vt:lpstr>NuGet Package Management</vt:lpstr>
      <vt:lpstr>NuGet package management</vt:lpstr>
      <vt:lpstr>Nightly Builds</vt:lpstr>
      <vt:lpstr>Demo: NuGet</vt:lpstr>
      <vt:lpstr>Server Information with Glimpse</vt:lpstr>
      <vt:lpstr>Server Info with Glimpse</vt:lpstr>
      <vt:lpstr>Install Glimpse</vt:lpstr>
      <vt:lpstr>Tracing with Glimpse</vt:lpstr>
      <vt:lpstr>Demo: Glimpse</vt:lpstr>
      <vt:lpstr>Summary</vt:lpstr>
      <vt:lpstr>Introduction to ASP.NET MVC</vt:lpstr>
      <vt:lpstr>Free Trainings @ Telerik Academy</vt:lpstr>
    </vt:vector>
  </TitlesOfParts>
  <Company>Telerik Corporation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Telerik Software Academy</dc:title>
  <dc:subject>Telerik Software Academy</dc:subject>
  <dc:creator>Nikolay.IT</dc:creator>
  <cp:keywords>telerik software academy, free courses for developers</cp:keywords>
  <cp:lastModifiedBy>Nikolay Kostov</cp:lastModifiedBy>
  <cp:revision>943</cp:revision>
  <dcterms:created xsi:type="dcterms:W3CDTF">2007-12-08T16:03:35Z</dcterms:created>
  <dcterms:modified xsi:type="dcterms:W3CDTF">2013-09-22T15:43:51Z</dcterms:modified>
  <cp:category>software engineering</cp:category>
</cp:coreProperties>
</file>