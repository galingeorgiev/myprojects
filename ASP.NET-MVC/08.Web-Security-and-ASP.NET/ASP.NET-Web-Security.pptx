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handoutMasterIdLst>
    <p:handoutMasterId r:id="rId34"/>
  </p:handoutMasterIdLst>
  <p:sldIdLst>
    <p:sldId id="334" r:id="rId2"/>
    <p:sldId id="335" r:id="rId3"/>
    <p:sldId id="381" r:id="rId4"/>
    <p:sldId id="436" r:id="rId5"/>
    <p:sldId id="383" r:id="rId6"/>
    <p:sldId id="385" r:id="rId7"/>
    <p:sldId id="384" r:id="rId8"/>
    <p:sldId id="391" r:id="rId9"/>
    <p:sldId id="423" r:id="rId10"/>
    <p:sldId id="424" r:id="rId11"/>
    <p:sldId id="425" r:id="rId12"/>
    <p:sldId id="427" r:id="rId13"/>
    <p:sldId id="428" r:id="rId14"/>
    <p:sldId id="429" r:id="rId15"/>
    <p:sldId id="430" r:id="rId16"/>
    <p:sldId id="426" r:id="rId17"/>
    <p:sldId id="431" r:id="rId18"/>
    <p:sldId id="388" r:id="rId19"/>
    <p:sldId id="432" r:id="rId20"/>
    <p:sldId id="433" r:id="rId21"/>
    <p:sldId id="389" r:id="rId22"/>
    <p:sldId id="435" r:id="rId23"/>
    <p:sldId id="434" r:id="rId24"/>
    <p:sldId id="437" r:id="rId25"/>
    <p:sldId id="392" r:id="rId26"/>
    <p:sldId id="394" r:id="rId27"/>
    <p:sldId id="438" r:id="rId28"/>
    <p:sldId id="380" r:id="rId29"/>
    <p:sldId id="377" r:id="rId30"/>
    <p:sldId id="378" r:id="rId31"/>
    <p:sldId id="333" r:id="rId32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6136" autoAdjust="0"/>
  </p:normalViewPr>
  <p:slideViewPr>
    <p:cSldViewPr>
      <p:cViewPr>
        <p:scale>
          <a:sx n="80" d="100"/>
          <a:sy n="80" d="100"/>
        </p:scale>
        <p:origin x="107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26.09.2013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26.09.2013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100" b="0">
                <a:solidFill>
                  <a:schemeClr val="tx1"/>
                </a:solidFill>
              </a:rPr>
              <a:t>*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100" b="0">
                <a:solidFill>
                  <a:schemeClr val="tx1"/>
                </a:solidFill>
              </a:rPr>
              <a:t>(c) 2008 National Academy for Software Development - http://academy.devbg.org. All rights reserved. Unauthorized copying or re-distribution is strictly prohibited.*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fld id="{3DBEFE99-FBC7-44E9-BAF0-81194C631906}" type="slidenum">
              <a:rPr lang="en-US" sz="1100" b="0">
                <a:solidFill>
                  <a:schemeClr val="tx1"/>
                </a:solidFill>
              </a:rPr>
              <a:pPr/>
              <a:t>1</a:t>
            </a:fld>
            <a:r>
              <a:rPr lang="en-US" sz="1100" b="0">
                <a:solidFill>
                  <a:schemeClr val="tx1"/>
                </a:solidFill>
              </a:rPr>
              <a:t>##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512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260039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100" b="0">
                <a:solidFill>
                  <a:schemeClr val="tx1"/>
                </a:solidFill>
              </a:rPr>
              <a:t>*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100" b="0">
                <a:solidFill>
                  <a:schemeClr val="tx1"/>
                </a:solidFill>
              </a:rPr>
              <a:t>(c) 2008 National Academy for Software Development - http://academy.devbg.org. All rights reserved. Unauthorized copying or re-distribution is strictly prohibited.*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fld id="{C6CC3D5D-5413-4364-A659-AE6A88F23CC8}" type="slidenum">
              <a:rPr lang="en-US" sz="1100" b="0">
                <a:solidFill>
                  <a:schemeClr val="tx1"/>
                </a:solidFill>
              </a:rPr>
              <a:pPr/>
              <a:t>2</a:t>
            </a:fld>
            <a:r>
              <a:rPr lang="en-US" sz="1100" b="0">
                <a:solidFill>
                  <a:schemeClr val="tx1"/>
                </a:solidFill>
              </a:rPr>
              <a:t>##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smtClean="0"/>
          </a:p>
        </p:txBody>
      </p:sp>
    </p:spTree>
    <p:extLst>
      <p:ext uri="{BB962C8B-B14F-4D97-AF65-F5344CB8AC3E}">
        <p14:creationId xmlns:p14="http://schemas.microsoft.com/office/powerpoint/2010/main" val="365837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*</a:t>
            </a:r>
            <a:endParaRPr lang="en-US" sz="1200" i="0"/>
          </a:p>
        </p:txBody>
      </p:sp>
      <p:sp>
        <p:nvSpPr>
          <p:cNvPr id="9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F21109B2-5A62-4E8C-B5B7-D36E4D026692}" type="datetime1">
              <a:rPr lang="en-US"/>
              <a:pPr/>
              <a:t>26.09.2013</a:t>
            </a:fld>
            <a:r>
              <a:rPr lang="en-US"/>
              <a:t>07/16/96</a:t>
            </a:r>
            <a:endParaRPr lang="en-US" sz="1200" i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(c) 2005 National Academy for Software Development - http://academy.devbg.org. All rights reserved. Unauthorized copying or re-distribution is strictly prohibited.*</a:t>
            </a:r>
            <a:endParaRPr lang="en-US" sz="1200" i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35C57B-2FEF-47A7-99CC-20BD2541C2BF}" type="slidenum">
              <a:rPr lang="en-US"/>
              <a:pPr/>
              <a:t>16</a:t>
            </a:fld>
            <a:r>
              <a:rPr lang="en-US"/>
              <a:t>##</a:t>
            </a:r>
            <a:endParaRPr lang="en-US" sz="1200" i="0"/>
          </a:p>
        </p:txBody>
      </p:sp>
      <p:sp>
        <p:nvSpPr>
          <p:cNvPr id="58265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83048" cy="46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756" tIns="0" rIns="19756" bIns="0"/>
          <a:lstStyle/>
          <a:p>
            <a:pPr defTabSz="947738">
              <a:lnSpc>
                <a:spcPct val="100000"/>
              </a:lnSpc>
            </a:pPr>
            <a:r>
              <a:rPr lang="en-US" sz="1100" b="0" i="1">
                <a:solidFill>
                  <a:schemeClr val="tx1"/>
                </a:solidFill>
                <a:effectLst/>
                <a:latin typeface="Arial" charset="0"/>
              </a:rPr>
              <a:t>*</a:t>
            </a:r>
            <a:endParaRPr lang="en-US" sz="1200" b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2659" name="Rectangle 3"/>
          <p:cNvSpPr txBox="1">
            <a:spLocks noGrp="1" noChangeArrowheads="1"/>
          </p:cNvSpPr>
          <p:nvPr/>
        </p:nvSpPr>
        <p:spPr bwMode="auto">
          <a:xfrm>
            <a:off x="3898765" y="0"/>
            <a:ext cx="2983048" cy="46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756" tIns="0" rIns="19756" bIns="0"/>
          <a:lstStyle/>
          <a:p>
            <a:pPr algn="r" defTabSz="947738">
              <a:lnSpc>
                <a:spcPct val="100000"/>
              </a:lnSpc>
            </a:pPr>
            <a:fld id="{90026F79-DBFD-4EB4-9449-67248CBBF1B1}" type="datetime1">
              <a:rPr lang="en-US" sz="1100" b="0" i="1">
                <a:solidFill>
                  <a:schemeClr val="tx1"/>
                </a:solidFill>
                <a:effectLst/>
                <a:latin typeface="Arial" charset="0"/>
              </a:rPr>
              <a:pPr algn="r" defTabSz="947738">
                <a:lnSpc>
                  <a:spcPct val="100000"/>
                </a:lnSpc>
              </a:pPr>
              <a:t>26.09.2013</a:t>
            </a:fld>
            <a:r>
              <a:rPr lang="en-US" sz="1100" b="0" i="1">
                <a:solidFill>
                  <a:schemeClr val="tx1"/>
                </a:solidFill>
                <a:effectLst/>
                <a:latin typeface="Arial" charset="0"/>
              </a:rPr>
              <a:t>07/16/96</a:t>
            </a:r>
            <a:endParaRPr lang="en-US" sz="1200" b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2660" name="Rectangle 6"/>
          <p:cNvSpPr txBox="1">
            <a:spLocks noGrp="1" noChangeArrowheads="1"/>
          </p:cNvSpPr>
          <p:nvPr/>
        </p:nvSpPr>
        <p:spPr bwMode="auto">
          <a:xfrm>
            <a:off x="1" y="8832546"/>
            <a:ext cx="5522159" cy="46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756" tIns="0" rIns="19756" bIns="0" anchor="b"/>
          <a:lstStyle/>
          <a:p>
            <a:pPr defTabSz="947738">
              <a:lnSpc>
                <a:spcPct val="100000"/>
              </a:lnSpc>
            </a:pPr>
            <a:r>
              <a:rPr lang="en-US" sz="1100" b="0" i="1">
                <a:solidFill>
                  <a:schemeClr val="tx1"/>
                </a:solidFill>
                <a:effectLst/>
                <a:latin typeface="Arial" charset="0"/>
              </a:rPr>
              <a:t>(c) 2005 National Academy for Software Development - http://academy.devbg.org. All rights reserved. Unauthorized copying or re-distribution is strictly prohibited.*</a:t>
            </a:r>
            <a:endParaRPr lang="en-US" sz="1200" b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2661" name="Rectangle 7"/>
          <p:cNvSpPr txBox="1">
            <a:spLocks noGrp="1" noChangeArrowheads="1"/>
          </p:cNvSpPr>
          <p:nvPr/>
        </p:nvSpPr>
        <p:spPr bwMode="auto">
          <a:xfrm>
            <a:off x="5744947" y="8832546"/>
            <a:ext cx="1136867" cy="46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756" tIns="0" rIns="19756" bIns="0" anchor="b"/>
          <a:lstStyle/>
          <a:p>
            <a:pPr algn="r" defTabSz="947738">
              <a:lnSpc>
                <a:spcPct val="100000"/>
              </a:lnSpc>
            </a:pPr>
            <a:fld id="{66800FD1-6B34-42C8-9D57-36ABCD5AD6CC}" type="slidenum">
              <a:rPr lang="en-US" sz="1100" b="0" i="1">
                <a:solidFill>
                  <a:schemeClr val="tx1"/>
                </a:solidFill>
                <a:effectLst/>
                <a:latin typeface="Arial" charset="0"/>
              </a:rPr>
              <a:pPr algn="r" defTabSz="947738">
                <a:lnSpc>
                  <a:spcPct val="100000"/>
                </a:lnSpc>
              </a:pPr>
              <a:t>16</a:t>
            </a:fld>
            <a:r>
              <a:rPr lang="en-US" sz="1100" b="0" i="1">
                <a:solidFill>
                  <a:schemeClr val="tx1"/>
                </a:solidFill>
                <a:effectLst/>
                <a:latin typeface="Arial" charset="0"/>
              </a:rPr>
              <a:t>##</a:t>
            </a:r>
            <a:endParaRPr lang="en-US" sz="1200" b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26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26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37745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100" b="0">
                <a:solidFill>
                  <a:schemeClr val="tx1"/>
                </a:solidFill>
              </a:rPr>
              <a:t>*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962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100" b="0">
                <a:solidFill>
                  <a:schemeClr val="tx1"/>
                </a:solidFill>
              </a:rPr>
              <a:t>(c) 2008 National Academy for Software Development - http://academy.devbg.org. All rights reserved. Unauthorized copying or re-distribution is strictly prohibited.*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962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fld id="{781B0732-F31C-4DF5-A486-E439FA1116BE}" type="slidenum">
              <a:rPr lang="en-US" sz="1100" b="0">
                <a:solidFill>
                  <a:schemeClr val="tx1"/>
                </a:solidFill>
              </a:rPr>
              <a:pPr/>
              <a:t>29</a:t>
            </a:fld>
            <a:r>
              <a:rPr lang="en-US" sz="1100" b="0">
                <a:solidFill>
                  <a:schemeClr val="tx1"/>
                </a:solidFill>
              </a:rPr>
              <a:t>##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962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smtClean="0"/>
          </a:p>
        </p:txBody>
      </p:sp>
    </p:spTree>
    <p:extLst>
      <p:ext uri="{BB962C8B-B14F-4D97-AF65-F5344CB8AC3E}">
        <p14:creationId xmlns:p14="http://schemas.microsoft.com/office/powerpoint/2010/main" val="2833444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100" b="0">
                <a:solidFill>
                  <a:schemeClr val="tx1"/>
                </a:solidFill>
              </a:rPr>
              <a:t>*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972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100" b="0">
                <a:solidFill>
                  <a:schemeClr val="tx1"/>
                </a:solidFill>
              </a:rPr>
              <a:t>(c) 2008 National Academy for Software Development - http://academy.devbg.org. All rights reserved. Unauthorized copying or re-distribution is strictly prohibited.*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972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1pPr>
            <a:lvl2pPr marL="742950" indent="-28575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2pPr>
            <a:lvl3pPr marL="11430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3pPr>
            <a:lvl4pPr marL="16002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4pPr>
            <a:lvl5pPr marL="2057400" indent="-228600" defTabSz="990600">
              <a:defRPr kumimoji="1" sz="4000" b="1">
                <a:solidFill>
                  <a:srgbClr val="000000"/>
                </a:solidFill>
                <a:latin typeface="Arial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charset="0"/>
              </a:defRPr>
            </a:lvl9pPr>
          </a:lstStyle>
          <a:p>
            <a:fld id="{C129551D-F0D5-4676-B2B9-D62D267CB919}" type="slidenum">
              <a:rPr lang="en-US" sz="1100" b="0">
                <a:solidFill>
                  <a:schemeClr val="tx1"/>
                </a:solidFill>
              </a:rPr>
              <a:pPr/>
              <a:t>30</a:t>
            </a:fld>
            <a:r>
              <a:rPr lang="en-US" sz="1100" b="0">
                <a:solidFill>
                  <a:schemeClr val="tx1"/>
                </a:solidFill>
              </a:rPr>
              <a:t>##</a:t>
            </a:r>
            <a:endParaRPr lang="en-US" sz="1300" b="0" i="0">
              <a:solidFill>
                <a:schemeClr val="tx1"/>
              </a:solidFill>
            </a:endParaRPr>
          </a:p>
        </p:txBody>
      </p:sp>
      <p:sp>
        <p:nvSpPr>
          <p:cNvPr id="972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smtClean="0"/>
          </a:p>
        </p:txBody>
      </p:sp>
    </p:spTree>
    <p:extLst>
      <p:ext uri="{BB962C8B-B14F-4D97-AF65-F5344CB8AC3E}">
        <p14:creationId xmlns:p14="http://schemas.microsoft.com/office/powerpoint/2010/main" val="3603681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leri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4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24046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57446"/>
            <a:ext cx="209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Telerik Corporation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062246"/>
            <a:ext cx="1707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www.telerik.com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63263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  <p:sldLayoutId id="214748370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academy.telerik.com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evilsite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25.png"/><Relationship Id="rId2" Type="http://schemas.openxmlformats.org/officeDocument/2006/relationships/hyperlink" Target="http://html5course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27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36" y="4583815"/>
            <a:ext cx="3771900" cy="1847978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344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536" y="1371600"/>
            <a:ext cx="8280920" cy="1524000"/>
          </a:xfrm>
        </p:spPr>
        <p:txBody>
          <a:bodyPr/>
          <a:lstStyle/>
          <a:p>
            <a:pPr>
              <a:lnSpc>
                <a:spcPct val="95000"/>
              </a:lnSpc>
              <a:defRPr/>
            </a:pPr>
            <a:r>
              <a:rPr lang="en-US" dirty="0" smtClean="0"/>
              <a:t>ASP.NET</a:t>
            </a:r>
            <a:br>
              <a:rPr lang="en-US" dirty="0" smtClean="0"/>
            </a:br>
            <a:r>
              <a:rPr lang="en-US" dirty="0" smtClean="0"/>
              <a:t>Web Security</a:t>
            </a:r>
            <a:endParaRPr lang="bg-BG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5302404"/>
            <a:ext cx="3352800" cy="523220"/>
          </a:xfrm>
        </p:spPr>
        <p:txBody>
          <a:bodyPr/>
          <a:lstStyle/>
          <a:p>
            <a:r>
              <a:rPr lang="en-US" dirty="0"/>
              <a:t>Svetlin </a:t>
            </a:r>
            <a:r>
              <a:rPr lang="en-US" dirty="0" smtClean="0"/>
              <a:t>Nakov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488794" y="3124200"/>
            <a:ext cx="8187661" cy="800606"/>
          </a:xfrm>
        </p:spPr>
        <p:txBody>
          <a:bodyPr/>
          <a:lstStyle/>
          <a:p>
            <a:r>
              <a:rPr lang="en-US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SQL Injection, XSS, CSRF, Parameter Tampering, </a:t>
            </a:r>
            <a:r>
              <a:rPr lang="en-US" noProof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DoS Attacks</a:t>
            </a:r>
            <a:r>
              <a:rPr lang="en-US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, 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Session Hijacking</a:t>
            </a: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08" t="-12667" r="4015" b="-12627"/>
          <a:stretch/>
        </p:blipFill>
        <p:spPr bwMode="auto">
          <a:xfrm rot="21177485">
            <a:off x="454805" y="1699538"/>
            <a:ext cx="2881802" cy="114423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powder">
            <a:bevelT w="152400" h="25400" prst="softRound"/>
          </a:sp3d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464" y="4795002"/>
            <a:ext cx="1306806" cy="1425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833646"/>
            <a:ext cx="3810000" cy="369332"/>
          </a:xfrm>
        </p:spPr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8351" y="6138446"/>
            <a:ext cx="3810000" cy="338554"/>
          </a:xfrm>
        </p:spPr>
        <p:txBody>
          <a:bodyPr/>
          <a:lstStyle/>
          <a:p>
            <a:r>
              <a:rPr lang="en-US" dirty="0" smtClean="0">
                <a:hlinkClick r:id="rId6"/>
              </a:rPr>
              <a:t>academy.telerik.com</a:t>
            </a:r>
            <a:r>
              <a:rPr lang="en-US" dirty="0" smtClean="0"/>
              <a:t>   </a:t>
            </a:r>
            <a:endParaRPr lang="en-US" dirty="0"/>
          </a:p>
        </p:txBody>
      </p:sp>
      <p:pic>
        <p:nvPicPr>
          <p:cNvPr id="1026" name="Picture 2" descr="lock, padlock, private, safe, safety, security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94051"/>
            <a:ext cx="1230586" cy="1230587"/>
          </a:xfrm>
          <a:prstGeom prst="rect">
            <a:avLst/>
          </a:prstGeom>
          <a:noFill/>
          <a:effectLst>
            <a:outerShdw blurRad="88900" sx="105000" sy="105000" algn="ctr" rotWithShape="0">
              <a:schemeClr val="accent5">
                <a:lumMod val="20000"/>
                <a:lumOff val="80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ryptography, key, lock, log in, login, password, security, unlock ico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5412">
            <a:off x="1955356" y="793768"/>
            <a:ext cx="1407153" cy="1407154"/>
          </a:xfrm>
          <a:prstGeom prst="rect">
            <a:avLst/>
          </a:prstGeom>
          <a:noFill/>
          <a:effectLst>
            <a:outerShdw blurRad="88900" sx="105000" sy="105000" algn="ctr" rotWithShape="0">
              <a:schemeClr val="accent5">
                <a:lumMod val="20000"/>
                <a:lumOff val="80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acker, intruder, killer, thief, user ico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36166">
            <a:off x="3657600" y="472222"/>
            <a:ext cx="1512333" cy="1512334"/>
          </a:xfrm>
          <a:prstGeom prst="rect">
            <a:avLst/>
          </a:prstGeom>
          <a:noFill/>
          <a:effectLst>
            <a:outerShdw blurRad="88900" sx="105000" sy="105000" algn="ctr" rotWithShape="0">
              <a:schemeClr val="accent5">
                <a:lumMod val="20000"/>
                <a:lumOff val="80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85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Table of Contents</a:t>
            </a:r>
            <a:r>
              <a:rPr lang="bg-BG" dirty="0" smtClean="0"/>
              <a:t> </a:t>
            </a:r>
          </a:p>
        </p:txBody>
      </p:sp>
      <p:sp>
        <p:nvSpPr>
          <p:cNvPr id="460806" name="Rectangle 6"/>
          <p:cNvSpPr>
            <a:spLocks noGrp="1" noChangeArrowheads="1"/>
          </p:cNvSpPr>
          <p:nvPr>
            <p:ph idx="1"/>
          </p:nvPr>
        </p:nvSpPr>
        <p:spPr>
          <a:xfrm>
            <a:off x="323850" y="980728"/>
            <a:ext cx="8496300" cy="5616624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SQL Injection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Cross Site Scripting (XSS)</a:t>
            </a:r>
          </a:p>
          <a:p>
            <a:pPr>
              <a:lnSpc>
                <a:spcPct val="100000"/>
              </a:lnSpc>
              <a:defRPr/>
            </a:pPr>
            <a:r>
              <a:rPr lang="en-US" dirty="0"/>
              <a:t>Cross-Site Request </a:t>
            </a:r>
            <a:r>
              <a:rPr lang="en-US" dirty="0" smtClean="0"/>
              <a:t>Forgery (CSRF)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Parameter Tampering</a:t>
            </a:r>
            <a:endParaRPr lang="en-US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</a:rPr>
              <a:pPr>
                <a:defRPr/>
              </a:pPr>
              <a:t>2</a:t>
            </a:fld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889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800600"/>
            <a:ext cx="7924800" cy="685800"/>
          </a:xfrm>
        </p:spPr>
        <p:txBody>
          <a:bodyPr/>
          <a:lstStyle/>
          <a:p>
            <a:r>
              <a:rPr lang="en-US" dirty="0" smtClean="0"/>
              <a:t>SQL Injection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603080"/>
            <a:ext cx="7924800" cy="569120"/>
          </a:xfrm>
        </p:spPr>
        <p:txBody>
          <a:bodyPr/>
          <a:lstStyle/>
          <a:p>
            <a:r>
              <a:rPr lang="en-US" dirty="0" smtClean="0"/>
              <a:t>What is SQL Injection and How </a:t>
            </a:r>
            <a:r>
              <a:rPr lang="en-US" smtClean="0"/>
              <a:t>to Prevent It?</a:t>
            </a:r>
            <a:endParaRPr lang="en-US"/>
          </a:p>
        </p:txBody>
      </p:sp>
      <p:pic>
        <p:nvPicPr>
          <p:cNvPr id="4098" name="Picture 2" descr="https://haririhost.files.wordpress.com/2012/03/sql_injectio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0" y="1514476"/>
            <a:ext cx="3670300" cy="2752724"/>
          </a:xfrm>
          <a:prstGeom prst="roundRect">
            <a:avLst>
              <a:gd name="adj" fmla="val 6139"/>
            </a:avLst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1.bp.blogspot.com/-3CQ8AKT9T7g/T9OReNZnLiI/AAAAAAAAA5I/OvnUXUQalBw/s1600/sql-injection-attack-examp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784" y="2743200"/>
            <a:ext cx="2238375" cy="1809751"/>
          </a:xfrm>
          <a:prstGeom prst="roundRect">
            <a:avLst>
              <a:gd name="adj" fmla="val 6139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://4.bp.blogspot.com/-kgQKXYc02Ig/TyruFvRsYrI/AAAAAAAAAIE/xzMzw4xmKvY/s1600/sql-injectio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050" y="1143000"/>
            <a:ext cx="1963950" cy="2009776"/>
          </a:xfrm>
          <a:prstGeom prst="roundRect">
            <a:avLst>
              <a:gd name="adj" fmla="val 6139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68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00" y="152400"/>
            <a:ext cx="5791200" cy="914400"/>
          </a:xfrm>
        </p:spPr>
        <p:txBody>
          <a:bodyPr/>
          <a:lstStyle/>
          <a:p>
            <a:r>
              <a:rPr lang="en-US" dirty="0" smtClean="0"/>
              <a:t>What is SQL Injection?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09600" y="1066800"/>
            <a:ext cx="7893050" cy="34440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protected void ButtonSearch_Click(object sender, EventArgs e)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string searchString = this.TextBoxSearch.Text;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string searchSql = "SELECT * FROM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Messages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WHERE</a:t>
            </a:r>
            <a:b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</a:b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MessageText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LIKE '%" </a:t>
            </a:r>
            <a:r>
              <a:rPr lang="en-US" sz="1800" b="1" noProof="1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+ searchString +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"%'";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MessagesDbContext dbContext = new MessagesDbContext();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matchingMessages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dbContext.Database.SqlQuery&lt;Message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&gt;(searchSql).ToList();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this.ListViewMessages.DataSource = matchingMessages;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this.DataBind();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8600" y="4648200"/>
            <a:ext cx="8686800" cy="2057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 smtClean="0"/>
              <a:t>Try the following queries:</a:t>
            </a:r>
          </a:p>
          <a:p>
            <a:pPr marL="534988" lvl="1" indent="-266700">
              <a:lnSpc>
                <a:spcPct val="100000"/>
              </a:lnSpc>
            </a:pPr>
            <a:r>
              <a:rPr lang="en-US" sz="24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400" dirty="0" smtClean="0"/>
              <a:t> </a:t>
            </a:r>
            <a:r>
              <a:rPr lang="en-US" sz="2400" dirty="0" smtClean="0">
                <a:sym typeface="Wingdings" panose="05000000000000000000" pitchFamily="2" charset="2"/>
              </a:rPr>
              <a:t> crashes</a:t>
            </a:r>
          </a:p>
          <a:p>
            <a:pPr marL="534988" lvl="1" indent="-266700">
              <a:lnSpc>
                <a:spcPct val="100000"/>
              </a:lnSpc>
            </a:pP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INTO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Messages(MessageText,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MessageDate)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VALUES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('Hacked!!!',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24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'1.1.1980</a:t>
            </a:r>
            <a:r>
              <a:rPr lang="en-US" sz="24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</a:t>
            </a:r>
            <a:r>
              <a:rPr lang="en-US" sz="2400" dirty="0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2400" dirty="0" smtClean="0">
                <a:sym typeface="Wingdings" panose="05000000000000000000" pitchFamily="2" charset="2"/>
              </a:rPr>
              <a:t> injects a message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94809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5105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 smtClean="0"/>
              <a:t>The following SQL commands are executed:</a:t>
            </a:r>
          </a:p>
          <a:p>
            <a:pPr lvl="1">
              <a:lnSpc>
                <a:spcPct val="100000"/>
              </a:lnSpc>
            </a:pPr>
            <a:r>
              <a:rPr lang="en-US" sz="2600" dirty="0" smtClean="0"/>
              <a:t>Usual </a:t>
            </a:r>
            <a:r>
              <a:rPr lang="en-US" sz="2600" dirty="0" smtClean="0"/>
              <a:t>search (no </a:t>
            </a:r>
            <a:r>
              <a:rPr lang="en-US" sz="2600" dirty="0" smtClean="0"/>
              <a:t>SQL injection</a:t>
            </a:r>
            <a:r>
              <a:rPr lang="en-US" sz="2600" dirty="0" smtClean="0"/>
              <a:t>):</a:t>
            </a:r>
          </a:p>
          <a:p>
            <a:pPr lvl="1">
              <a:lnSpc>
                <a:spcPct val="100000"/>
              </a:lnSpc>
            </a:pPr>
            <a:endParaRPr lang="en-US" sz="2600" dirty="0" smtClean="0"/>
          </a:p>
          <a:p>
            <a:pPr lvl="1">
              <a:lnSpc>
                <a:spcPct val="100000"/>
              </a:lnSpc>
            </a:pPr>
            <a:r>
              <a:rPr lang="en-US" sz="2600" dirty="0" smtClean="0"/>
              <a:t>SQL-injected search (matches all records):</a:t>
            </a:r>
          </a:p>
          <a:p>
            <a:pPr lvl="1">
              <a:lnSpc>
                <a:spcPct val="100000"/>
              </a:lnSpc>
            </a:pPr>
            <a:endParaRPr lang="en-US" sz="2600" dirty="0" smtClean="0"/>
          </a:p>
          <a:p>
            <a:pPr lvl="1">
              <a:lnSpc>
                <a:spcPct val="100000"/>
              </a:lnSpc>
            </a:pPr>
            <a:endParaRPr lang="en-US" sz="2600" dirty="0"/>
          </a:p>
          <a:p>
            <a:pPr lvl="1">
              <a:lnSpc>
                <a:spcPct val="100000"/>
              </a:lnSpc>
            </a:pPr>
            <a:r>
              <a:rPr lang="en-US" sz="2600" dirty="0" smtClean="0"/>
              <a:t>SQL-injected </a:t>
            </a:r>
            <a:r>
              <a:rPr lang="en-US" sz="2600" dirty="0" smtClean="0"/>
              <a:t>INSERT command</a:t>
            </a:r>
            <a:r>
              <a:rPr lang="en-US" sz="2600" dirty="0" smtClean="0"/>
              <a:t>:</a:t>
            </a:r>
            <a:endParaRPr lang="bg-BG" sz="2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00" y="228600"/>
            <a:ext cx="5791200" cy="914400"/>
          </a:xfrm>
        </p:spPr>
        <p:txBody>
          <a:bodyPr/>
          <a:lstStyle/>
          <a:p>
            <a:r>
              <a:rPr lang="en-US" dirty="0" smtClean="0"/>
              <a:t>How Does</a:t>
            </a:r>
            <a:br>
              <a:rPr lang="en-US" dirty="0" smtClean="0"/>
            </a:br>
            <a:r>
              <a:rPr lang="en-US" dirty="0" smtClean="0"/>
              <a:t>SQL Injection Work?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65150" y="2667000"/>
            <a:ext cx="8045450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SELECT * FROM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Messages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WHERE MessageText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LIKE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'%</a:t>
            </a:r>
            <a:r>
              <a:rPr lang="en-US" sz="1800" b="1" noProof="1" smtClean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nakov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%'"</a:t>
            </a:r>
            <a:endParaRPr lang="bg-BG" sz="18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65150" y="3733800"/>
            <a:ext cx="8045450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SELECT * FROM Messages WHERE MessageText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LIKE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'%</a:t>
            </a:r>
            <a:r>
              <a:rPr lang="en-US" sz="1800" b="1" noProof="1" smtClean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%%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%'"</a:t>
            </a:r>
            <a:endParaRPr lang="bg-BG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65150" y="5410200"/>
            <a:ext cx="8045450" cy="9233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SELECT * FROM Messages WHERE MessageText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LIKE '%</a:t>
            </a:r>
            <a:r>
              <a:rPr lang="en-US" sz="1800" b="1" noProof="1" smtClean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'; INSERT INTO Messages(MessageText, MessageDate) VALUES ('Hacked!!!', '1.1.1980') --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%'"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65150" y="4310464"/>
            <a:ext cx="8045450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SELECT * FROM Messages WHERE MessageText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LIKE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'%</a:t>
            </a:r>
            <a:r>
              <a:rPr lang="en-US" sz="1800" b="1" noProof="1" smtClean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' or 1=1 --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%'"</a:t>
            </a:r>
            <a:endParaRPr lang="bg-BG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2065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Preventing SQL Injection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r>
              <a:rPr lang="en-US" dirty="0" smtClean="0"/>
              <a:t>Ways to prevent the SQL injection:</a:t>
            </a:r>
          </a:p>
          <a:p>
            <a:pPr lvl="1"/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SQL-escape</a:t>
            </a:r>
            <a:r>
              <a:rPr lang="en-US" dirty="0" smtClean="0"/>
              <a:t> all data coming from the user</a:t>
            </a:r>
            <a:r>
              <a:rPr lang="en-US" dirty="0" smtClean="0"/>
              <a:t>:</a:t>
            </a:r>
            <a:endParaRPr lang="en-US" dirty="0"/>
          </a:p>
          <a:p>
            <a:pPr lvl="2"/>
            <a:r>
              <a:rPr lang="en-US" dirty="0" smtClean="0"/>
              <a:t>Not recommended: use as last resort only!</a:t>
            </a:r>
          </a:p>
          <a:p>
            <a:pPr lvl="1"/>
            <a:r>
              <a:rPr lang="en-US" dirty="0" smtClean="0"/>
              <a:t>Preferred approach:</a:t>
            </a:r>
          </a:p>
          <a:p>
            <a:pPr lvl="2"/>
            <a:r>
              <a:rPr lang="en-US" dirty="0" smtClean="0"/>
              <a:t>Use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parameterized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queries</a:t>
            </a: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12750" y="4217075"/>
            <a:ext cx="8350250" cy="20313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string searchSql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@"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SELECT *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FROM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Messages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WHERE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MessageText LIKE {0} ESCAPE '~'";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string searchString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"%"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+ </a:t>
            </a:r>
            <a:endParaRPr lang="en-US" sz="18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TextBoxSearch.Text.Replace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("~", "~~").Replace("%", "~%") + "%";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MessagesDbContext dbContext = new MessagesDbContext();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matchingMessages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dbContext.Database.SqlQuery&lt;Message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&gt;(searchSql, 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searchString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460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0" y="2209800"/>
            <a:ext cx="3962400" cy="2133600"/>
          </a:xfrm>
        </p:spPr>
        <p:txBody>
          <a:bodyPr/>
          <a:lstStyle/>
          <a:p>
            <a:r>
              <a:rPr lang="en-US" dirty="0" smtClean="0"/>
              <a:t>SQL </a:t>
            </a:r>
            <a:r>
              <a:rPr lang="en-US" dirty="0" smtClean="0"/>
              <a:t>Injection and Prevention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0" y="4536280"/>
            <a:ext cx="3352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4" name="Picture 8" descr="http://4.bp.blogspot.com/-kgQKXYc02Ig/TyruFvRsYrI/AAAAAAAAAIE/xzMzw4xmKvY/s1600/sql-injec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74" y="1676400"/>
            <a:ext cx="3723126" cy="3810000"/>
          </a:xfrm>
          <a:prstGeom prst="roundRect">
            <a:avLst>
              <a:gd name="adj" fmla="val 6139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15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953000"/>
            <a:ext cx="7924800" cy="685800"/>
          </a:xfrm>
        </p:spPr>
        <p:txBody>
          <a:bodyPr/>
          <a:lstStyle/>
          <a:p>
            <a:r>
              <a:rPr lang="en-US" dirty="0"/>
              <a:t>Cross Site Scripting (XSS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5755480"/>
            <a:ext cx="7924800" cy="569120"/>
          </a:xfrm>
        </p:spPr>
        <p:txBody>
          <a:bodyPr/>
          <a:lstStyle/>
          <a:p>
            <a:r>
              <a:rPr lang="en-US" dirty="0" smtClean="0"/>
              <a:t>What is XSS and How to Prevent It?</a:t>
            </a:r>
            <a:endParaRPr lang="en-US" dirty="0"/>
          </a:p>
        </p:txBody>
      </p:sp>
      <p:pic>
        <p:nvPicPr>
          <p:cNvPr id="2050" name="Picture 2" descr="http://2.bp.blogspot.com/-aRb_ZEYFwqA/TbUixDDYweI/AAAAAAAAAcw/vbKRlZ4Qkzo/s320/xs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067990"/>
            <a:ext cx="5334000" cy="3550446"/>
          </a:xfrm>
          <a:prstGeom prst="roundRect">
            <a:avLst>
              <a:gd name="adj" fmla="val 141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 rot="20384061">
            <a:off x="3469788" y="3504162"/>
            <a:ext cx="170591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pc="-150" dirty="0" smtClean="0">
                <a:solidFill>
                  <a:schemeClr val="bg1"/>
                </a:solidFill>
              </a:rPr>
              <a:t>&lt;</a:t>
            </a:r>
            <a:r>
              <a:rPr lang="en-US" sz="2400" b="1" spc="-15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</a:t>
            </a:r>
            <a:r>
              <a:rPr lang="en-US" b="1" spc="-150" dirty="0" smtClean="0">
                <a:solidFill>
                  <a:schemeClr val="bg1"/>
                </a:solidFill>
              </a:rPr>
              <a:t>&gt;…</a:t>
            </a:r>
            <a:endParaRPr lang="en-US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 rot="1196828">
            <a:off x="3946950" y="1884042"/>
            <a:ext cx="1540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pc="-150" dirty="0" smtClean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&lt;script&gt;…</a:t>
            </a:r>
            <a:endParaRPr lang="en-US" sz="2400" b="1" spc="-15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041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XSS </a:t>
            </a:r>
            <a:r>
              <a:rPr lang="en-US" dirty="0" smtClean="0"/>
              <a:t>Attack</a:t>
            </a:r>
            <a:endParaRPr lang="bg-BG" dirty="0"/>
          </a:p>
        </p:txBody>
      </p:sp>
      <p:sp>
        <p:nvSpPr>
          <p:cNvPr id="5662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Cross-site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scripting (XSS)</a:t>
            </a:r>
            <a:r>
              <a:rPr lang="en-US" dirty="0" smtClean="0"/>
              <a:t> is a common security vulnerability in Web applications</a:t>
            </a:r>
            <a:endParaRPr lang="en-US" dirty="0"/>
          </a:p>
          <a:p>
            <a:pPr lvl="1"/>
            <a:r>
              <a:rPr lang="en-US" dirty="0"/>
              <a:t>Web application is </a:t>
            </a:r>
            <a:r>
              <a:rPr lang="en-US" dirty="0" smtClean="0"/>
              <a:t>let to display a JavaScript code that is executed at the client's browser</a:t>
            </a:r>
          </a:p>
          <a:p>
            <a:pPr lvl="2"/>
            <a:r>
              <a:rPr lang="en-US" dirty="0" smtClean="0"/>
              <a:t>Crackers could take control over sessions, cookies, passwords, and other private data</a:t>
            </a:r>
            <a:endParaRPr lang="en-US" dirty="0"/>
          </a:p>
          <a:p>
            <a:r>
              <a:rPr lang="en-US" dirty="0"/>
              <a:t>How to prevent from </a:t>
            </a:r>
            <a:r>
              <a:rPr lang="en-US" dirty="0" smtClean="0"/>
              <a:t>XSS?</a:t>
            </a:r>
            <a:endParaRPr lang="en-US" dirty="0"/>
          </a:p>
          <a:p>
            <a:pPr lvl="1"/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Validate</a:t>
            </a:r>
            <a:r>
              <a:rPr lang="en-US" dirty="0" smtClean="0"/>
              <a:t> the user input (built-in in ASP.NET)</a:t>
            </a:r>
            <a:endParaRPr lang="en-US" dirty="0"/>
          </a:p>
          <a:p>
            <a:pPr lvl="1"/>
            <a:r>
              <a:rPr lang="en-US" dirty="0"/>
              <a:t>Perform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HTML</a:t>
            </a:r>
            <a:r>
              <a:rPr lang="en-US" dirty="0"/>
              <a:t>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escaping</a:t>
            </a:r>
            <a:r>
              <a:rPr lang="en-US" dirty="0" smtClean="0"/>
              <a:t> when displaying text data in a Web control</a:t>
            </a:r>
            <a:endParaRPr lang="en-US" dirty="0"/>
          </a:p>
          <a:p>
            <a:pPr>
              <a:buFontTx/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1322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Request Validation</a:t>
            </a:r>
            <a:endParaRPr lang="bg-BG" dirty="0"/>
          </a:p>
        </p:txBody>
      </p:sp>
      <p:sp>
        <p:nvSpPr>
          <p:cNvPr id="56729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ASP.NET applies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automatic request validation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Controlled by the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ValidateRequest</a:t>
            </a:r>
            <a:r>
              <a:rPr lang="en-US" dirty="0" smtClean="0"/>
              <a:t> </a:t>
            </a:r>
            <a:r>
              <a:rPr lang="en-US" dirty="0"/>
              <a:t>attribute of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Page</a:t>
            </a:r>
            <a:r>
              <a:rPr lang="en-US" dirty="0"/>
              <a:t> directive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Checks all input data against a hard-coded list of potentially dangerous values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The </a:t>
            </a:r>
            <a:r>
              <a:rPr lang="en-US" dirty="0"/>
              <a:t>default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true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Using it could harm the normal work on most applications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E.g. a user posts JavaScript code in a forum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Escaping is a better way to handle the problem!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4559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Bad Characters Protection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509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The ASP.NET built-in protection against XSS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By default stops all HTTP requests that send un-escaped HTML code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An error message is shown when a form sends HTML to the server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en-US" dirty="0" smtClean="0"/>
              <a:t>Disable the HTTP request validation for all pages in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Web.config</a:t>
            </a:r>
            <a:r>
              <a:rPr lang="en-US" dirty="0" smtClean="0"/>
              <a:t> (in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&lt;system.web&gt;</a:t>
            </a:r>
            <a:r>
              <a:rPr lang="en-US" dirty="0" smtClean="0"/>
              <a:t>):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5721419"/>
            <a:ext cx="7620000" cy="7609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&lt;httpRuntime requestValidationMode="2.0</a:t>
            </a:r>
            <a:r>
              <a:rPr lang="fr-FR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 /&gt;</a:t>
            </a:r>
            <a:endParaRPr lang="fr-FR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&lt;pages validateRequest="false</a:t>
            </a:r>
            <a:r>
              <a:rPr lang="fr-FR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 /&gt;</a:t>
            </a:r>
            <a:endParaRPr lang="fr-FR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2000" y="3664019"/>
            <a:ext cx="7620000" cy="7609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i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500 Internal Server </a:t>
            </a:r>
            <a:r>
              <a:rPr lang="en-US" sz="20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Error: A </a:t>
            </a:r>
            <a:r>
              <a:rPr lang="en-US" sz="2000" b="1" i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potentially dangerous Request.Form value was detected from the client </a:t>
            </a:r>
            <a:r>
              <a:rPr lang="en-US" sz="20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(…)</a:t>
            </a:r>
            <a:endParaRPr lang="fr-FR" sz="2000" b="1" i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58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HTML </a:t>
            </a:r>
            <a:r>
              <a:rPr lang="en-US" dirty="0" smtClean="0"/>
              <a:t>Escaping?</a:t>
            </a:r>
            <a:endParaRPr lang="bg-BG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HTML escaping </a:t>
            </a:r>
            <a:r>
              <a:rPr lang="en-US" dirty="0" smtClean="0"/>
              <a:t>is the act of replacing special </a:t>
            </a:r>
            <a:r>
              <a:rPr lang="en-US" dirty="0"/>
              <a:t>characters </a:t>
            </a:r>
            <a:r>
              <a:rPr lang="en-US" dirty="0" smtClean="0"/>
              <a:t>with their HTML entities</a:t>
            </a:r>
          </a:p>
          <a:p>
            <a:pPr lvl="1"/>
            <a:r>
              <a:rPr lang="en-US" dirty="0"/>
              <a:t>Escaped characters are interpreted as character data instead of mark up</a:t>
            </a:r>
          </a:p>
          <a:p>
            <a:r>
              <a:rPr lang="en-US" dirty="0" smtClean="0"/>
              <a:t>Typical characters to escape</a:t>
            </a:r>
          </a:p>
          <a:p>
            <a:pPr lvl="1"/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/>
              <a:t> – start / end of HTML tag</a:t>
            </a:r>
            <a:endParaRPr lang="en-US" dirty="0"/>
          </a:p>
          <a:p>
            <a:pPr lvl="1"/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</a:t>
            </a:r>
            <a:r>
              <a:rPr lang="en-US" dirty="0"/>
              <a:t> – start of character entity reference</a:t>
            </a:r>
          </a:p>
          <a:p>
            <a:pPr lvl="1"/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dirty="0" smtClean="0"/>
              <a:t> – text in single / double quotes</a:t>
            </a:r>
            <a:endParaRPr lang="en-US" dirty="0"/>
          </a:p>
          <a:p>
            <a:pPr lvl="1"/>
            <a:r>
              <a:rPr lang="en-US" dirty="0" smtClean="0"/>
              <a:t>…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9222" name="Picture 6" descr="http://www.freeimageslive.co.uk/files/images006/escape_key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53200" y="2942844"/>
            <a:ext cx="1953254" cy="1375156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0868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</a:t>
            </a:r>
            <a:r>
              <a:rPr lang="en-US" smtClean="0"/>
              <a:t>Character Escaping</a:t>
            </a:r>
            <a:endParaRPr lang="bg-BG" dirty="0"/>
          </a:p>
        </p:txBody>
      </p:sp>
      <p:sp>
        <p:nvSpPr>
          <p:cNvPr id="5652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62528"/>
            <a:ext cx="8686800" cy="5743072"/>
          </a:xfrm>
        </p:spPr>
        <p:txBody>
          <a:bodyPr/>
          <a:lstStyle/>
          <a:p>
            <a:pPr>
              <a:lnSpc>
                <a:spcPts val="3200"/>
              </a:lnSpc>
            </a:pPr>
            <a:r>
              <a:rPr lang="en-US" sz="3000" dirty="0"/>
              <a:t>Each character could be presented </a:t>
            </a:r>
            <a:r>
              <a:rPr lang="en-US" sz="3000" dirty="0" smtClean="0"/>
              <a:t>as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HTML entity </a:t>
            </a:r>
            <a:r>
              <a:rPr lang="en-US" sz="3000" dirty="0" smtClean="0"/>
              <a:t>escaping sequence</a:t>
            </a:r>
            <a:endParaRPr lang="en-US" sz="3000" dirty="0"/>
          </a:p>
          <a:p>
            <a:pPr>
              <a:lnSpc>
                <a:spcPts val="3200"/>
              </a:lnSpc>
            </a:pPr>
            <a:r>
              <a:rPr lang="en-US" sz="3000" dirty="0"/>
              <a:t>Numeric character </a:t>
            </a:r>
            <a:r>
              <a:rPr lang="en-US" sz="3000" dirty="0" smtClean="0"/>
              <a:t>references:</a:t>
            </a:r>
            <a:endParaRPr lang="en-US" sz="3000" dirty="0"/>
          </a:p>
          <a:p>
            <a:pPr lvl="1">
              <a:lnSpc>
                <a:spcPts val="3200"/>
              </a:lnSpc>
            </a:pPr>
            <a:r>
              <a:rPr lang="en-US" sz="2800" dirty="0"/>
              <a:t>'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λ</a:t>
            </a:r>
            <a:r>
              <a:rPr lang="en-US" sz="2800" dirty="0"/>
              <a:t>'  is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&amp;#955;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&amp;#x03BB</a:t>
            </a:r>
            <a:r>
              <a:rPr lang="en-US" sz="2800" dirty="0"/>
              <a:t>; or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&amp;#X03bb</a:t>
            </a:r>
            <a:r>
              <a:rPr lang="en-US" sz="2800" dirty="0"/>
              <a:t>; </a:t>
            </a:r>
          </a:p>
          <a:p>
            <a:pPr>
              <a:lnSpc>
                <a:spcPts val="3200"/>
              </a:lnSpc>
            </a:pPr>
            <a:r>
              <a:rPr lang="en-US" sz="3000" dirty="0"/>
              <a:t>Named </a:t>
            </a:r>
            <a:r>
              <a:rPr lang="en-US" sz="3000" dirty="0" smtClean="0"/>
              <a:t>HTML entities:</a:t>
            </a:r>
            <a:endParaRPr lang="en-US" sz="3000" dirty="0"/>
          </a:p>
          <a:p>
            <a:pPr lvl="1">
              <a:lnSpc>
                <a:spcPts val="3200"/>
              </a:lnSpc>
            </a:pPr>
            <a:r>
              <a:rPr lang="en-US" sz="2800" dirty="0"/>
              <a:t>'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λ</a:t>
            </a:r>
            <a:r>
              <a:rPr lang="en-US" sz="2800" dirty="0"/>
              <a:t>'  is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&amp;lambda; </a:t>
            </a:r>
          </a:p>
          <a:p>
            <a:pPr lvl="1">
              <a:lnSpc>
                <a:spcPts val="3200"/>
              </a:lnSpc>
            </a:pPr>
            <a:r>
              <a:rPr lang="en-US" sz="2800" dirty="0"/>
              <a:t>'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800" dirty="0"/>
              <a:t>' is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&amp;lt;</a:t>
            </a:r>
          </a:p>
          <a:p>
            <a:pPr lvl="1">
              <a:lnSpc>
                <a:spcPts val="3200"/>
              </a:lnSpc>
            </a:pPr>
            <a:r>
              <a:rPr lang="en-US" sz="2800" dirty="0"/>
              <a:t>'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2800" dirty="0"/>
              <a:t>' is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&amp;gt;</a:t>
            </a:r>
          </a:p>
          <a:p>
            <a:pPr lvl="1">
              <a:lnSpc>
                <a:spcPts val="3200"/>
              </a:lnSpc>
            </a:pPr>
            <a:r>
              <a:rPr lang="en-US" sz="2800" dirty="0"/>
              <a:t>'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</a:t>
            </a:r>
            <a:r>
              <a:rPr lang="en-US" sz="2800" dirty="0"/>
              <a:t>' is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&amp;amp;</a:t>
            </a:r>
          </a:p>
          <a:p>
            <a:pPr lvl="1">
              <a:lnSpc>
                <a:spcPts val="3200"/>
              </a:lnSpc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dirty="0"/>
              <a:t> (double quote) is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&amp;quot;</a:t>
            </a:r>
            <a:endParaRPr lang="bg-BG" sz="2800" dirty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8194" name="Picture 2" descr="http://czyborra.com/charsets/cp437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264567"/>
            <a:ext cx="3132221" cy="313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9876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Encode HTML Entities?</a:t>
            </a:r>
            <a:endParaRPr lang="bg-BG" dirty="0"/>
          </a:p>
        </p:txBody>
      </p:sp>
      <p:sp>
        <p:nvSpPr>
          <p:cNvPr id="5683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pPr>
              <a:lnSpc>
                <a:spcPts val="3400"/>
              </a:lnSpc>
            </a:pPr>
            <a:r>
              <a:rPr lang="en-US" sz="3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HttpServerUtility.HtmlEncode</a:t>
            </a:r>
          </a:p>
          <a:p>
            <a:pPr lvl="1">
              <a:lnSpc>
                <a:spcPts val="3400"/>
              </a:lnSpc>
            </a:pPr>
            <a:r>
              <a:rPr lang="en-US" sz="2800" dirty="0"/>
              <a:t>HTML encodes a string and returns the encoded (html-safe) string</a:t>
            </a:r>
          </a:p>
          <a:p>
            <a:pPr>
              <a:lnSpc>
                <a:spcPts val="3400"/>
              </a:lnSpc>
              <a:buFontTx/>
              <a:buNone/>
            </a:pPr>
            <a:r>
              <a:rPr lang="en-US" sz="3000" dirty="0" smtClean="0"/>
              <a:t>	</a:t>
            </a:r>
            <a:r>
              <a:rPr lang="en-US" sz="3000" dirty="0" smtClean="0"/>
              <a:t>Example </a:t>
            </a:r>
            <a:r>
              <a:rPr lang="en-US" sz="3000" dirty="0" smtClean="0"/>
              <a:t>(in ASPX</a:t>
            </a:r>
            <a:r>
              <a:rPr lang="en-US" sz="3000" dirty="0" smtClean="0"/>
              <a:t>):</a:t>
            </a:r>
          </a:p>
          <a:p>
            <a:pPr>
              <a:lnSpc>
                <a:spcPts val="3400"/>
              </a:lnSpc>
              <a:buFontTx/>
              <a:buNone/>
            </a:pPr>
            <a:endParaRPr lang="en-US" sz="3000" dirty="0" smtClean="0"/>
          </a:p>
          <a:p>
            <a:pPr>
              <a:lnSpc>
                <a:spcPts val="3400"/>
              </a:lnSpc>
              <a:spcBef>
                <a:spcPts val="4800"/>
              </a:spcBef>
              <a:buFontTx/>
              <a:buNone/>
            </a:pPr>
            <a:r>
              <a:rPr lang="en-US" sz="3000" dirty="0" smtClean="0"/>
              <a:t>	</a:t>
            </a:r>
            <a:r>
              <a:rPr lang="en-US" sz="3000" dirty="0" smtClean="0"/>
              <a:t>Output:</a:t>
            </a:r>
            <a:endParaRPr lang="en-US" sz="3000" dirty="0" smtClean="0"/>
          </a:p>
          <a:p>
            <a:pPr>
              <a:lnSpc>
                <a:spcPts val="3400"/>
              </a:lnSpc>
              <a:spcBef>
                <a:spcPts val="4800"/>
              </a:spcBef>
              <a:buFontTx/>
              <a:buNone/>
            </a:pPr>
            <a:r>
              <a:rPr lang="en-US" sz="3000" dirty="0" smtClean="0"/>
              <a:t>	Web browser renders the following:</a:t>
            </a:r>
            <a:endParaRPr lang="bg-BG" sz="3000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68324" name="Rectangle 4"/>
          <p:cNvSpPr>
            <a:spLocks noChangeArrowheads="1"/>
          </p:cNvSpPr>
          <p:nvPr/>
        </p:nvSpPr>
        <p:spPr bwMode="auto">
          <a:xfrm>
            <a:off x="609600" y="3732150"/>
            <a:ext cx="7924800" cy="38100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no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&lt;%response.write(Server.HtmlEncode("The image tag: &lt;img&gt;"))%&gt;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68326" name="Rectangle 6"/>
          <p:cNvSpPr>
            <a:spLocks noChangeArrowheads="1"/>
          </p:cNvSpPr>
          <p:nvPr/>
        </p:nvSpPr>
        <p:spPr bwMode="auto">
          <a:xfrm>
            <a:off x="609600" y="4826001"/>
            <a:ext cx="7924800" cy="38099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no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The image tag: &amp;lt;img&amp;gt; </a:t>
            </a:r>
          </a:p>
        </p:txBody>
      </p:sp>
      <p:sp>
        <p:nvSpPr>
          <p:cNvPr id="568328" name="Rectangle 8"/>
          <p:cNvSpPr>
            <a:spLocks noChangeArrowheads="1"/>
          </p:cNvSpPr>
          <p:nvPr/>
        </p:nvSpPr>
        <p:spPr bwMode="auto">
          <a:xfrm>
            <a:off x="609600" y="5953125"/>
            <a:ext cx="7924800" cy="3714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no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The image tag: &lt;img&gt;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09600" y="3124200"/>
            <a:ext cx="7924800" cy="38100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no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&lt;%: "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The image tag: &lt;img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&gt;" %&gt;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9989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Preventing XSS in ASP.NET MVC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The Razor template engine in ASP.NET MVC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escapes everything by default</a:t>
            </a:r>
            <a:r>
              <a:rPr lang="en-US" dirty="0" smtClean="0"/>
              <a:t>: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smtClean="0"/>
              <a:t>To render un-escaped HTML in MVC view use: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2133600"/>
            <a:ext cx="7924800" cy="69940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@{ ViewBag.SomeText = "&lt;script&gt;alert('hi')&lt;/script&gt;";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@ViewBag.SomeText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3311395"/>
            <a:ext cx="7924800" cy="4224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&amp;lt;script&amp;gt;alert(&amp;#39;hi&amp;#39;)&amp;lt;/script&amp;gt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8" name="Straight Arrow Connector 7"/>
          <p:cNvCxnSpPr>
            <a:stCxn id="5" idx="2"/>
            <a:endCxn id="6" idx="0"/>
          </p:cNvCxnSpPr>
          <p:nvPr/>
        </p:nvCxnSpPr>
        <p:spPr>
          <a:xfrm>
            <a:off x="4572000" y="2833004"/>
            <a:ext cx="0" cy="478391"/>
          </a:xfrm>
          <a:prstGeom prst="straightConnector1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31750">
            <a:solidFill>
              <a:schemeClr val="accent5">
                <a:lumMod val="20000"/>
                <a:lumOff val="80000"/>
              </a:schemeClr>
            </a:solidFill>
            <a:headEnd type="none"/>
            <a:tailEnd type="arrow"/>
          </a:ln>
        </p:spPr>
      </p:cxn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09600" y="4724400"/>
            <a:ext cx="7924800" cy="69940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@{ ViewBag.SomeText = "&lt;script&gt;alert('hi')&lt;/script&gt;"; }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@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Html.Raw(ViewBag.SomeText)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09600" y="5902195"/>
            <a:ext cx="7924800" cy="4224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script&gt;alert('hi')&lt;/script&gt;</a:t>
            </a:r>
          </a:p>
        </p:txBody>
      </p:sp>
      <p:cxnSp>
        <p:nvCxnSpPr>
          <p:cNvPr id="11" name="Straight Arrow Connector 10"/>
          <p:cNvCxnSpPr>
            <a:stCxn id="9" idx="2"/>
            <a:endCxn id="10" idx="0"/>
          </p:cNvCxnSpPr>
          <p:nvPr/>
        </p:nvCxnSpPr>
        <p:spPr>
          <a:xfrm>
            <a:off x="4572000" y="5423804"/>
            <a:ext cx="0" cy="478391"/>
          </a:xfrm>
          <a:prstGeom prst="straightConnector1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31750">
            <a:solidFill>
              <a:schemeClr val="accent5">
                <a:lumMod val="20000"/>
                <a:lumOff val="80000"/>
              </a:schemeClr>
            </a:solidFill>
            <a:headEnd type="none"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3190034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4500557"/>
            <a:ext cx="8229600" cy="1443043"/>
          </a:xfrm>
        </p:spPr>
        <p:txBody>
          <a:bodyPr/>
          <a:lstStyle/>
          <a:p>
            <a:r>
              <a:rPr lang="en-US" dirty="0" smtClean="0"/>
              <a:t>HTML Escaping in </a:t>
            </a:r>
            <a:r>
              <a:rPr lang="en-US" dirty="0" smtClean="0"/>
              <a:t>Web Forms and MVC </a:t>
            </a:r>
            <a:r>
              <a:rPr lang="en-US" dirty="0" smtClean="0"/>
              <a:t>Apps</a:t>
            </a:r>
            <a:endParaRPr lang="bg-BG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09600" y="598408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623" y="838200"/>
            <a:ext cx="5300754" cy="350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434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953001"/>
            <a:ext cx="7924800" cy="685800"/>
          </a:xfrm>
        </p:spPr>
        <p:txBody>
          <a:bodyPr/>
          <a:lstStyle/>
          <a:p>
            <a:r>
              <a:rPr lang="en-US" dirty="0" smtClean="0"/>
              <a:t>Cross-Site Request Forgery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727408"/>
            <a:ext cx="7924800" cy="569120"/>
          </a:xfrm>
        </p:spPr>
        <p:txBody>
          <a:bodyPr/>
          <a:lstStyle/>
          <a:p>
            <a:r>
              <a:rPr lang="en-US" dirty="0" smtClean="0"/>
              <a:t>What is CSRF and How to Prevent It?</a:t>
            </a:r>
            <a:endParaRPr lang="en-US" dirty="0"/>
          </a:p>
        </p:txBody>
      </p:sp>
      <p:pic>
        <p:nvPicPr>
          <p:cNvPr id="3074" name="Picture 2" descr="http://www.chmag.in/system/files/csrf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990600"/>
            <a:ext cx="7200900" cy="3600450"/>
          </a:xfrm>
          <a:prstGeom prst="roundRect">
            <a:avLst>
              <a:gd name="adj" fmla="val 129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282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smtClean="0"/>
              <a:t>CSRF?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8674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Cross-Site Request Forgery </a:t>
            </a:r>
            <a:r>
              <a:rPr lang="en-US" dirty="0"/>
              <a:t>(</a:t>
            </a:r>
            <a:r>
              <a:rPr lang="en-US" dirty="0" smtClean="0"/>
              <a:t>CSRF / </a:t>
            </a:r>
            <a:r>
              <a:rPr lang="en-US" dirty="0">
                <a:effectLst/>
              </a:rPr>
              <a:t>XSRF</a:t>
            </a:r>
            <a:r>
              <a:rPr lang="en-US" dirty="0" smtClean="0"/>
              <a:t>) is a web security attack over the HTTP protocol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Allows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executing unauthorized commands </a:t>
            </a:r>
            <a:r>
              <a:rPr lang="en-US" dirty="0" smtClean="0"/>
              <a:t>on behalf of some authenticated user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E.g. to transfer some money in a bank system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The user has valid permissions to execute the requested command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The attacker uses these permissions to send a forged </a:t>
            </a:r>
            <a:r>
              <a:rPr lang="en-US" dirty="0"/>
              <a:t>HTTP </a:t>
            </a:r>
            <a:r>
              <a:rPr lang="en-US" dirty="0" smtClean="0"/>
              <a:t>request</a:t>
            </a:r>
            <a:r>
              <a:rPr lang="bg-BG" dirty="0" smtClean="0"/>
              <a:t> </a:t>
            </a:r>
            <a:r>
              <a:rPr lang="en-US" dirty="0" smtClean="0"/>
              <a:t>unbeknownst to</a:t>
            </a:r>
            <a:r>
              <a:rPr lang="bg-BG" dirty="0" smtClean="0"/>
              <a:t> </a:t>
            </a:r>
            <a:r>
              <a:rPr lang="en-US" dirty="0" smtClean="0"/>
              <a:t>the user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Through a link / site / web form </a:t>
            </a:r>
            <a:r>
              <a:rPr lang="en-US" dirty="0"/>
              <a:t>that the user is </a:t>
            </a:r>
            <a:r>
              <a:rPr lang="en-US" dirty="0" smtClean="0"/>
              <a:t>allured to open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5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CSRF Explained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867400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dirty="0" smtClean="0"/>
              <a:t>How does CSRF work?</a:t>
            </a:r>
          </a:p>
          <a:p>
            <a:pPr marL="722313" lvl="1" indent="-457200">
              <a:lnSpc>
                <a:spcPct val="100000"/>
              </a:lnSpc>
              <a:spcAft>
                <a:spcPts val="500"/>
              </a:spcAft>
              <a:buFont typeface="+mj-lt"/>
              <a:buAutoNum type="arabicPeriod"/>
              <a:defRPr/>
            </a:pPr>
            <a:r>
              <a:rPr lang="en-US" sz="2900" dirty="0" smtClean="0"/>
              <a:t>The user has a valid authentication cookie for the site </a:t>
            </a:r>
            <a:r>
              <a:rPr lang="en-US" sz="29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victim.org</a:t>
            </a:r>
            <a:r>
              <a:rPr lang="en-US" sz="2900" dirty="0"/>
              <a:t> </a:t>
            </a:r>
            <a:r>
              <a:rPr lang="en-US" sz="2900" dirty="0" smtClean="0"/>
              <a:t>(remembered in the browser)</a:t>
            </a:r>
            <a:endParaRPr lang="bg-BG" sz="2900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722313" lvl="1" indent="-457200">
              <a:lnSpc>
                <a:spcPct val="100000"/>
              </a:lnSpc>
              <a:spcAft>
                <a:spcPts val="500"/>
              </a:spcAft>
              <a:buFont typeface="+mj-lt"/>
              <a:buAutoNum type="arabicPeriod"/>
              <a:defRPr/>
            </a:pPr>
            <a:r>
              <a:rPr lang="en-US" sz="2900" dirty="0" smtClean="0"/>
              <a:t>The attacker asks the user to visit some evil site, e.g. </a:t>
            </a:r>
            <a:r>
              <a:rPr lang="en-US" sz="2900" dirty="0" smtClean="0">
                <a:hlinkClick r:id="rId2"/>
              </a:rPr>
              <a:t>http://evilsite.com</a:t>
            </a:r>
            <a:endParaRPr lang="en-US" sz="2900" dirty="0" smtClean="0"/>
          </a:p>
          <a:p>
            <a:pPr marL="722313" lvl="1" indent="-457200">
              <a:lnSpc>
                <a:spcPct val="100000"/>
              </a:lnSpc>
              <a:spcAft>
                <a:spcPts val="500"/>
              </a:spcAft>
              <a:buFont typeface="+mj-lt"/>
              <a:buAutoNum type="arabicPeriod"/>
              <a:defRPr/>
            </a:pPr>
            <a:r>
              <a:rPr lang="en-US" sz="2900" dirty="0" smtClean="0"/>
              <a:t>The evil site sends HTTP GET / POST to </a:t>
            </a:r>
            <a:r>
              <a:rPr lang="en-US" sz="29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victim.org</a:t>
            </a:r>
            <a:r>
              <a:rPr lang="en-US" sz="2900" dirty="0" smtClean="0"/>
              <a:t> and does something evil</a:t>
            </a:r>
          </a:p>
          <a:p>
            <a:pPr marL="901700" lvl="2" indent="-344488"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sz="2700" dirty="0" smtClean="0"/>
              <a:t>Through a JavaScript AJAX request</a:t>
            </a:r>
          </a:p>
          <a:p>
            <a:pPr marL="901700" lvl="2" indent="-344488"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sz="2700" dirty="0" smtClean="0"/>
              <a:t>Using the browser's authentication cookie</a:t>
            </a:r>
          </a:p>
          <a:p>
            <a:pPr marL="722313" lvl="1" indent="-457200">
              <a:lnSpc>
                <a:spcPct val="100000"/>
              </a:lnSpc>
              <a:spcAft>
                <a:spcPts val="500"/>
              </a:spcAft>
              <a:buFont typeface="+mj-lt"/>
              <a:buAutoNum type="arabicPeriod"/>
              <a:defRPr/>
            </a:pPr>
            <a:r>
              <a:rPr lang="en-US" sz="2900" dirty="0" smtClean="0"/>
              <a:t>The </a:t>
            </a:r>
            <a:r>
              <a:rPr lang="en-US" sz="29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victim.org</a:t>
            </a:r>
            <a:r>
              <a:rPr lang="en-US" sz="2900" dirty="0" smtClean="0"/>
              <a:t> performs the unauthorized command on behalf of the authenticated user</a:t>
            </a:r>
            <a:endParaRPr lang="en-US" sz="2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1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05400"/>
            <a:ext cx="7924800" cy="685800"/>
          </a:xfrm>
        </p:spPr>
        <p:txBody>
          <a:bodyPr/>
          <a:lstStyle/>
          <a:p>
            <a:r>
              <a:rPr lang="en-US" dirty="0" smtClean="0"/>
              <a:t>Cross-Site Request Forgery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854407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24258"/>
            <a:ext cx="2507766" cy="360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436" y="1124257"/>
            <a:ext cx="2507766" cy="360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836" y="1124259"/>
            <a:ext cx="2507764" cy="3600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405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 CSRF in ASP.NET MVC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89000"/>
            <a:ext cx="8686800" cy="5791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 smtClean="0"/>
              <a:t>To prevent CSRF attacks in MVC apps use</a:t>
            </a:r>
            <a:r>
              <a:rPr lang="en-US" sz="3000" smtClean="0"/>
              <a:t/>
            </a:r>
            <a:br>
              <a:rPr lang="en-US" sz="3000" smtClean="0"/>
            </a:br>
            <a:r>
              <a:rPr lang="en-US" sz="3000" smtClean="0"/>
              <a:t>anti-forgery </a:t>
            </a:r>
            <a:r>
              <a:rPr lang="en-US" sz="3000" dirty="0" smtClean="0"/>
              <a:t>tokens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Put the anti-CSRF token in the HTML forms:</a:t>
            </a:r>
          </a:p>
          <a:p>
            <a:pPr lvl="1">
              <a:lnSpc>
                <a:spcPct val="100000"/>
              </a:lnSpc>
            </a:pPr>
            <a:endParaRPr lang="en-US" sz="2800" dirty="0"/>
          </a:p>
          <a:p>
            <a:pPr lvl="1">
              <a:lnSpc>
                <a:spcPct val="100000"/>
              </a:lnSpc>
            </a:pPr>
            <a:endParaRPr lang="en-US" sz="2800" dirty="0" smtClean="0"/>
          </a:p>
          <a:p>
            <a:pPr lvl="1">
              <a:lnSpc>
                <a:spcPct val="100000"/>
              </a:lnSpc>
            </a:pP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Verify the anti-CSRF token in each controller action that should be protected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2603500"/>
            <a:ext cx="7620000" cy="153040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@using (@Html.BeginForm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("Action", "Controller"))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5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 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@Html.AntiForgeryToken()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2000" y="5384800"/>
            <a:ext cx="7620000" cy="106873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[</a:t>
            </a:r>
            <a:r>
              <a:rPr lang="en-US" sz="2000" b="1" noProof="1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ValidateAntiForgeryToken]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ActionResult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Action(…)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 … 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9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 CSRF in </a:t>
            </a:r>
            <a:r>
              <a:rPr lang="en-US" dirty="0" smtClean="0"/>
              <a:t>AJAX Requests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jQuery AJAX requests use code like this: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Send the token in the AJAX requests: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1651381"/>
            <a:ext cx="7924800" cy="111490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&lt;%-- used for ajax in AddAntiForgeryToken() --%&gt;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&lt;form id="__AjaxAntiForgeryForm" action</a:t>
            </a: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="#"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method</a:t>
            </a: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="post"&gt;&lt;%= Html.AntiForgeryToken()%&gt;&lt;/form&gt;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3657600"/>
            <a:ext cx="7924800" cy="208439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$.ajax({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type</a:t>
            </a: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"post",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dataType: "html",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url: </a:t>
            </a: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…,</a:t>
            </a:r>
            <a:endParaRPr lang="en-US" sz="21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data: AddAntiForgeryToken({ </a:t>
            </a: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some-data })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});</a:t>
            </a:r>
            <a:endParaRPr lang="en-US" sz="21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906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05400"/>
            <a:ext cx="7924800" cy="685800"/>
          </a:xfrm>
        </p:spPr>
        <p:txBody>
          <a:bodyPr/>
          <a:lstStyle/>
          <a:p>
            <a:r>
              <a:rPr lang="en-US" dirty="0" smtClean="0"/>
              <a:t>Anti-CSRF in MVC Apps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854407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70" y="1066800"/>
            <a:ext cx="2507766" cy="360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066800"/>
            <a:ext cx="4500178" cy="360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131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 CSRF in </a:t>
            </a:r>
            <a:r>
              <a:rPr lang="en-US" dirty="0" smtClean="0"/>
              <a:t>Web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 smtClean="0"/>
              <a:t>In Web Forms just add the following code in your 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Site.Master.cs</a:t>
            </a:r>
            <a:r>
              <a:rPr lang="en-US" sz="3000" dirty="0" smtClean="0"/>
              <a:t>:</a:t>
            </a:r>
          </a:p>
          <a:p>
            <a:endParaRPr lang="en-US" sz="3000" dirty="0"/>
          </a:p>
          <a:p>
            <a:endParaRPr lang="en-US" sz="3000" dirty="0" smtClean="0"/>
          </a:p>
          <a:p>
            <a:endParaRPr lang="en-US" sz="3000" dirty="0"/>
          </a:p>
          <a:p>
            <a:endParaRPr lang="en-US" sz="3000" dirty="0" smtClean="0"/>
          </a:p>
          <a:p>
            <a:pPr lvl="1"/>
            <a:r>
              <a:rPr lang="en-US" sz="2800" dirty="0" smtClean="0"/>
              <a:t>It changes the VIEWSTATE encryption key for all pages when there is a logged-in user</a:t>
            </a:r>
          </a:p>
          <a:p>
            <a:r>
              <a:rPr lang="en-US" sz="3000" dirty="0" smtClean="0"/>
              <a:t>In the VS </a:t>
            </a:r>
            <a:r>
              <a:rPr lang="en-US" sz="3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2013</a:t>
            </a:r>
            <a:r>
              <a:rPr lang="en-US" sz="3000" dirty="0" smtClean="0"/>
              <a:t> Web Forms app template, there is already CSRF protection in 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Site.master.cs</a:t>
            </a:r>
            <a:endParaRPr lang="en-US" sz="3000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2095694"/>
            <a:ext cx="7924800" cy="229984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tIns="72000" bIns="72000" anchor="ctr" anchorCtr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protected override void OnInit(EventArgs e) 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base.OnInit(e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if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(Page.User.Identity.IsAuthenticated)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{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Page.ViewStateUserKey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Session.SessionID;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406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724401"/>
            <a:ext cx="7924800" cy="685800"/>
          </a:xfrm>
        </p:spPr>
        <p:txBody>
          <a:bodyPr/>
          <a:lstStyle/>
          <a:p>
            <a:r>
              <a:rPr lang="en-US" dirty="0" smtClean="0"/>
              <a:t>Parameter Tampering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5450680"/>
            <a:ext cx="8229600" cy="569120"/>
          </a:xfrm>
        </p:spPr>
        <p:txBody>
          <a:bodyPr/>
          <a:lstStyle/>
          <a:p>
            <a:r>
              <a:rPr lang="en-US" dirty="0" smtClean="0"/>
              <a:t>What is Parameter Tampering and How to Prevent It?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81200"/>
            <a:ext cx="3429000" cy="1619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75" y="1571625"/>
            <a:ext cx="34385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5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Parameter Tampering?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Parameter Tampering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Malicious user alters the HTTP request parameters in unexpected way</a:t>
            </a:r>
          </a:p>
          <a:p>
            <a:pPr lvl="1"/>
            <a:r>
              <a:rPr lang="en-US" dirty="0" smtClean="0"/>
              <a:t>Altered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query string</a:t>
            </a:r>
            <a:r>
              <a:rPr lang="en-US" dirty="0" smtClean="0"/>
              <a:t> (in GET requests)</a:t>
            </a:r>
          </a:p>
          <a:p>
            <a:pPr lvl="1"/>
            <a:r>
              <a:rPr lang="en-US" dirty="0" smtClean="0"/>
              <a:t>Altered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request body</a:t>
            </a:r>
            <a:r>
              <a:rPr lang="en-US" dirty="0" smtClean="0"/>
              <a:t> (form fields in POST requests)</a:t>
            </a:r>
          </a:p>
          <a:p>
            <a:pPr lvl="1"/>
            <a:r>
              <a:rPr lang="en-US" dirty="0" smtClean="0"/>
              <a:t>Altered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cookies</a:t>
            </a:r>
            <a:r>
              <a:rPr lang="en-US" dirty="0" smtClean="0"/>
              <a:t> (e.g. authentication cookie)</a:t>
            </a:r>
          </a:p>
          <a:p>
            <a:pPr lvl="1"/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Skipped data validation </a:t>
            </a:r>
            <a:r>
              <a:rPr lang="en-US" dirty="0"/>
              <a:t>at the </a:t>
            </a:r>
            <a:r>
              <a:rPr lang="en-US" dirty="0" smtClean="0"/>
              <a:t>client-side</a:t>
            </a:r>
          </a:p>
          <a:p>
            <a:pPr lvl="1"/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Injected parameter</a:t>
            </a:r>
            <a:r>
              <a:rPr lang="en-US" dirty="0" smtClean="0"/>
              <a:t> in MVC apps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747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724401"/>
            <a:ext cx="7924800" cy="685800"/>
          </a:xfrm>
        </p:spPr>
        <p:txBody>
          <a:bodyPr/>
          <a:lstStyle/>
          <a:p>
            <a:r>
              <a:rPr lang="en-US" dirty="0" smtClean="0"/>
              <a:t>Parameter Tampering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5526880"/>
            <a:ext cx="82296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81200"/>
            <a:ext cx="3429000" cy="1619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75" y="1571625"/>
            <a:ext cx="34385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Web </a:t>
            </a:r>
            <a:r>
              <a:rPr lang="en-US" dirty="0"/>
              <a:t>Security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115981" y="6400800"/>
            <a:ext cx="2909706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141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Exercises</a:t>
            </a:r>
          </a:p>
        </p:txBody>
      </p:sp>
      <p:sp>
        <p:nvSpPr>
          <p:cNvPr id="53657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52736"/>
            <a:ext cx="8686800" cy="5544616"/>
          </a:xfrm>
        </p:spPr>
        <p:txBody>
          <a:bodyPr/>
          <a:lstStyle/>
          <a:p>
            <a:pPr marL="444500" indent="-444500">
              <a:lnSpc>
                <a:spcPct val="100000"/>
              </a:lnSpc>
              <a:buFontTx/>
              <a:buAutoNum type="arabicPeriod"/>
              <a:tabLst/>
              <a:defRPr/>
            </a:pPr>
            <a:r>
              <a:rPr lang="en-US" sz="2800" dirty="0" smtClean="0"/>
              <a:t>…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  <a:tabLst/>
              <a:defRPr/>
            </a:pPr>
            <a:r>
              <a:rPr lang="en-US" sz="2800" dirty="0" smtClean="0"/>
              <a:t>…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  <a:tabLst/>
              <a:defRPr/>
            </a:pPr>
            <a:r>
              <a:rPr lang="en-US" sz="2800" dirty="0" smtClean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</a:rPr>
              <a:pPr>
                <a:defRPr/>
              </a:pPr>
              <a:t>29</a:t>
            </a:fld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351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Exercises (2)</a:t>
            </a:r>
          </a:p>
        </p:txBody>
      </p:sp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44500" indent="-444500">
              <a:lnSpc>
                <a:spcPct val="100000"/>
              </a:lnSpc>
              <a:buFontTx/>
              <a:buAutoNum type="arabicPeriod" startAt="4"/>
              <a:tabLst/>
              <a:defRPr/>
            </a:pPr>
            <a:r>
              <a:rPr lang="en-US" sz="2800" noProof="1" smtClean="0"/>
              <a:t>…</a:t>
            </a:r>
          </a:p>
          <a:p>
            <a:pPr marL="444500" indent="-444500">
              <a:lnSpc>
                <a:spcPct val="100000"/>
              </a:lnSpc>
              <a:buFontTx/>
              <a:buAutoNum type="arabicPeriod" startAt="4"/>
              <a:tabLst/>
              <a:defRPr/>
            </a:pPr>
            <a:r>
              <a:rPr lang="en-US" sz="2800" noProof="1" smtClean="0"/>
              <a:t>…</a:t>
            </a:r>
          </a:p>
          <a:p>
            <a:pPr marL="444500" indent="-444500">
              <a:lnSpc>
                <a:spcPct val="100000"/>
              </a:lnSpc>
              <a:buFontTx/>
              <a:buAutoNum type="arabicPeriod" startAt="4"/>
              <a:tabLst/>
              <a:defRPr/>
            </a:pPr>
            <a:r>
              <a:rPr lang="en-US" sz="2800" noProof="1" smtClean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</a:rPr>
              <a:pPr>
                <a:defRPr/>
              </a:pPr>
              <a:t>30</a:t>
            </a:fld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687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"Web Design with HTML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5</a:t>
            </a:r>
            <a:r>
              <a:rPr lang="en-US" dirty="0" smtClean="0"/>
              <a:t>, CSS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3</a:t>
            </a:r>
            <a:r>
              <a:rPr lang="en-US" dirty="0" smtClean="0"/>
              <a:t> and JavaScript" course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2" tooltip="&quot;Web Design with HTML 5, CSS 3 and JavaScript&quot; course @ Telerik Academy"/>
              </a:rPr>
              <a:t>html5course.telerik.com</a:t>
            </a:r>
            <a:endParaRPr lang="en-US" noProof="1" smtClean="0"/>
          </a:p>
          <a:p>
            <a:pPr marL="282575" lvl="1" indent="-282575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49" y="5029200"/>
            <a:ext cx="1466851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969616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00" y="4228275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>
            <a:hlinkClick r:id="rId2" tooltip="&quot;Web Design with HTML 5, CSS 3 and JavaScript&quot; course @ Telerik Academy"/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99" y="1026915"/>
            <a:ext cx="1230302" cy="97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87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6482</TotalTime>
  <Words>1450</Words>
  <Application>Microsoft Office PowerPoint</Application>
  <PresentationFormat>On-screen Show (4:3)</PresentationFormat>
  <Paragraphs>260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</vt:lpstr>
      <vt:lpstr>Consolas</vt:lpstr>
      <vt:lpstr>Corbel</vt:lpstr>
      <vt:lpstr>Wingdings</vt:lpstr>
      <vt:lpstr>Wingdings 2</vt:lpstr>
      <vt:lpstr>Telerik Academy</vt:lpstr>
      <vt:lpstr>ASP.NET Web Security</vt:lpstr>
      <vt:lpstr>Table of Contents </vt:lpstr>
      <vt:lpstr>SQL Injection</vt:lpstr>
      <vt:lpstr>What is SQL Injection?</vt:lpstr>
      <vt:lpstr>How Does SQL Injection Work?</vt:lpstr>
      <vt:lpstr>Preventing SQL Injection</vt:lpstr>
      <vt:lpstr>SQL Injection and Prevention</vt:lpstr>
      <vt:lpstr>Cross Site Scripting (XSS)</vt:lpstr>
      <vt:lpstr>XSS Attack</vt:lpstr>
      <vt:lpstr>Automatic Request Validation</vt:lpstr>
      <vt:lpstr>Bad Characters Protection</vt:lpstr>
      <vt:lpstr>What is HTML Escaping?</vt:lpstr>
      <vt:lpstr>HTML Character Escaping</vt:lpstr>
      <vt:lpstr>How to Encode HTML Entities?</vt:lpstr>
      <vt:lpstr>Preventing XSS in ASP.NET MVC</vt:lpstr>
      <vt:lpstr>HTML Escaping in Web Forms and MVC Apps</vt:lpstr>
      <vt:lpstr>Cross-Site Request Forgery</vt:lpstr>
      <vt:lpstr>What is CSRF?</vt:lpstr>
      <vt:lpstr>CSRF Explained</vt:lpstr>
      <vt:lpstr>Cross-Site Request Forgery</vt:lpstr>
      <vt:lpstr>Prevent CSRF in ASP.NET MVC</vt:lpstr>
      <vt:lpstr>Prevent CSRF in AJAX Requests</vt:lpstr>
      <vt:lpstr>Anti-CSRF in MVC Apps</vt:lpstr>
      <vt:lpstr>Prevent CSRF in Web Forms</vt:lpstr>
      <vt:lpstr>Parameter Tampering</vt:lpstr>
      <vt:lpstr>What is Parameter Tampering?</vt:lpstr>
      <vt:lpstr>Parameter Tampering</vt:lpstr>
      <vt:lpstr>ASP.NET Web Security</vt:lpstr>
      <vt:lpstr>Exercises</vt:lpstr>
      <vt:lpstr>Exercises (2)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ASP.NET Web Security</dc:title>
  <dc:subject>Telerik Software Academy</dc:subject>
  <dc:creator>Svetlin Nakov</dc:creator>
  <cp:keywords>ASP.NET, Web Forms, MVC, security</cp:keywords>
  <cp:lastModifiedBy>Svetlin Nakov</cp:lastModifiedBy>
  <cp:revision>705</cp:revision>
  <dcterms:created xsi:type="dcterms:W3CDTF">2007-12-08T16:03:35Z</dcterms:created>
  <dcterms:modified xsi:type="dcterms:W3CDTF">2013-09-26T14:03:29Z</dcterms:modified>
  <cp:category>ASP.NET, web development, security</cp:category>
</cp:coreProperties>
</file>