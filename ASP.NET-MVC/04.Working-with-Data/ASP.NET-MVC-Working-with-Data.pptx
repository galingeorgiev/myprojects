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handoutMasterIdLst>
    <p:handoutMasterId r:id="rId26"/>
  </p:handoutMasterIdLst>
  <p:sldIdLst>
    <p:sldId id="338" r:id="rId2"/>
    <p:sldId id="335" r:id="rId3"/>
    <p:sldId id="470" r:id="rId4"/>
    <p:sldId id="468" r:id="rId5"/>
    <p:sldId id="469" r:id="rId6"/>
    <p:sldId id="429" r:id="rId7"/>
    <p:sldId id="454" r:id="rId8"/>
    <p:sldId id="463" r:id="rId9"/>
    <p:sldId id="426" r:id="rId10"/>
    <p:sldId id="456" r:id="rId11"/>
    <p:sldId id="458" r:id="rId12"/>
    <p:sldId id="457" r:id="rId13"/>
    <p:sldId id="459" r:id="rId14"/>
    <p:sldId id="461" r:id="rId15"/>
    <p:sldId id="462" r:id="rId16"/>
    <p:sldId id="466" r:id="rId17"/>
    <p:sldId id="465" r:id="rId18"/>
    <p:sldId id="473" r:id="rId19"/>
    <p:sldId id="474" r:id="rId20"/>
    <p:sldId id="475" r:id="rId21"/>
    <p:sldId id="334" r:id="rId22"/>
    <p:sldId id="464" r:id="rId23"/>
    <p:sldId id="403" r:id="rId24"/>
  </p:sldIdLst>
  <p:sldSz cx="9144000" cy="6858000" type="screen4x3"/>
  <p:notesSz cx="6881813" cy="9296400"/>
  <p:custDataLst>
    <p:tags r:id="rId2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and Table of Contents" id="{F53AB8A6-5416-45EE-A6C2-F0E18F6A2F91}">
          <p14:sldIdLst>
            <p14:sldId id="338"/>
            <p14:sldId id="335"/>
          </p14:sldIdLst>
        </p14:section>
        <p14:section name="Scaffolding" id="{B33C9A9D-0052-4063-B3FE-A659D35A6C93}">
          <p14:sldIdLst>
            <p14:sldId id="470"/>
            <p14:sldId id="468"/>
            <p14:sldId id="469"/>
          </p14:sldIdLst>
        </p14:section>
        <p14:section name="Model Binders" id="{6ECA7832-8107-49EE-A0CC-9D6CAF1D681D}">
          <p14:sldIdLst>
            <p14:sldId id="429"/>
            <p14:sldId id="454"/>
            <p14:sldId id="463"/>
          </p14:sldIdLst>
        </p14:section>
        <p14:section name="Data Validation" id="{422460BE-98E3-4BBE-B9F2-A48820B6911A}">
          <p14:sldIdLst>
            <p14:sldId id="426"/>
            <p14:sldId id="456"/>
            <p14:sldId id="458"/>
            <p14:sldId id="457"/>
            <p14:sldId id="459"/>
            <p14:sldId id="461"/>
            <p14:sldId id="462"/>
          </p14:sldIdLst>
        </p14:section>
        <p14:section name="Working with Data Source" id="{8C82B9CC-4D99-4C45-A0A5-DBFCE95D573D}">
          <p14:sldIdLst>
            <p14:sldId id="466"/>
            <p14:sldId id="465"/>
            <p14:sldId id="473"/>
            <p14:sldId id="474"/>
            <p14:sldId id="475"/>
          </p14:sldIdLst>
        </p14:section>
        <p14:section name="Summary, Questions, Homework" id="{052859EC-CAE7-45AF-B838-B3EBFE380EB4}">
          <p14:sldIdLst>
            <p14:sldId id="334"/>
            <p14:sldId id="464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00" autoAdjust="0"/>
    <p:restoredTop sz="94468" autoAdjust="0"/>
  </p:normalViewPr>
  <p:slideViewPr>
    <p:cSldViewPr>
      <p:cViewPr varScale="1">
        <p:scale>
          <a:sx n="106" d="100"/>
          <a:sy n="106" d="100"/>
        </p:scale>
        <p:origin x="103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9/27/2013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9/27/2013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53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130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6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87977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9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2125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://nikolay.i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cademy.telerik.com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asp.net/mvc/tutorials/getting-started-with-ef-using-mvc/implementing-the-repository-and-unit-of-work-patterns-in-an-asp-net-mvc-application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6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62200"/>
            <a:ext cx="8229600" cy="1524000"/>
          </a:xfrm>
        </p:spPr>
        <p:txBody>
          <a:bodyPr/>
          <a:lstStyle/>
          <a:p>
            <a:r>
              <a:rPr lang="en-US" dirty="0" smtClean="0"/>
              <a:t>ASP.NET MVC</a:t>
            </a:r>
            <a:br>
              <a:rPr lang="en-US" dirty="0" smtClean="0"/>
            </a:br>
            <a:r>
              <a:rPr lang="en-US" dirty="0" smtClean="0"/>
              <a:t>Working </a:t>
            </a:r>
            <a:r>
              <a:rPr lang="en-US" dirty="0"/>
              <a:t>with Data</a:t>
            </a: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2137" y="4572000"/>
            <a:ext cx="181610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http://cloudtimes.org/wp-content/uploads/2011/02/big-dat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700" y="4572000"/>
            <a:ext cx="2641600" cy="1981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999344"/>
            <a:ext cx="3886200" cy="2623647"/>
          </a:xfrm>
          <a:prstGeom prst="rect">
            <a:avLst/>
          </a:prstGeom>
        </p:spPr>
      </p:pic>
      <p:sp>
        <p:nvSpPr>
          <p:cNvPr id="1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9099" y="4495800"/>
            <a:ext cx="3853295" cy="533400"/>
          </a:xfrm>
        </p:spPr>
        <p:txBody>
          <a:bodyPr/>
          <a:lstStyle/>
          <a:p>
            <a:r>
              <a:rPr lang="en-US" dirty="0" smtClean="0"/>
              <a:t>Nikolay </a:t>
            </a:r>
            <a:r>
              <a:rPr lang="en-US" noProof="1" smtClean="0"/>
              <a:t>Kostov</a:t>
            </a:r>
            <a:endParaRPr lang="en-US" noProof="1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955268"/>
            <a:ext cx="3810000" cy="369332"/>
          </a:xfrm>
        </p:spPr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6214646"/>
            <a:ext cx="3810000" cy="338554"/>
          </a:xfrm>
        </p:spPr>
        <p:txBody>
          <a:bodyPr/>
          <a:lstStyle/>
          <a:p>
            <a:r>
              <a:rPr lang="en-US" dirty="0" smtClean="0">
                <a:hlinkClick r:id="rId6"/>
              </a:rPr>
              <a:t>academy.telerik.com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1800" y="4914781"/>
            <a:ext cx="3555998" cy="800219"/>
          </a:xfrm>
        </p:spPr>
        <p:txBody>
          <a:bodyPr/>
          <a:lstStyle/>
          <a:p>
            <a:pPr marL="0" indent="0"/>
            <a:r>
              <a:rPr lang="en-US" dirty="0" smtClean="0"/>
              <a:t>Team Lead, Senior</a:t>
            </a:r>
            <a:br>
              <a:rPr lang="en-US" dirty="0" smtClean="0"/>
            </a:br>
            <a:r>
              <a:rPr lang="en-US" dirty="0" smtClean="0"/>
              <a:t>Developer and Trainer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57200" y="5650468"/>
            <a:ext cx="3810000" cy="369332"/>
          </a:xfrm>
        </p:spPr>
        <p:txBody>
          <a:bodyPr/>
          <a:lstStyle/>
          <a:p>
            <a:r>
              <a:rPr lang="en-US" sz="1800" dirty="0" smtClean="0">
                <a:hlinkClick r:id="rId7"/>
              </a:rPr>
              <a:t>http://Nikolay.IT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17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Scaffolding</a:t>
            </a:r>
          </a:p>
          <a:p>
            <a:r>
              <a:rPr lang="en-US" dirty="0"/>
              <a:t>Model Binders</a:t>
            </a:r>
          </a:p>
          <a:p>
            <a:r>
              <a:rPr lang="en-US" dirty="0" smtClean="0"/>
              <a:t>Data Validation</a:t>
            </a:r>
          </a:p>
          <a:p>
            <a:r>
              <a:rPr lang="en-US" dirty="0" smtClean="0"/>
              <a:t>Working </a:t>
            </a:r>
            <a:r>
              <a:rPr lang="en-US" dirty="0"/>
              <a:t>with Data </a:t>
            </a:r>
            <a:r>
              <a:rPr lang="en-US" dirty="0" smtClean="0"/>
              <a:t>Source</a:t>
            </a:r>
          </a:p>
          <a:p>
            <a:pPr lvl="1"/>
            <a:r>
              <a:rPr lang="en-US" dirty="0" smtClean="0"/>
              <a:t>Repository </a:t>
            </a:r>
            <a:r>
              <a:rPr lang="en-US" dirty="0"/>
              <a:t>Pattern</a:t>
            </a:r>
          </a:p>
          <a:p>
            <a:pPr lvl="1"/>
            <a:r>
              <a:rPr lang="en-US" dirty="0"/>
              <a:t>Unit of Work </a:t>
            </a:r>
            <a:r>
              <a:rPr lang="en-US" dirty="0" smtClean="0"/>
              <a:t>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4508790" y="3295396"/>
            <a:ext cx="4223956" cy="35199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800" y="838200"/>
            <a:ext cx="2373342" cy="2332838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4428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5900" y="609600"/>
            <a:ext cx="6172200" cy="1006707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Scaffolding</a:t>
            </a:r>
            <a:endParaRPr lang="bg-B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52600"/>
            <a:ext cx="6858000" cy="4572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89754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is ASP.NET Scaffolding?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Code </a:t>
            </a:r>
            <a:r>
              <a:rPr lang="en-US" dirty="0"/>
              <a:t>generation framework for </a:t>
            </a:r>
            <a:r>
              <a:rPr lang="en-US" dirty="0" smtClean="0"/>
              <a:t>ASP.NET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When </a:t>
            </a:r>
            <a:r>
              <a:rPr lang="en-US" dirty="0"/>
              <a:t>you want to quickly add boilerplate code that interacts with data </a:t>
            </a:r>
            <a:r>
              <a:rPr lang="en-US" dirty="0" smtClean="0"/>
              <a:t>models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Developer productivity enhancer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Can </a:t>
            </a:r>
            <a:r>
              <a:rPr lang="en-US" dirty="0"/>
              <a:t>reduce the amount of time to develop standard data operations in your </a:t>
            </a:r>
            <a:r>
              <a:rPr lang="en-US" dirty="0" smtClean="0"/>
              <a:t>project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Enables </a:t>
            </a:r>
            <a:r>
              <a:rPr lang="en-US" dirty="0" smtClean="0"/>
              <a:t>customization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Provides </a:t>
            </a:r>
            <a:r>
              <a:rPr lang="en-US" dirty="0"/>
              <a:t>an extensibility mechanism to customize generated code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VS 2013 RC </a:t>
            </a:r>
            <a:r>
              <a:rPr lang="en-US" dirty="0"/>
              <a:t>includes pre-installed code generators for MVC, </a:t>
            </a:r>
            <a:r>
              <a:rPr lang="en-US" dirty="0" smtClean="0"/>
              <a:t>and </a:t>
            </a:r>
            <a:r>
              <a:rPr lang="en-US" dirty="0"/>
              <a:t>Web </a:t>
            </a:r>
            <a:r>
              <a:rPr lang="en-US" dirty="0" smtClean="0"/>
              <a:t>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47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724400"/>
            <a:ext cx="7924800" cy="685800"/>
          </a:xfrm>
        </p:spPr>
        <p:txBody>
          <a:bodyPr/>
          <a:lstStyle/>
          <a:p>
            <a:r>
              <a:rPr lang="en-US" dirty="0" smtClean="0"/>
              <a:t>Demo: Create Scaffold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83843" y="5486400"/>
            <a:ext cx="7376311" cy="873920"/>
          </a:xfrm>
        </p:spPr>
        <p:txBody>
          <a:bodyPr/>
          <a:lstStyle/>
          <a:p>
            <a:r>
              <a:rPr lang="en-US" dirty="0" smtClean="0"/>
              <a:t>Create Web Forms pages with read/write actions, using Entity Framework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00229"/>
            <a:ext cx="5334000" cy="37426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243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5900" y="914400"/>
            <a:ext cx="6172200" cy="1006707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Model Binders</a:t>
            </a:r>
            <a:endParaRPr lang="bg-BG" dirty="0"/>
          </a:p>
        </p:txBody>
      </p:sp>
      <p:sp>
        <p:nvSpPr>
          <p:cNvPr id="501763" name="Rectangle 3"/>
          <p:cNvSpPr>
            <a:spLocks noChangeArrowheads="1"/>
          </p:cNvSpPr>
          <p:nvPr/>
        </p:nvSpPr>
        <p:spPr bwMode="auto">
          <a:xfrm>
            <a:off x="1187450" y="3463925"/>
            <a:ext cx="64801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ctr">
              <a:lnSpc>
                <a:spcPct val="110000"/>
              </a:lnSpc>
            </a:pPr>
            <a:endParaRPr lang="bg-BG" sz="28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4" name="Picture 2" descr="http://www.cs.cmu.edu/~chaki/magic/magic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524000"/>
            <a:ext cx="4594401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0897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Binders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make </a:t>
            </a:r>
            <a:r>
              <a:rPr lang="en-US" dirty="0" smtClean="0"/>
              <a:t>eas</a:t>
            </a:r>
            <a:r>
              <a:rPr lang="en-US" dirty="0"/>
              <a:t>y</a:t>
            </a:r>
            <a:r>
              <a:rPr lang="en-US" dirty="0" smtClean="0"/>
              <a:t> </a:t>
            </a:r>
            <a:r>
              <a:rPr lang="en-US" dirty="0" smtClean="0"/>
              <a:t>of handling HTTP post request</a:t>
            </a:r>
          </a:p>
          <a:p>
            <a:r>
              <a:rPr lang="en-US" dirty="0" smtClean="0"/>
              <a:t>Help the populating the parameters in action methods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84633"/>
            <a:ext cx="2142000" cy="1498333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2971800" y="2984633"/>
            <a:ext cx="3429000" cy="149833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HTTP POST /Review/Create</a:t>
            </a:r>
          </a:p>
          <a:p>
            <a:pPr algn="ctr"/>
            <a:r>
              <a:rPr lang="en-US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Rating=7&amp;Body=Great!</a:t>
            </a:r>
          </a:p>
        </p:txBody>
      </p:sp>
      <p:pic>
        <p:nvPicPr>
          <p:cNvPr id="2050" name="Picture 2" descr="http://www.cs.cmu.edu/~chaki/magic/magic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749" y="2743198"/>
            <a:ext cx="195827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924735" y="2266146"/>
            <a:ext cx="306686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DefaultModelBinder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7731029">
            <a:off x="6274970" y="4487555"/>
            <a:ext cx="692059" cy="537058"/>
          </a:xfrm>
          <a:prstGeom prst="rightArrow">
            <a:avLst>
              <a:gd name="adj1" fmla="val 50000"/>
              <a:gd name="adj2" fmla="val 515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307" y="5054256"/>
            <a:ext cx="5638800" cy="132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5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Model Binder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8239125" cy="4133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5029200"/>
            <a:ext cx="8124825" cy="1247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387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5900" y="1126893"/>
            <a:ext cx="6172200" cy="1006707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Data Validation</a:t>
            </a:r>
            <a:endParaRPr lang="bg-BG" dirty="0"/>
          </a:p>
        </p:txBody>
      </p:sp>
      <p:sp>
        <p:nvSpPr>
          <p:cNvPr id="501763" name="Rectangle 3"/>
          <p:cNvSpPr>
            <a:spLocks noChangeArrowheads="1"/>
          </p:cNvSpPr>
          <p:nvPr/>
        </p:nvSpPr>
        <p:spPr bwMode="auto">
          <a:xfrm>
            <a:off x="1187450" y="3463925"/>
            <a:ext cx="64801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ctr">
              <a:lnSpc>
                <a:spcPct val="110000"/>
              </a:lnSpc>
            </a:pPr>
            <a:endParaRPr lang="bg-BG" sz="28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3074" name="Picture 2" descr="http://www.theorem.co.uk/images/validateandchec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514600"/>
            <a:ext cx="5257800" cy="333375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6354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with Annotations 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Attributes </a:t>
            </a:r>
            <a:r>
              <a:rPr lang="en-US" dirty="0"/>
              <a:t>defined in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System.ComponentModel.DataAnnotations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Covers </a:t>
            </a:r>
            <a:r>
              <a:rPr lang="en-US" dirty="0"/>
              <a:t>common validation </a:t>
            </a:r>
            <a:r>
              <a:rPr lang="en-US" dirty="0" smtClean="0"/>
              <a:t>patterns</a:t>
            </a:r>
          </a:p>
          <a:p>
            <a:pPr lvl="1"/>
            <a:r>
              <a:rPr lang="en-US" dirty="0"/>
              <a:t>Required</a:t>
            </a:r>
          </a:p>
          <a:p>
            <a:pPr lvl="1"/>
            <a:r>
              <a:rPr lang="en-US" dirty="0" err="1"/>
              <a:t>StringLength</a:t>
            </a:r>
            <a:endParaRPr lang="en-US" dirty="0"/>
          </a:p>
          <a:p>
            <a:pPr lvl="1"/>
            <a:r>
              <a:rPr lang="en-US" dirty="0"/>
              <a:t>Regex</a:t>
            </a:r>
          </a:p>
          <a:p>
            <a:pPr lvl="1"/>
            <a:r>
              <a:rPr lang="en-US" dirty="0"/>
              <a:t>Range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971800"/>
            <a:ext cx="4800600" cy="26136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3483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smtClean="0"/>
              <a:t>Validation </a:t>
            </a:r>
            <a:r>
              <a:rPr lang="en-US" dirty="0"/>
              <a:t>A</a:t>
            </a:r>
            <a:r>
              <a:rPr lang="en-US" dirty="0" smtClean="0"/>
              <a:t>ttributes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661958"/>
              </p:ext>
            </p:extLst>
          </p:nvPr>
        </p:nvGraphicFramePr>
        <p:xfrm>
          <a:off x="609600" y="1214120"/>
          <a:ext cx="7924800" cy="495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1200"/>
                <a:gridCol w="594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two specified properties in the model have the same value.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CustomValidation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the value against the specified custom function.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EnumDataType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the value can be matched to any of the values in the specified enumerated type.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the value falls in the specified range. It defaults to numbers, but it can be configured to consider a range of dates, too.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RegularExpression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the value matches the specified expression.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Makes an Ajax call to the server, and checks whether the value is acceptable.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a non-null value is assigned to the property. It can be configured to fail if an empty string is assigned.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Checks whether the string is longer than the specified value.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94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Custom attributes</a:t>
            </a:r>
          </a:p>
          <a:p>
            <a:r>
              <a:rPr lang="en-US" dirty="0" smtClean="0"/>
              <a:t>Inherit </a:t>
            </a:r>
            <a:r>
              <a:rPr lang="en-US" dirty="0" err="1" smtClean="0"/>
              <a:t>ValidationAttribute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2200"/>
            <a:ext cx="7772400" cy="39218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705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Validating Model –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ModelState.IsValid</a:t>
            </a:r>
            <a:r>
              <a:rPr lang="en-US" dirty="0" smtClean="0"/>
              <a:t> – will give us information about the data validation success</a:t>
            </a:r>
          </a:p>
          <a:p>
            <a:r>
              <a:rPr lang="en-US" dirty="0" err="1" smtClean="0"/>
              <a:t>ModelState.AddModelError</a:t>
            </a:r>
            <a:r>
              <a:rPr lang="en-US" dirty="0" smtClean="0"/>
              <a:t> – custom 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781300"/>
            <a:ext cx="6743700" cy="3771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158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Validating Model –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Html.ValidationSummary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– output errors</a:t>
            </a:r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@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Html.ValidationMessageFor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(…)</a:t>
            </a:r>
            <a:r>
              <a:rPr lang="en-US" dirty="0" smtClean="0"/>
              <a:t> – outputs validation message for specified property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768" y="2971800"/>
            <a:ext cx="5440463" cy="3390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Left Arrow 5"/>
          <p:cNvSpPr/>
          <p:nvPr/>
        </p:nvSpPr>
        <p:spPr>
          <a:xfrm rot="20594177">
            <a:off x="5802382" y="4248442"/>
            <a:ext cx="1372499" cy="12926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570753" y="4038600"/>
            <a:ext cx="2420847" cy="5847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Text box with integrated client-side validation</a:t>
            </a:r>
          </a:p>
        </p:txBody>
      </p:sp>
      <p:sp>
        <p:nvSpPr>
          <p:cNvPr id="8" name="Left Arrow 7"/>
          <p:cNvSpPr/>
          <p:nvPr/>
        </p:nvSpPr>
        <p:spPr>
          <a:xfrm rot="20594177">
            <a:off x="5408913" y="5567285"/>
            <a:ext cx="1372499" cy="12926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177284" y="5357443"/>
            <a:ext cx="2420847" cy="8309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jQuery</a:t>
            </a:r>
            <a:r>
              <a:rPr lang="en-US" sz="1600" b="1" dirty="0" smtClean="0">
                <a:solidFill>
                  <a:schemeClr val="bg1"/>
                </a:solidFill>
              </a:rPr>
              <a:t> validation library required for unobtrusive JavaScript validation</a:t>
            </a:r>
          </a:p>
        </p:txBody>
      </p:sp>
    </p:spTree>
    <p:extLst>
      <p:ext uri="{BB962C8B-B14F-4D97-AF65-F5344CB8AC3E}">
        <p14:creationId xmlns:p14="http://schemas.microsoft.com/office/powerpoint/2010/main" val="74836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/ Edit Annotations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54611"/>
              </p:ext>
            </p:extLst>
          </p:nvPr>
        </p:nvGraphicFramePr>
        <p:xfrm>
          <a:off x="1219200" y="1600200"/>
          <a:ext cx="6705600" cy="4145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28800"/>
                <a:gridCol w="4876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DisplayColumn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Specify the property of a model class for simple text display.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HiddenInput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Render value in a hidden input (when editing).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UIHint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Specify the name of the template to use for rendering.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DataType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 templates (email, password, URL, currency)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ReadOnly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Specify a read-only property (for model binding).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DisplayFormat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Format strings and null display text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ScaffoldColumn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Turn off display and edit capabilities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DisplayName</a:t>
                      </a:r>
                      <a:endParaRPr lang="en-US" sz="1800" b="0" i="1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Friendly name for labels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79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09600" y="1143000"/>
            <a:ext cx="7924800" cy="685800"/>
          </a:xfrm>
        </p:spPr>
        <p:txBody>
          <a:bodyPr/>
          <a:lstStyle/>
          <a:p>
            <a:r>
              <a:rPr lang="en-US" dirty="0"/>
              <a:t>Working </a:t>
            </a:r>
            <a:r>
              <a:rPr lang="en-US" dirty="0" smtClean="0"/>
              <a:t>with Data Source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09600" y="1869279"/>
            <a:ext cx="7924800" cy="569120"/>
          </a:xfrm>
        </p:spPr>
        <p:txBody>
          <a:bodyPr/>
          <a:lstStyle/>
          <a:p>
            <a:r>
              <a:rPr lang="en-US" dirty="0" smtClean="0"/>
              <a:t>Repository pattern and Unit of Work pattern</a:t>
            </a:r>
            <a:endParaRPr lang="en-US" dirty="0"/>
          </a:p>
        </p:txBody>
      </p:sp>
      <p:pic>
        <p:nvPicPr>
          <p:cNvPr id="2050" name="Picture 2" descr="http://www.artistsvalley.com/images/icons/Database%20Application%20Icons/Datasource%20Connect/256x256/Datasource%20Connec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667000"/>
            <a:ext cx="3657600" cy="3657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23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Repository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 business code from data </a:t>
            </a:r>
            <a:r>
              <a:rPr lang="en-US" dirty="0" smtClean="0"/>
              <a:t>access</a:t>
            </a:r>
          </a:p>
          <a:p>
            <a:pPr lvl="1"/>
            <a:r>
              <a:rPr lang="en-US" dirty="0"/>
              <a:t>Separation of </a:t>
            </a:r>
            <a:r>
              <a:rPr lang="en-US" dirty="0" smtClean="0"/>
              <a:t>concerns</a:t>
            </a:r>
          </a:p>
          <a:p>
            <a:pPr lvl="1"/>
            <a:r>
              <a:rPr lang="en-US" dirty="0" smtClean="0"/>
              <a:t>Testability</a:t>
            </a:r>
          </a:p>
          <a:p>
            <a:r>
              <a:rPr lang="en-US" dirty="0"/>
              <a:t>Encapsulate data </a:t>
            </a:r>
            <a:r>
              <a:rPr lang="en-US" dirty="0" smtClean="0"/>
              <a:t>access</a:t>
            </a:r>
          </a:p>
          <a:p>
            <a:r>
              <a:rPr lang="en-US" dirty="0"/>
              <a:t>Increased level of abstraction</a:t>
            </a:r>
            <a:endParaRPr lang="en-US" b="0" dirty="0"/>
          </a:p>
          <a:p>
            <a:pPr lvl="1"/>
            <a:r>
              <a:rPr lang="en-US" dirty="0"/>
              <a:t>More classes, less duplicated code</a:t>
            </a:r>
          </a:p>
          <a:p>
            <a:pPr lvl="1"/>
            <a:r>
              <a:rPr lang="en-US" dirty="0"/>
              <a:t>Maintainability</a:t>
            </a:r>
            <a:r>
              <a:rPr lang="en-US" dirty="0"/>
              <a:t>, </a:t>
            </a:r>
            <a:r>
              <a:rPr lang="en-US" dirty="0" smtClean="0"/>
              <a:t>Flexibility</a:t>
            </a:r>
            <a:r>
              <a:rPr lang="en-US" dirty="0"/>
              <a:t>, </a:t>
            </a:r>
            <a:r>
              <a:rPr lang="en-US" dirty="0" smtClean="0"/>
              <a:t>Testability</a:t>
            </a:r>
            <a:endParaRPr lang="en-US" dirty="0"/>
          </a:p>
          <a:p>
            <a:r>
              <a:rPr lang="en-US" dirty="0"/>
              <a:t>Generic repositories</a:t>
            </a:r>
          </a:p>
          <a:p>
            <a:pPr lvl="1"/>
            <a:r>
              <a:rPr lang="en-US" dirty="0" err="1" smtClean="0"/>
              <a:t>IRepository</a:t>
            </a:r>
            <a:r>
              <a:rPr lang="en-US" dirty="0" smtClean="0"/>
              <a:t>&lt;T</a:t>
            </a:r>
            <a:r>
              <a:rPr lang="en-US" dirty="0"/>
              <a:t>&gt;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3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</a:t>
            </a:r>
            <a:r>
              <a:rPr lang="en-US" dirty="0" smtClean="0"/>
              <a:t>Pattern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1154317"/>
            <a:ext cx="4114800" cy="609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Business </a:t>
            </a:r>
            <a:r>
              <a:rPr lang="en-US" b="1" dirty="0">
                <a:solidFill>
                  <a:schemeClr val="bg1"/>
                </a:solidFill>
              </a:rPr>
              <a:t>&amp; Domain Logic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3657600" y="4953000"/>
            <a:ext cx="1828800" cy="1371600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SQL Database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Vertical Scroll 6"/>
          <p:cNvSpPr/>
          <p:nvPr/>
        </p:nvSpPr>
        <p:spPr>
          <a:xfrm>
            <a:off x="6414380" y="4953000"/>
            <a:ext cx="1828800" cy="1371600"/>
          </a:xfrm>
          <a:prstGeom prst="verticalScrol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Cloud Callout 7"/>
          <p:cNvSpPr/>
          <p:nvPr/>
        </p:nvSpPr>
        <p:spPr>
          <a:xfrm>
            <a:off x="914400" y="4953000"/>
            <a:ext cx="1828800" cy="1371600"/>
          </a:xfrm>
          <a:prstGeom prst="cloud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Web Service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3400" y="2671904"/>
            <a:ext cx="2533650" cy="1143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Exchange </a:t>
            </a:r>
            <a:r>
              <a:rPr lang="en-US" b="1" dirty="0" smtClean="0">
                <a:solidFill>
                  <a:schemeClr val="bg1"/>
                </a:solidFill>
              </a:rPr>
              <a:t>Rates </a:t>
            </a:r>
            <a:r>
              <a:rPr lang="en-US" b="1" dirty="0">
                <a:solidFill>
                  <a:schemeClr val="bg1"/>
                </a:solidFill>
              </a:rPr>
              <a:t>Repository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40540" y="2671904"/>
            <a:ext cx="2476500" cy="1143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Blog </a:t>
            </a:r>
            <a:r>
              <a:rPr lang="en-US" b="1" dirty="0">
                <a:solidFill>
                  <a:schemeClr val="bg1"/>
                </a:solidFill>
              </a:rPr>
              <a:t>Posts Repository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95434" y="2667000"/>
            <a:ext cx="2515166" cy="1143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Settings Repository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/>
          <p:cNvCxnSpPr>
            <a:stCxn id="5" idx="2"/>
            <a:endCxn id="9" idx="0"/>
          </p:cNvCxnSpPr>
          <p:nvPr/>
        </p:nvCxnSpPr>
        <p:spPr>
          <a:xfrm flipH="1">
            <a:off x="1800225" y="1763917"/>
            <a:ext cx="2771775" cy="907987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10" idx="0"/>
          </p:cNvCxnSpPr>
          <p:nvPr/>
        </p:nvCxnSpPr>
        <p:spPr>
          <a:xfrm>
            <a:off x="4572000" y="1763917"/>
            <a:ext cx="6790" cy="907987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2"/>
            <a:endCxn id="11" idx="0"/>
          </p:cNvCxnSpPr>
          <p:nvPr/>
        </p:nvCxnSpPr>
        <p:spPr>
          <a:xfrm>
            <a:off x="4572000" y="1763917"/>
            <a:ext cx="2781017" cy="903083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2"/>
            <a:endCxn id="8" idx="3"/>
          </p:cNvCxnSpPr>
          <p:nvPr/>
        </p:nvCxnSpPr>
        <p:spPr>
          <a:xfrm>
            <a:off x="1800225" y="3814904"/>
            <a:ext cx="28575" cy="1216519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2"/>
            <a:endCxn id="6" idx="1"/>
          </p:cNvCxnSpPr>
          <p:nvPr/>
        </p:nvCxnSpPr>
        <p:spPr>
          <a:xfrm flipH="1">
            <a:off x="4572000" y="3814904"/>
            <a:ext cx="6790" cy="1138096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1" idx="2"/>
            <a:endCxn id="7" idx="0"/>
          </p:cNvCxnSpPr>
          <p:nvPr/>
        </p:nvCxnSpPr>
        <p:spPr>
          <a:xfrm flipH="1">
            <a:off x="7328780" y="3810000"/>
            <a:ext cx="24237" cy="1143000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80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of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Track changes in persistent objects</a:t>
            </a:r>
          </a:p>
          <a:p>
            <a:pPr lvl="1"/>
            <a:r>
              <a:rPr lang="en-US" dirty="0" smtClean="0"/>
              <a:t>Efficient data access</a:t>
            </a:r>
          </a:p>
          <a:p>
            <a:pPr lvl="1"/>
            <a:r>
              <a:rPr lang="en-US" dirty="0" smtClean="0"/>
              <a:t>Manage concurrency problems</a:t>
            </a:r>
          </a:p>
          <a:p>
            <a:pPr lvl="1"/>
            <a:r>
              <a:rPr lang="en-US" dirty="0" smtClean="0"/>
              <a:t>Manage transactions</a:t>
            </a:r>
          </a:p>
          <a:p>
            <a:r>
              <a:rPr lang="en-US" dirty="0"/>
              <a:t>Keep business logic free of data access </a:t>
            </a:r>
            <a:r>
              <a:rPr lang="en-US" dirty="0" smtClean="0"/>
              <a:t>code</a:t>
            </a:r>
          </a:p>
          <a:p>
            <a:r>
              <a:rPr lang="en-US" dirty="0"/>
              <a:t>Keep business logic free from tracking changes</a:t>
            </a:r>
            <a:endParaRPr lang="en-US" b="0" dirty="0"/>
          </a:p>
          <a:p>
            <a:r>
              <a:rPr lang="en-US" dirty="0"/>
              <a:t>Allow business logic to work with logical </a:t>
            </a:r>
            <a:r>
              <a:rPr lang="en-US" dirty="0" smtClean="0"/>
              <a:t>transactions</a:t>
            </a:r>
            <a:endParaRPr lang="en-US" b="0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2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838200"/>
          </a:xfrm>
        </p:spPr>
        <p:txBody>
          <a:bodyPr/>
          <a:lstStyle/>
          <a:p>
            <a:r>
              <a:rPr lang="en-US" dirty="0">
                <a:hlinkClick r:id="rId2"/>
              </a:rPr>
              <a:t>Repository and </a:t>
            </a:r>
            <a:r>
              <a:rPr lang="en-US" dirty="0" err="1" smtClean="0">
                <a:hlinkClick r:id="rId2"/>
              </a:rPr>
              <a:t>UoW</a:t>
            </a:r>
            <a:r>
              <a:rPr lang="en-US" dirty="0" smtClean="0">
                <a:hlinkClick r:id="rId2"/>
              </a:rPr>
              <a:t> </a:t>
            </a:r>
            <a:r>
              <a:rPr lang="en-US" dirty="0">
                <a:hlinkClick r:id="rId2"/>
              </a:rPr>
              <a:t>Patterns in an ASP.NET MVC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1026" name="Picture 2" descr="Repository_pattern_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930" y="1244474"/>
            <a:ext cx="558614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82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28600"/>
            <a:ext cx="7086600" cy="838200"/>
          </a:xfrm>
        </p:spPr>
        <p:txBody>
          <a:bodyPr/>
          <a:lstStyle/>
          <a:p>
            <a:r>
              <a:rPr lang="en-US" dirty="0"/>
              <a:t>ASP.NET </a:t>
            </a:r>
            <a:r>
              <a:rPr lang="en-US" dirty="0" smtClean="0"/>
              <a:t>MVC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Working with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740118"/>
            <a:ext cx="8686800" cy="5965482"/>
          </a:xfrm>
        </p:spPr>
        <p:txBody>
          <a:bodyPr/>
          <a:lstStyle/>
          <a:p>
            <a:pPr marL="514350" indent="-5143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/>
              <a:t>Create a simple ASP.NET MVC Twitter-like system using data validation, Entity Framework, repository pattern and unit of work pattern. Your system should: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Have users and administrators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List all tweets for specific user in his profile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List all tweets containing specific tag (#fail) and use 15 minutes caching for each tag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Have administration for the tweets using ASP.NET scaffolding (admins only)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* Have Kendo UI Grid-based administration for tweets (with paging, sorting, filtering, </a:t>
            </a:r>
            <a:r>
              <a:rPr lang="en-US" dirty="0" err="1" smtClean="0"/>
              <a:t>etv</a:t>
            </a:r>
            <a:r>
              <a:rPr lang="en-US" dirty="0" smtClean="0"/>
              <a:t>.)</a:t>
            </a:r>
          </a:p>
          <a:p>
            <a:pPr marL="862013" lvl="1" indent="-5143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562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1dbb5ef1eec16f96b550c792a3c169f6d68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12465</TotalTime>
  <Words>780</Words>
  <Application>Microsoft Office PowerPoint</Application>
  <PresentationFormat>On-screen Show (4:3)</PresentationFormat>
  <Paragraphs>164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Corbel</vt:lpstr>
      <vt:lpstr>Wingdings 2</vt:lpstr>
      <vt:lpstr>Telerik Academy</vt:lpstr>
      <vt:lpstr>ASP.NET MVC Working with Data</vt:lpstr>
      <vt:lpstr>Table of Contents</vt:lpstr>
      <vt:lpstr>Scaffolding</vt:lpstr>
      <vt:lpstr>What is ASP.NET Scaffolding?</vt:lpstr>
      <vt:lpstr>Demo: Create Scaffold</vt:lpstr>
      <vt:lpstr>Model Binders</vt:lpstr>
      <vt:lpstr>Model Binders</vt:lpstr>
      <vt:lpstr>Custom Model Binder</vt:lpstr>
      <vt:lpstr>Data Validation</vt:lpstr>
      <vt:lpstr>Validation with Annotations </vt:lpstr>
      <vt:lpstr>Data Validation Attributes</vt:lpstr>
      <vt:lpstr>Custom Validation</vt:lpstr>
      <vt:lpstr>Validating Model – Controller</vt:lpstr>
      <vt:lpstr>Validating Model – View</vt:lpstr>
      <vt:lpstr>Display / Edit Annotations </vt:lpstr>
      <vt:lpstr>Working with Data Source</vt:lpstr>
      <vt:lpstr>Repository Pattern</vt:lpstr>
      <vt:lpstr>Repository Pattern (2)</vt:lpstr>
      <vt:lpstr>Unit of Work</vt:lpstr>
      <vt:lpstr>Repository and UoW Patterns in an ASP.NET MVC Application</vt:lpstr>
      <vt:lpstr>ASP.NET MVC Working with Data</vt:lpstr>
      <vt:lpstr>Homework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Nikolay.IT</dc:creator>
  <cp:keywords>telerik software academy, free courses for developers</cp:keywords>
  <cp:lastModifiedBy>Nikolay Kostov</cp:lastModifiedBy>
  <cp:revision>784</cp:revision>
  <dcterms:created xsi:type="dcterms:W3CDTF">2007-12-08T16:03:35Z</dcterms:created>
  <dcterms:modified xsi:type="dcterms:W3CDTF">2013-09-27T10:35:11Z</dcterms:modified>
  <cp:category>software engineering</cp:category>
</cp:coreProperties>
</file>